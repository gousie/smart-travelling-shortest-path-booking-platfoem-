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4" d="100"/>
          <a:sy n="84" d="100"/>
        </p:scale>
        <p:origin x="62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8563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a:t>
            </a:r>
          </a:p>
          <a:p>
            <a:r>
              <a:t>Introduce Railora as an academic Python-authored railway reservation project. The first four content slides are Decomposition, Abstraction, Pattern Recognition and Algorithm Design, in that order.</a:t>
            </a:r>
          </a:p>
          <a:p>
            <a:endParaRPr/>
          </a:p>
          <a:p>
            <a:r>
              <a:t>DISCLOSURE</a:t>
            </a:r>
          </a:p>
          <a:p>
            <a:r>
              <a:t>Sample trains, dates, passengers and fares; simulated payments/refunds; demo PDFs are not valid for travel. Student name, roll number, department, institution, guide and year are placeholders, not invented identities.</a:t>
            </a:r>
          </a:p>
          <a:p>
            <a:endParaRPr/>
          </a:p>
          <a:p>
            <a:r>
              <a:t>VISUAL CREDITS</a:t>
            </a:r>
          </a:p>
          <a:p>
            <a:r>
              <a:t>Train hero: https://images.pexels.com/photos/32548690/pexels-photo-32548690.jpeg — Swiss Landwasser viaduct, scenic inspiration, not an Indian booked route. Pexels licence: https://www.pexels.com/license/ . Actual UI captures originate from the isolated PostgreSQL report replica documented in railora-report/assets/capture_manifest.json. Other cached screen assets: Goa 32262464, Kerala 13045091 and Jaipur 19149600. Source: docs/ASSET_CREDITS.md.</a:t>
            </a:r>
          </a:p>
          <a:p>
            <a:endParaRPr/>
          </a:p>
          <a:p>
            <a:r>
              <a:t>EVIDENCE</a:t>
            </a:r>
          </a:p>
          <a:p>
            <a:r>
              <a:t>Source and saved tests from Railora-Project.zip; Railora_Project_Report.pdf. All diagrams are editable source-based illustrations. Typeface: Arial / Consolas for common Office compatibility. No new complete test suite was run to make this presentation.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 Decomposition: one problem, eight parts</a:t>
            </a:r>
          </a:p>
          <a:p>
            <a:endParaRPr/>
          </a:p>
          <a:p>
            <a:r>
              <a:t>METHOD</a:t>
            </a:r>
          </a:p>
          <a:p>
            <a:r>
              <a:t>Break a complex booking request into focused responsibilities and explicit contracts.</a:t>
            </a:r>
          </a:p>
          <a:p>
            <a:endParaRPr/>
          </a:p>
          <a:p>
            <a:r>
              <a:t>USE IN RAILORA</a:t>
            </a:r>
          </a:p>
          <a:p>
            <a:r>
              <a:t>A two-passenger request crosses identity, search, fare, seats and atomic persistence—not one giant UI handler.</a:t>
            </a:r>
          </a:p>
          <a:p>
            <a:endParaRPr/>
          </a:p>
          <a:p>
            <a:r>
              <a:t>EXPLANATION / TECHNICAL DEFENCE</a:t>
            </a:r>
          </a:p>
          <a:p>
            <a:r>
              <a:t>The real-world problem is consistent ownership of scarce seats when requests race or are retried. A search page shows only a snapshot. Decomposition separates authentication, discovery, exact pricing, allocation, persistence, lifecycle, observation and validation. Each has typed inputs, outputs and an invariant. For example, allocation returns free unique seat numbers but does not charge or write a booking. The service owns the atomic transaction. Explain that tests are an engineering responsibility, not a step that executes for every passenger click. Group size is 1–6, holds last 15 minutes and requested dates span today through 60 days ahead.</a:t>
            </a:r>
          </a:p>
          <a:p>
            <a:endParaRPr/>
          </a:p>
          <a:p>
            <a:r>
              <a:t>EVIDENCE</a:t>
            </a:r>
          </a:p>
          <a:p>
            <a:r>
              <a:t>SPECIFICATION.md • services.py • schemas.py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 Abstraction: keep only what matters</a:t>
            </a:r>
          </a:p>
          <a:p>
            <a:endParaRPr/>
          </a:p>
          <a:p>
            <a:r>
              <a:t>METHOD</a:t>
            </a:r>
          </a:p>
          <a:p>
            <a:r>
              <a:t>Model essential booking facts; deliberately leave unrelated detail outside the model.</a:t>
            </a:r>
          </a:p>
          <a:p>
            <a:endParaRPr/>
          </a:p>
          <a:p>
            <a:r>
              <a:t>USE IN RAILORA</a:t>
            </a:r>
          </a:p>
          <a:p>
            <a:r>
              <a:t>Train + date + class define inventory; station edges support teaching routes, not connection-valid tickets.</a:t>
            </a:r>
          </a:p>
          <a:p>
            <a:endParaRPr/>
          </a:p>
          <a:p>
            <a:r>
              <a:t>EXPLANATION / TECHNICAL DEFENCE</a:t>
            </a:r>
          </a:p>
          <a:p>
            <a:r>
              <a:t>Train has number, endpoints, displayed times, duration, base fare, capacity and active status. Inventory identity is train/date/class. Booking stores account owner, passenger JSON, fare, state and request identity. SeatAssignment is separate from Booking. The graph abstraction uses stations and non-negative base-fare/minute edges. Engine mechanics, maintenance, real railway class configurations, operating calendars and transfer feasibility are omitted. Those omissions simplify learning but limit what results mean. The UI is Python-authored through NiceGUI but renders Vue/Quasar/JavaScript in the browser. Do not claim native Python runs in the browser.</a:t>
            </a:r>
          </a:p>
          <a:p>
            <a:endParaRPr/>
          </a:p>
          <a:p>
            <a:r>
              <a:t>EVIDENCE</a:t>
            </a:r>
          </a:p>
          <a:p>
            <a:r>
              <a:t>models.py • algorithms.py • ARCHITECTURE.md</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 Pattern recognition: reusable solutions</a:t>
            </a:r>
          </a:p>
          <a:p>
            <a:endParaRPr/>
          </a:p>
          <a:p>
            <a:r>
              <a:t>METHOD</a:t>
            </a:r>
          </a:p>
          <a:p>
            <a:r>
              <a:t>Recognise familiar structures before choosing code: paths, queues, ordering and shared resources.</a:t>
            </a:r>
          </a:p>
          <a:p>
            <a:endParaRPr/>
          </a:p>
          <a:p>
            <a:r>
              <a:t>USE IN RAILORA</a:t>
            </a:r>
          </a:p>
          <a:p>
            <a:r>
              <a:t>A weighted graph finds paths; FIFO preserves fairness; idempotent commands make retries safe.</a:t>
            </a:r>
          </a:p>
          <a:p>
            <a:endParaRPr/>
          </a:p>
          <a:p>
            <a:r>
              <a:t>EXPLANATION / TECHNICAL DEFENCE</a:t>
            </a:r>
          </a:p>
          <a:p>
            <a:r>
              <a:t>These patterns recur outside railway booking: hospital appointments share scarce-slot consistency; distributed APIs need idempotent commands; logistics networks use weighted paths. In Railora, train ranking is stable sorting, network routing is weighted path search, waitlist handling is FIFO, retry handling is command identity and seat ownership is a transactionally protected shared resource. A pattern is not an excuse to force the same algorithm into every function. Explain that the database queue is ordered by created_at and traversed with deque; the browser itself does not own fairness.</a:t>
            </a:r>
          </a:p>
          <a:p>
            <a:endParaRPr/>
          </a:p>
          <a:p>
            <a:r>
              <a:t>EVIDENCE</a:t>
            </a:r>
          </a:p>
          <a:p>
            <a:r>
              <a:t>ALGORITHMS.md • services.py • models.py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 Algorithm design: match method to need</a:t>
            </a:r>
          </a:p>
          <a:p>
            <a:endParaRPr/>
          </a:p>
          <a:p>
            <a:r>
              <a:t>METHOD</a:t>
            </a:r>
          </a:p>
          <a:p>
            <a:r>
              <a:t>Select by objective, constraints and worst-case cost—not by using every method everywhere.</a:t>
            </a:r>
          </a:p>
          <a:p>
            <a:endParaRPr/>
          </a:p>
          <a:p>
            <a:r>
              <a:t>USE IN RAILORA</a:t>
            </a:r>
          </a:p>
          <a:p>
            <a:r>
              <a:t>Merge sort and seat allocation are in search/booking; graph optimisers live in the educational planner.</a:t>
            </a:r>
          </a:p>
          <a:p>
            <a:endParaRPr/>
          </a:p>
          <a:p>
            <a:r>
              <a:t>EXPLANATION / TECHNICAL DEFENCE</a:t>
            </a:r>
          </a:p>
          <a:p>
            <a:r>
              <a:t>Selection is driven by a subproblem. Stable merge sort makes divide-and-conquer inspectable in train ordering. Dijkstra minimises non-negative base fare. Bounded DP adds an at-most-H-edge constraint. Bounded backtracking seeks contiguous six-seat-row groups. Branch-and-bound minimises minutes under a fare budget over simple paths. The last three route routines do not validate real connections or issue multi-leg bookings. Booking transactions must remain short; never run a national-network branch search under a seat lock. Native sorted() is faster but custom sort is intentionally pedagogical.</a:t>
            </a:r>
          </a:p>
          <a:p>
            <a:endParaRPr/>
          </a:p>
          <a:p>
            <a:r>
              <a:t>EVIDENCE</a:t>
            </a:r>
          </a:p>
          <a:p>
            <a:r>
              <a:t>algorithms.py • ALGORITHMS.md</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 Architecture: two adapters, one rulebook</a:t>
            </a:r>
          </a:p>
          <a:p>
            <a:endParaRPr/>
          </a:p>
          <a:p>
            <a:r>
              <a:t>METHOD</a:t>
            </a:r>
          </a:p>
          <a:p>
            <a:r>
              <a:t>Use layered modules and shared services to avoid duplicated business rules.</a:t>
            </a:r>
          </a:p>
          <a:p>
            <a:endParaRPr/>
          </a:p>
          <a:p>
            <a:r>
              <a:t>USE IN RAILORA</a:t>
            </a:r>
          </a:p>
          <a:p>
            <a:r>
              <a:t>NiceGUI UI and FastAPI call the same AuthService / RailService; PostgreSQL commits durable state.</a:t>
            </a:r>
          </a:p>
          <a:p>
            <a:endParaRPr/>
          </a:p>
          <a:p>
            <a:r>
              <a:t>EXPLANATION / TECHNICAL DEFENCE</a:t>
            </a:r>
          </a:p>
          <a:p>
            <a:r>
              <a:t>The Python-authored browser UI is built with NiceGUI. Browser rendering uses Vue/Quasar/JavaScript. API clients use FastAPI routes and validated Pydantic inputs with bearer tokens. Both enter the same services. The services compose pricing/payment strategies, pure algorithms and SQLAlchemy sessions. PostgreSQL CTPDB handles persistence and cross-process locks. UI code and REST endpoints are adapters, not separate owners of validation. The application uses one web process; multi-worker UI deployment needs shared session/state changes. Database create_all is first-version bootstrap, not a migration system.</a:t>
            </a:r>
          </a:p>
          <a:p>
            <a:endParaRPr/>
          </a:p>
          <a:p>
            <a:r>
              <a:t>EVIDENCE</a:t>
            </a:r>
          </a:p>
          <a:p>
            <a:r>
              <a:t>web.py • admin_ui.py • api.py • services.py • db.py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 Database: model ownership, not counters</a:t>
            </a:r>
          </a:p>
          <a:p>
            <a:endParaRPr/>
          </a:p>
          <a:p>
            <a:r>
              <a:t>METHOD</a:t>
            </a:r>
          </a:p>
          <a:p>
            <a:r>
              <a:t>Use related entities, composite identities and database constraints to preserve invariants.</a:t>
            </a:r>
          </a:p>
          <a:p>
            <a:endParaRPr/>
          </a:p>
          <a:p>
            <a:r>
              <a:t>USE IN RAILORA</a:t>
            </a:r>
          </a:p>
          <a:p>
            <a:r>
              <a:t>SeatAssignment PK = (train, date, class, seat); no second committed row can own that same seat identity.</a:t>
            </a:r>
          </a:p>
          <a:p>
            <a:endParaRPr/>
          </a:p>
          <a:p>
            <a:r>
              <a:t>EXPLANATION / TECHNICAL DEFENCE</a:t>
            </a:r>
          </a:p>
          <a:p>
            <a:r>
              <a:t>There are eight concrete tables: users, login_sessions, stations, trains, inventory, bookings, seat_assignments and audit_events. Base is not a ninth table. Train references origin/destination stations. Inventory identity is train/date/class. Booking has user/train foreign keys, passenger JSON, fare/status/deadline and a unique user/idempotency key. SeatAssignment references Train and Booking and has a four-part primary key; there is no declared full composite FK to Inventory. Audit booking_pnr is a logical string link, not a declared Booking FK. Selected connections are shown, not every FK. Constraints protect identity but service logic still checks capacity, validity, authorization and lifecycle.</a:t>
            </a:r>
          </a:p>
          <a:p>
            <a:endParaRPr/>
          </a:p>
          <a:p>
            <a:r>
              <a:t>EVIDENCE</a:t>
            </a:r>
          </a:p>
          <a:p>
            <a:r>
              <a:t>models.py • db.py • CTPDB</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 Divide &amp; conquer: split, sort, merge</a:t>
            </a:r>
          </a:p>
          <a:p>
            <a:endParaRPr/>
          </a:p>
          <a:p>
            <a:r>
              <a:t>METHOD</a:t>
            </a:r>
          </a:p>
          <a:p>
            <a:r>
              <a:t>Recursively split a list, then stably merge sorted halves.</a:t>
            </a:r>
          </a:p>
          <a:p>
            <a:endParaRPr/>
          </a:p>
          <a:p>
            <a:r>
              <a:t>USE IN RAILORA</a:t>
            </a:r>
          </a:p>
          <a:p>
            <a:r>
              <a:t>merge_sort ranks train results by fare, duration or departure; equal keys keep their original order.</a:t>
            </a:r>
          </a:p>
          <a:p>
            <a:endParaRPr/>
          </a:p>
          <a:p>
            <a:r>
              <a:t>EXPLANATION / TECHNICAL DEFENCE</a:t>
            </a:r>
          </a:p>
          <a:p>
            <a:r>
              <a:t>Use the illustrative train-key values 950, 595, 450, 780. Split halves recursively, sort each and merge by choosing the smaller next item. The &lt;= comparison selects the left item on ties, so stability holds. A higher-order key chooses fare, duration or departure without duplicating the algorithm. Time is O(n log n), peak auxiliary space O(n) with O(log n) recursion. Slices and merge output allocate cumulative O(n log n) elements even though peak storage is linear. This is inspectable teaching code; measured native sorted() is faster and is a production replacement candidate.</a:t>
            </a:r>
          </a:p>
          <a:p>
            <a:endParaRPr/>
          </a:p>
          <a:p>
            <a:r>
              <a:t>EVIDENCE</a:t>
            </a:r>
          </a:p>
          <a:p>
            <a:r>
              <a:t>algorithms.py: merge_sort • search() • test_algorithms.py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 Greedy: settle the cheapest frontier</a:t>
            </a:r>
          </a:p>
          <a:p>
            <a:endParaRPr/>
          </a:p>
          <a:p>
            <a:r>
              <a:t>METHOD</a:t>
            </a:r>
          </a:p>
          <a:p>
            <a:r>
              <a:t>Dijkstra expands the lowest cumulative base-fare candidate; all edge costs must be non-negative.</a:t>
            </a:r>
          </a:p>
          <a:p>
            <a:endParaRPr/>
          </a:p>
          <a:p>
            <a:r>
              <a:t>USE IN RAILORA</a:t>
            </a:r>
          </a:p>
          <a:p>
            <a:r>
              <a:t>greedy_route uses heapq + distances + predecessors in the Route Explorer; it does not book connections.</a:t>
            </a:r>
          </a:p>
          <a:p>
            <a:endParaRPr/>
          </a:p>
          <a:p>
            <a:r>
              <a:t>EXPLANATION / TECHNICAL DEFENCE</a:t>
            </a:r>
          </a:p>
          <a:p>
            <a:r>
              <a:t>The diagram is the actual small unit-test graph: A→B fare100/minutes90; A→C250/30; B→C100/40; B→D500/20; C→D100/40. Greedy_route minimises fare, not minutes. It settles cumulative costs A0, B100, C200, D300. A→C250 loses to A→B→C200. Choosing an individually cheap outgoing edge is not the correctness argument; settling the minimum cumulative non-negative frontier is. heapq stores possible duplicates and stale entries are skipped. A predecessor dictionary reconstructs the path once. Conservative lazy-heap time is O((V+E) log(V+E)), space O(V+E); simple-graph textbook logV is a common special case.</a:t>
            </a:r>
          </a:p>
          <a:p>
            <a:endParaRPr/>
          </a:p>
          <a:p>
            <a:r>
              <a:t>EVIDENCE</a:t>
            </a:r>
          </a:p>
          <a:p>
            <a:r>
              <a:t>algorithms.py: greedy_route • example_graph() tests</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 Dynamic programming: bound the legs</a:t>
            </a:r>
          </a:p>
          <a:p>
            <a:endParaRPr/>
          </a:p>
          <a:p>
            <a:r>
              <a:t>METHOD</a:t>
            </a:r>
          </a:p>
          <a:p>
            <a:r>
              <a:t>Reuse the previous layer to minimise cost with at most H edges.</a:t>
            </a:r>
          </a:p>
          <a:p>
            <a:endParaRPr/>
          </a:p>
          <a:p>
            <a:r>
              <a:t>USE IN RAILORA</a:t>
            </a:r>
          </a:p>
          <a:p>
            <a:r>
              <a:t>dynamic_route uses previous/current dictionaries; the lab compares ≤4 edges, while tests vary H.</a:t>
            </a:r>
          </a:p>
          <a:p>
            <a:endParaRPr/>
          </a:p>
          <a:p>
            <a:r>
              <a:t>EXPLANATION / TECHNICAL DEFENCE</a:t>
            </a:r>
          </a:p>
          <a:p>
            <a:r>
              <a:t>D[h][v] is the minimum cost to v with at most h edges. Recurrence D[h][v]=min(D[h-1][v], min_(u→v)(D[h-1][u]+fare)). current starts as previous.copy(); relax only from previous, never current. This enforces the edge bound. In the unit-test graph, H=2 produces A→C→D cost350, whereas H=3 permits A→B→C→D cost300. B→D exists but is expensive (600 from A), so it does not change these outcomes. The lab chooses H=4. This source stores full path tuples, so analysis must include path-copy overhead: O(H(V+E)) relax/copy work plus up to O(H²E) path copying, with O(HV) peak stored-path auxiliary space. The function does not create a flattened-edge list.</a:t>
            </a:r>
          </a:p>
          <a:p>
            <a:endParaRPr/>
          </a:p>
          <a:p>
            <a:r>
              <a:t>EVIDENCE</a:t>
            </a:r>
          </a:p>
          <a:p>
            <a:r>
              <a:t>algorithms.py: dynamic_route • test_algorithms.py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 Backtracking: find seats together</a:t>
            </a:r>
          </a:p>
          <a:p>
            <a:endParaRPr/>
          </a:p>
          <a:p>
            <a:r>
              <a:t>METHOD</a:t>
            </a:r>
          </a:p>
          <a:p>
            <a:r>
              <a:t>Explore row candidates, prune infeasible prefixes, then use a deterministic fallback.</a:t>
            </a:r>
          </a:p>
          <a:p>
            <a:endParaRPr/>
          </a:p>
          <a:p>
            <a:r>
              <a:t>USE IN RAILORA</a:t>
            </a:r>
          </a:p>
          <a:p>
            <a:r>
              <a:t>allocate_seats searches six-seat rows for a 1–6 person group; together/window remain preferences.</a:t>
            </a:r>
          </a:p>
          <a:p>
            <a:endParaRPr/>
          </a:p>
          <a:p>
            <a:r>
              <a:t>EXPLANATION / TECHNICAL DEFENCE</a:t>
            </a:r>
          </a:p>
          <a:p>
            <a:r>
              <a:t>Available seats are [1,3,4,5,6], group size3. Seat2 is unavailable, so a contiguous group cannot extend seat1 to seat2. The search then finds seats3,4,5. Rows have exactly six simulated positions; global coach-wide unconstrained combinations are not enumerated. Prefixes are pruned when remaining positions cannot fill the group. If no contiguous row group exists but enough seats are free, the earliest deterministic seats are returned. A window request prioritises row-edge numbers. Time includes normalisation sorting O(nlogn+n·2^6), auxiliary O(n), depth≤6. This is not the real layout of every train/class and no preference is guaranteed.</a:t>
            </a:r>
          </a:p>
          <a:p>
            <a:endParaRPr/>
          </a:p>
          <a:p>
            <a:r>
              <a:t>EVIDENCE</a:t>
            </a:r>
          </a:p>
          <a:p>
            <a:r>
              <a:t>algorithms.py: allocate_seats • test_together_row_backtracking</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 Branch &amp; bound: fastest within a budget</a:t>
            </a:r>
          </a:p>
          <a:p>
            <a:endParaRPr/>
          </a:p>
          <a:p>
            <a:r>
              <a:t>METHOD</a:t>
            </a:r>
          </a:p>
          <a:p>
            <a:r>
              <a:t>Search simple paths; reject over-budget branches and prune by an admissible remaining-time bound.</a:t>
            </a:r>
          </a:p>
          <a:p>
            <a:endParaRPr/>
          </a:p>
          <a:p>
            <a:r>
              <a:t>USE IN RAILORA</a:t>
            </a:r>
          </a:p>
          <a:p>
            <a:r>
              <a:t>branch_bound_route minimises minutes under a fare budget; a 20,000-state cap raises an explicit error.</a:t>
            </a:r>
          </a:p>
          <a:p>
            <a:endParaRPr/>
          </a:p>
          <a:p>
            <a:r>
              <a:t>EXPLANATION / TECHNICAL DEFENCE</a:t>
            </a:r>
          </a:p>
          <a:p>
            <a:r>
              <a:t>Use the same unit-test graph, budget350. A→C→D costs350 and takes70 minutes, establishing incumbent70. For the branch starting A→B, elapsed90 + optimistic remaining20 =110, already no better than70, so it can be pruned. The lower bound ignores fare budget and is still admissible: actual feasible remaining time cannot be smaller. At budget300 the fast350 path is rejected, leaving A→B→C→D at300 fare and170 minutes. Precompute remaining-time bounds by reverse relaxation O(VE). Enumerating simple paths can still be exponential/factorial; outgoing sort, tuple membership and copying add costs. Depth is O(V), but concurrently live immutable path-prefix tuples can total O(V²). The safety cap is not a claim of optimality when reached.</a:t>
            </a:r>
          </a:p>
          <a:p>
            <a:endParaRPr/>
          </a:p>
          <a:p>
            <a:r>
              <a:t>EVIDENCE</a:t>
            </a:r>
          </a:p>
          <a:p>
            <a:r>
              <a:t>algorithms.py: branch_bound_route • budgeted path tests</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 Complexity: analyse the actual code</a:t>
            </a:r>
          </a:p>
          <a:p>
            <a:endParaRPr/>
          </a:p>
          <a:p>
            <a:r>
              <a:t>METHOD</a:t>
            </a:r>
          </a:p>
          <a:p>
            <a:r>
              <a:t>Distinguish worst-case bounds, expected hashing and amortized resizing from measured latency.</a:t>
            </a:r>
          </a:p>
          <a:p>
            <a:endParaRPr/>
          </a:p>
          <a:p>
            <a:r>
              <a:t>USE IN RAILORA</a:t>
            </a:r>
          </a:p>
          <a:p>
            <a:r>
              <a:t>Path-tuple copies count: DP stores full paths, and branch recursion retains several copied prefixes.</a:t>
            </a:r>
          </a:p>
          <a:p>
            <a:endParaRPr/>
          </a:p>
          <a:p>
            <a:r>
              <a:t>EXPLANATION / TECHNICAL DEFENCE</a:t>
            </a:r>
          </a:p>
          <a:p>
            <a:r>
              <a:t>Let n be items/free seats, V/E graph vertices/edges and H the edge bound. Merge sort O(nlogn), O(n) peak. Dijkstra conservative lazy-heap time O((V+E)log(V+E)), O(V+E) space; simple graph logV is usual. DP relax/layer copies O(H(V+E)), with up to O(H²E) extra path-copying and O(HV) stored-path space. Seat allocator is O(nlogn+n·2^6), O(n); six-seat fixed row and k≤6 keep backtracking bounded. Branch bound preprocessing O(VE) plus exponential/factorial path count; path prefixes can require O(V²) simultaneously, plus graph/outgoing-edge storage. Expected hash lookup O(1) has pathological worst cases; list append amortized O(1) averages resize costs over operations. Neither promises every transaction is fast: waiting for a DB lock is a separate cost.</a:t>
            </a:r>
          </a:p>
          <a:p>
            <a:endParaRPr/>
          </a:p>
          <a:p>
            <a:r>
              <a:t>EVIDENCE</a:t>
            </a:r>
          </a:p>
          <a:p>
            <a:r>
              <a:t>ALGORITHMS.md • algorithms.py • benchmark.py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14 — Data structures: choose for the operation</a:t>
            </a:r>
          </a:p>
          <a:p>
            <a:endParaRPr/>
          </a:p>
          <a:p>
            <a:r>
              <a:t>METHOD</a:t>
            </a:r>
          </a:p>
          <a:p>
            <a:r>
              <a:t>Use ordered sequences, membership sets, priority heaps, FIFO queues and immutable values purposefully.</a:t>
            </a:r>
          </a:p>
          <a:p>
            <a:endParaRPr/>
          </a:p>
          <a:p>
            <a:r>
              <a:t>USE IN RAILORA</a:t>
            </a:r>
          </a:p>
          <a:p>
            <a:r>
              <a:t>Free seats use sets; Dijkstra uses heapq; waitlist traversal uses deque; PostgreSQL keys enforce ownership.</a:t>
            </a:r>
          </a:p>
          <a:p>
            <a:endParaRPr/>
          </a:p>
          <a:p>
            <a:r>
              <a:t>EXPLANATION / TECHNICAL DEFENCE</a:t>
            </a:r>
          </a:p>
          <a:p>
            <a:r>
              <a:t>List indexes are O(1), append amortized O(1) and middle deletion O(n). Sets and dictionaries support expected O(1) membership/mapping; they also have worst cases. Heap push/pop is O(log m) and min peek O(1). deque popleft is O(1), unlike list pop(0). Tuples and frozen dataclasses support immutable value semantics, but copying a path tuple costs its length. A B-tree index is typically simplified as O(log N+result size); planner, I/O, caching and locks matter. Database uniqueness works across web processes; a Python set of currently known seats is only a snapshot. Explain which choice would change if input sizes grew.</a:t>
            </a:r>
          </a:p>
          <a:p>
            <a:endParaRPr/>
          </a:p>
          <a:p>
            <a:r>
              <a:t>EVIDENCE</a:t>
            </a:r>
          </a:p>
          <a:p>
            <a:r>
              <a:t>algorithms.py • services.py • models.py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15 — Pythonic programming: concise, not cryptic</a:t>
            </a:r>
          </a:p>
          <a:p>
            <a:endParaRPr/>
          </a:p>
          <a:p>
            <a:r>
              <a:t>METHOD</a:t>
            </a:r>
          </a:p>
          <a:p>
            <a:r>
              <a:t>Use generators, comprehensions, decorators and context managers without hiding side effects.</a:t>
            </a:r>
          </a:p>
          <a:p>
            <a:endParaRPr/>
          </a:p>
          <a:p>
            <a:r>
              <a:t>USE IN RAILORA</a:t>
            </a:r>
          </a:p>
          <a:p>
            <a:r>
              <a:t>seat_labels is lazy; timed preserves the callable; Database.transaction commits or rolls back reliably.</a:t>
            </a:r>
          </a:p>
          <a:p>
            <a:endParaRPr/>
          </a:p>
          <a:p>
            <a:r>
              <a:t>EXPLANATION / TECHNICAL DEFENCE</a:t>
            </a:r>
          </a:p>
          <a:p>
            <a:r>
              <a:t>seat_labels accepts any Iterable[int] and yields strings. Creating the iterator does not format all outputs; next() consumes work on demand. A comprehension builds free-seat values from membership tests. The actual timed decorator uses wraps and ParamSpec, logs elapsed milliseconds in finally and returns the original R—it does not change the result into a tuple. Database.transaction uses a context manager around SQLAlchemy sessions.begin; commit happens on success and rollback on error. The short snippets are illustrative uses of source constructs, not complete runnable modules. Iterable input, iterator semantics and output materialisation must be distinguished in space analysis.</a:t>
            </a:r>
          </a:p>
          <a:p>
            <a:endParaRPr/>
          </a:p>
          <a:p>
            <a:r>
              <a:t>EVIDENCE</a:t>
            </a:r>
          </a:p>
          <a:p>
            <a:r>
              <a:t>algorithms.py: seat_labels, timed • db.py • services.py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16 — OOP: compose replaceable responsibilities</a:t>
            </a:r>
          </a:p>
          <a:p>
            <a:endParaRPr/>
          </a:p>
          <a:p>
            <a:r>
              <a:t>METHOD</a:t>
            </a:r>
          </a:p>
          <a:p>
            <a:r>
              <a:t>Define abstract contracts, inherit concrete policies and inject collaborators by composition.</a:t>
            </a:r>
          </a:p>
          <a:p>
            <a:endParaRPr/>
          </a:p>
          <a:p>
            <a:r>
              <a:t>USE IN RAILORA</a:t>
            </a:r>
          </a:p>
          <a:p>
            <a:r>
              <a:t>RailService composes Database, FarePolicy and PaymentGateway; UI/API consume its shared behavior.</a:t>
            </a:r>
          </a:p>
          <a:p>
            <a:endParaRPr/>
          </a:p>
          <a:p>
            <a:r>
              <a:t>EXPLANATION / TECHNICAL DEFENCE</a:t>
            </a:r>
          </a:p>
          <a:p>
            <a:r>
              <a:t>FarePolicy is an ABC with quote(); StandardFare implements it. PaymentGateway is a Protocol with DemoPayment as the current simulation. RailService composes these dependencies and Database. Database.transaction is a unit-of-work context; Repository[T] supplies a generic persistence wrapper. The ORM models inherit declarative Base. This demonstrates Strategy, adapter separation and unit of work without unnecessary class proliferation. Inject BrokenPayment in tests to verify rollback. There is no implemented age concession; adding one requires appropriate passenger-age inputs/contract changes and new integer-rounding tests, not inheritance alone.</a:t>
            </a:r>
          </a:p>
          <a:p>
            <a:endParaRPr/>
          </a:p>
          <a:p>
            <a:r>
              <a:t>EVIDENCE</a:t>
            </a:r>
          </a:p>
          <a:p>
            <a:r>
              <a:t>services.py • db.py: Repository[T] • models.py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17 — Types and generics: make contracts visible</a:t>
            </a:r>
          </a:p>
          <a:p>
            <a:endParaRPr/>
          </a:p>
          <a:p>
            <a:r>
              <a:t>METHOD</a:t>
            </a:r>
          </a:p>
          <a:p>
            <a:r>
              <a:t>Express reusable types, structural protocols and immutable values; validate runtime inputs separately.</a:t>
            </a:r>
          </a:p>
          <a:p>
            <a:endParaRPr/>
          </a:p>
          <a:p>
            <a:r>
              <a:t>USE IN RAILORA</a:t>
            </a:r>
          </a:p>
          <a:p>
            <a:r>
              <a:t>Mypy checks seven core modules; Pydantic validates passenger and train commands at runtime.</a:t>
            </a:r>
          </a:p>
          <a:p>
            <a:endParaRPr/>
          </a:p>
          <a:p>
            <a:r>
              <a:t>EXPLANATION / TECHNICAL DEFENCE</a:t>
            </a:r>
          </a:p>
          <a:p>
            <a:r>
              <a:t>Repository uses Generic[T] with T bound to declarative Base; add returns T and all returns list[T]. merge_sort is generic over T with a Callable key. timed uses ParamSpec P and TypeVar R to preserve arguments/return type. PaymentGateway is structurally typed, and frozen Edge/RouteResult are typed value objects. Mypy is configured for seven core modules, not every dynamic NiceGUI handler. Annotations do not enforce runtime security; Pydantic plus service checks validate actual inputs and permissions. Modular boundaries support changing a policy or sorting key without duplicating allocation/locks. The fragments are abbreviated source contracts, not full import-complete modules.</a:t>
            </a:r>
          </a:p>
          <a:p>
            <a:endParaRPr/>
          </a:p>
          <a:p>
            <a:r>
              <a:t>EVIDENCE</a:t>
            </a:r>
          </a:p>
          <a:p>
            <a:r>
              <a:t>schemas.py • db.py • algorithms.py • pyproject.toml</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18 — Functional design: separate values from effects</a:t>
            </a:r>
          </a:p>
          <a:p>
            <a:endParaRPr/>
          </a:p>
          <a:p>
            <a:r>
              <a:t>METHOD</a:t>
            </a:r>
          </a:p>
          <a:p>
            <a:r>
              <a:t>Use pure calculations and higher-order functions; isolate database and payment effects.</a:t>
            </a:r>
          </a:p>
          <a:p>
            <a:endParaRPr/>
          </a:p>
          <a:p>
            <a:r>
              <a:t>USE IN RAILORA</a:t>
            </a:r>
          </a:p>
          <a:p>
            <a:r>
              <a:t>fare_quote, sort, allocation and route functions are testable values; services own state transitions.</a:t>
            </a:r>
          </a:p>
          <a:p>
            <a:endParaRPr/>
          </a:p>
          <a:p>
            <a:r>
              <a:t>EXPLANATION / TECHNICAL DEFENCE</a:t>
            </a:r>
          </a:p>
          <a:p>
            <a:r>
              <a:t>fare_quote(595,CC,2) deterministically returns ticket595, subtotal1190, fee40 and total1230 in integer rupees. CC multiplier1; 3A6/5 and SL3/5 round upward using integer arithmetic. No global mutation, database access or real payment occurs in fare_quote. merge_sort accepts a key callback, so sorting criteria are behavior passed as a value. Frozen Edge and RouteResult discourage accidental mutation. Logging in a decorated function is a side effect even if the underlying calculation is pure. The service layer necessarily writes state; functional design means confining and testing these effects, not declaring the whole app pure.</a:t>
            </a:r>
          </a:p>
          <a:p>
            <a:endParaRPr/>
          </a:p>
          <a:p>
            <a:r>
              <a:t>EVIDENCE</a:t>
            </a:r>
          </a:p>
          <a:p>
            <a:r>
              <a:t>algorithms.py • FarePolicy • services.py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19 — Concurrency: select by workload</a:t>
            </a:r>
          </a:p>
          <a:p>
            <a:endParaRPr/>
          </a:p>
          <a:p>
            <a:r>
              <a:t>METHOD</a:t>
            </a:r>
          </a:p>
          <a:p>
            <a:r>
              <a:t>Threads overlap blocking I/O; async coordinates tasks; processes run pure Python CPU work.</a:t>
            </a:r>
          </a:p>
          <a:p>
            <a:endParaRPr/>
          </a:p>
          <a:p>
            <a:r>
              <a:t>USE IN RAILORA</a:t>
            </a:r>
          </a:p>
          <a:p>
            <a:r>
              <a:t>DB calls use run.io_bound; dashboard reads use asyncio.gather; algorithm lab uses run.cpu_bound.</a:t>
            </a:r>
          </a:p>
          <a:p>
            <a:endParaRPr/>
          </a:p>
          <a:p>
            <a:r>
              <a:t>EXPLANATION / TECHNICAL DEFENCE</a:t>
            </a:r>
          </a:p>
          <a:p>
            <a:r>
              <a:t>Synchronous SQL/service work is offloaded to the NiceGUI thread pool to keep the event loop responsive. asyncio.gather coordinates independent dashboard reads; the expiry task schedules its 15-second sweep and offloads the transaction. The lab calls a top-level picklable benchmark_lab in a process pool; never pass a live SQL session across processes. Under the conventional CPython build used for recorded validation, pure Python CPU loops generally do not parallelise in threads because of the GIL. Native Argon2 is CPU work and may release the GIL; thread offloading still preserves UI responsiveness. Process startup and serialization can cost more than tiny graph work. Concurrency does not replace DB row locks; async alone cannot prevent overselling.</a:t>
            </a:r>
          </a:p>
          <a:p>
            <a:endParaRPr/>
          </a:p>
          <a:p>
            <a:r>
              <a:t>EVIDENCE</a:t>
            </a:r>
          </a:p>
          <a:p>
            <a:r>
              <a:t>web.py • admin_ui.py • lab_ui.py • main.py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20 — Atomic booking: protect the final seat</a:t>
            </a:r>
          </a:p>
          <a:p>
            <a:endParaRPr/>
          </a:p>
          <a:p>
            <a:r>
              <a:t>METHOD</a:t>
            </a:r>
          </a:p>
          <a:p>
            <a:r>
              <a:t>Combine row locks, command identity and unique constraints inside one transaction.</a:t>
            </a:r>
          </a:p>
          <a:p>
            <a:endParaRPr/>
          </a:p>
          <a:p>
            <a:r>
              <a:t>USE IN RAILORA</a:t>
            </a:r>
          </a:p>
          <a:p>
            <a:r>
              <a:t>Lock order is Train → Inventory → Booking; booking, seats and audit commit or roll back together.</a:t>
            </a:r>
          </a:p>
          <a:p>
            <a:endParaRPr/>
          </a:p>
          <a:p>
            <a:r>
              <a:t>EXPLANATION / TECHNICAL DEFENCE</a:t>
            </a:r>
          </a:p>
          <a:p>
            <a:r>
              <a:t>The figure is an illustrative two-buyer/one-seat timeline, not a freshly run experiment. Buyer1 locks train then inventory, creates records and commits. Buyer2 waits, then rechecks availability and cannot own the same composite seat identity. Related commands use Train→Inventory→Booking order. Coarse train lock protects lazy inventory creation and serializes even different dates/classes for a train; finer locks are a future improvement. The command fingerprint is checked before and after locking. Identical retries return the same PNR; changed data with the same key is rejected. Recorded race tests:18 simultaneous requests for6 seats produce6 confirmed/12 waitlisted;20 requests using2 independent PostgreSQL service pools also produce6 confirmed;12 identical retries produce1 booking/2 seats. Provider-failure injection leaves no partial booking/assignment/event. Never put a real network payment under the current SQL lock.</a:t>
            </a:r>
          </a:p>
          <a:p>
            <a:endParaRPr/>
          </a:p>
          <a:p>
            <a:r>
              <a:t>EVIDENCE</a:t>
            </a:r>
          </a:p>
          <a:p>
            <a:r>
              <a:t>services.py: create_booking • models.py • test_concurrency.py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21 — Lifecycle: holds, expiry and fair promotion</a:t>
            </a:r>
          </a:p>
          <a:p>
            <a:endParaRPr/>
          </a:p>
          <a:p>
            <a:r>
              <a:t>METHOD</a:t>
            </a:r>
          </a:p>
          <a:p>
            <a:r>
              <a:t>Model explicit states; release seats safely and serve the oldest feasible queue head first.</a:t>
            </a:r>
          </a:p>
          <a:p>
            <a:endParaRPr/>
          </a:p>
          <a:p>
            <a:r>
              <a:t>USE IN RAILORA</a:t>
            </a:r>
          </a:p>
          <a:p>
            <a:r>
              <a:t>A promoted waitlist group becomes reserved for 15 minutes—not automatically paid or confirmed.</a:t>
            </a:r>
          </a:p>
          <a:p>
            <a:endParaRPr/>
          </a:p>
          <a:p>
            <a:r>
              <a:t>EXPLANATION / TECHNICAL DEFENCE</a:t>
            </a:r>
          </a:p>
          <a:p>
            <a:r>
              <a:t>Five stored statuses:confirmed,reserved,waitlisted,cancelled,expired. A reservation assigns seats for15 minutes; confirm independently checks its deadline. The sweeper runs every15 seconds, so expiration enforcement is not reliant only on UI display or sweep scheduling. Cancellation and expiry release assignments in the transaction and attempt FIFO promotion. If the head group needs3 seats and only2 are free, a later1-person group does not bypass it. This fairness choice can leave seats idle. When enough are free, the head becomes reserved with a new15-minute deadline, not automatically confirmed. Admin polling about every3 seconds is separate from the expiry sweep. Cancellation of eligible reserved/waitlisted entries is also allowed; not every edge is shown in this simplified diagram.</a:t>
            </a:r>
          </a:p>
          <a:p>
            <a:endParaRPr/>
          </a:p>
          <a:p>
            <a:r>
              <a:t>EVIDENCE</a:t>
            </a:r>
          </a:p>
          <a:p>
            <a:r>
              <a:t>services.py: confirm, cancel, expire_holds, promotion</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22 — Traveler UI: make the method observable</a:t>
            </a:r>
          </a:p>
          <a:p>
            <a:endParaRPr/>
          </a:p>
          <a:p>
            <a:r>
              <a:t>METHOD</a:t>
            </a:r>
          </a:p>
          <a:p>
            <a:r>
              <a:t>Use clear feedback, responsive layout and shared validated commands at the presentation boundary.</a:t>
            </a:r>
          </a:p>
          <a:p>
            <a:endParaRPr/>
          </a:p>
          <a:p>
            <a:r>
              <a:t>USE IN RAILORA</a:t>
            </a:r>
          </a:p>
          <a:p>
            <a:r>
              <a:t>Login → search → passenger modal → PNR/demo ticket; the service rechecks inventory at submit time.</a:t>
            </a:r>
          </a:p>
          <a:p>
            <a:endParaRPr/>
          </a:p>
          <a:p>
            <a:r>
              <a:t>EXPLANATION / TECHNICAL DEFENCE</a:t>
            </a:r>
          </a:p>
          <a:p>
            <a:r>
              <a:t>These are actual browser screenshots captured during report creation from an isolated PostgreSQL CTPDB replica of the unchanged delivered source, using only environment overrides. They are not fictional designs and not a new full-suite run. The login supports traveler/admin entry; registration only creates a traveler. The dashboard exposes direct route/date/class search, availability and booking entry. Modal validates1–6 passengers, class/preference/mode and displays exact fare. A search count is staleable; only service validation plus SQL transaction allocates. NiceGUI internally uses Vue/Quasar/JS/CSS despite Python authoring. Cached real scenic images are credited, not live Google Images scraping. Demo ticket is explicitly NOT VALID FOR TRAVEL.</a:t>
            </a:r>
          </a:p>
          <a:p>
            <a:endParaRPr/>
          </a:p>
          <a:p>
            <a:r>
              <a:t>EVIDENCE</a:t>
            </a:r>
          </a:p>
          <a:p>
            <a:r>
              <a:t>web.py • web_components.py • capture_manifest.json</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23 — Admin UI: observe committed changes</a:t>
            </a:r>
          </a:p>
          <a:p>
            <a:endParaRPr/>
          </a:p>
          <a:p>
            <a:r>
              <a:t>METHOD</a:t>
            </a:r>
          </a:p>
          <a:p>
            <a:r>
              <a:t>Combine role-based access with periodic reads of durable statistics and audit events.</a:t>
            </a:r>
          </a:p>
          <a:p>
            <a:endParaRPr/>
          </a:p>
          <a:p>
            <a:r>
              <a:t>USE IN RAILORA</a:t>
            </a:r>
          </a:p>
          <a:p>
            <a:r>
              <a:t>AdminUI polls about every 3 seconds; charts/register reflect synthetic CTPDB data, not browser-only counters.</a:t>
            </a:r>
          </a:p>
          <a:p>
            <a:endParaRPr/>
          </a:p>
          <a:p>
            <a:r>
              <a:t>EXPLANATION / TECHNICAL DEFENCE</a:t>
            </a:r>
          </a:p>
          <a:p>
            <a:r>
              <a:t>Screenshot is actual isolated synthetic demo state:46 initial sample bookings,15 active services and9 traveler accounts plus1 admin. Confirmed revenue is simulated, not real money. Administrators can add validated trains, pause/resume new booking, inspect reservations/events and export CSV. Service-level authorization is retained even if UI buttons are hidden. Pause does not silently cancel existing tickets. Audit events commit with reservation changes; polling observes them and NiceGUI sends updated components through WebSocket. It is not direct push from PostgreSQL or real railway data. Register has12 rows per UI page but currently loads/serializes all bookings with extra per-booking queries; SQL pagination and batched loading are future improvements.</a:t>
            </a:r>
          </a:p>
          <a:p>
            <a:endParaRPr/>
          </a:p>
          <a:p>
            <a:r>
              <a:t>EVIDENCE</a:t>
            </a:r>
          </a:p>
          <a:p>
            <a:r>
              <a:t>admin_ui.py • admin_stats() • events() • capture_manifest.json</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24 — Algorithm Lab: compare the same network</a:t>
            </a:r>
          </a:p>
          <a:p>
            <a:endParaRPr/>
          </a:p>
          <a:p>
            <a:r>
              <a:t>METHOD</a:t>
            </a:r>
          </a:p>
          <a:p>
            <a:r>
              <a:t>Run pure graph computations in a process pool and compare their different objectives and constraints.</a:t>
            </a:r>
          </a:p>
          <a:p>
            <a:endParaRPr/>
          </a:p>
          <a:p>
            <a:r>
              <a:t>USE IN RAILORA</a:t>
            </a:r>
          </a:p>
          <a:p>
            <a:r>
              <a:t>Dijkstra / DP return base-fare cost; branch-and-bound returns minutes. The seat sandbox reserves nothing.</a:t>
            </a:r>
          </a:p>
          <a:p>
            <a:endParaRPr/>
          </a:p>
          <a:p>
            <a:r>
              <a:t>EXPLANATION / TECHNICAL DEFENCE</a:t>
            </a:r>
          </a:p>
          <a:p>
            <a:r>
              <a:t>This is an actual screenshot from the isolated synthetic PostgreSQL report replica, not an invented design. The default graph uses sample stations and services. Default BZA→MAS→SBC→NDLS costs2840 base fare. Dijkstra is cheapest without a leg bound; DP is cheapest with≤4 edges; branch-and-bound is fastest within the selected farebudget and returnsminutes rather thanfare as RouteResult.cost. Matching paths in one example do not make the objectives equivalent. The toy unit-test graph on earlier slides exposes their differences. Native CPU worker keeps the UI responsive; individual microtimings here are noisy and do not replace the five-repeat benchmark evidence. The seat sandbox only computes labels; it does not lock or allocate actual booking inventory. The graph ignores service calendars and transfer feasibility.</a:t>
            </a:r>
          </a:p>
          <a:p>
            <a:endParaRPr/>
          </a:p>
          <a:p>
            <a:r>
              <a:t>EVIDENCE</a:t>
            </a:r>
          </a:p>
          <a:p>
            <a:r>
              <a:t>lab_ui.py • benchmark_lab() • capture_manifest.json</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25 — Testing: examples plus independent oracles</a:t>
            </a:r>
          </a:p>
          <a:p>
            <a:endParaRPr/>
          </a:p>
          <a:p>
            <a:r>
              <a:t>METHOD</a:t>
            </a:r>
          </a:p>
          <a:p>
            <a:r>
              <a:t>Layer unit, service, API, database-race and browser tests; generate boundary inputs with Hypothesis.</a:t>
            </a:r>
          </a:p>
          <a:p>
            <a:endParaRPr/>
          </a:p>
          <a:p>
            <a:r>
              <a:t>USE IN RAILORA</a:t>
            </a:r>
          </a:p>
          <a:p>
            <a:r>
              <a:t>Allocation properties check free/unique seats; route properties compare against independent brute-force results.</a:t>
            </a:r>
          </a:p>
          <a:p>
            <a:endParaRPr/>
          </a:p>
          <a:p>
            <a:r>
              <a:t>EXPLANATION / TECHNICAL DEFENCE</a:t>
            </a:r>
          </a:p>
          <a:p>
            <a:r>
              <a:t>Unit tests cover ordering/stability, labels, integer fares and graph objective examples. Service integration covers ownership, roles, idempotency, holds, release/FIFO and injected-provider rollback. HTTP integration exercises schemas and endpoints. PostgreSQL tests use independent pools and true SQL row locks. E2E covers login, booking, separate admin observation, PDF download/cancel, mobile layout and CPU lab. Hypothesis generates lists/groups and small graphs, shrinking failures to useful counterexamples. Dijkstra agrees with DP when enough edges are allowed; branch search agrees with a separate brute-force oracle. Do not validate an implementation merely by rewriting the same algorithm in the test. Destructive fixtures must target an isolated *_test database, never CTPDB.</a:t>
            </a:r>
          </a:p>
          <a:p>
            <a:endParaRPr/>
          </a:p>
          <a:p>
            <a:r>
              <a:t>EVIDENCE</a:t>
            </a:r>
          </a:p>
          <a:p>
            <a:r>
              <a:t>tests/test_algorithms.py • test_services.py • test_api.py • test_e2e.py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26 — Quality evidence: show the scope</a:t>
            </a:r>
          </a:p>
          <a:p>
            <a:endParaRPr/>
          </a:p>
          <a:p>
            <a:r>
              <a:t>METHOD</a:t>
            </a:r>
          </a:p>
          <a:p>
            <a:r>
              <a:t>Report executed checks accurately; coverage supports review but is not a correctness proof.</a:t>
            </a:r>
          </a:p>
          <a:p>
            <a:endParaRPr/>
          </a:p>
          <a:p>
            <a:r>
              <a:t>USE IN RAILORA</a:t>
            </a:r>
          </a:p>
          <a:p>
            <a:r>
              <a:t>49 PostgreSQL cases + 4 browser cases = 53 distinct cases; scoped core statement coverage is 98.49%.</a:t>
            </a:r>
          </a:p>
          <a:p>
            <a:endParaRPr/>
          </a:p>
          <a:p>
            <a:r>
              <a:t>EXPLANATION / TECHNICAL DEFENCE</a:t>
            </a:r>
          </a:p>
          <a:p>
            <a:r>
              <a:t>Recorded on2026-10-11 with Python3.13.16/PostgreSQL17. PostgreSQL49 passed/4 skipped/0failures; browser separately4 passed/0skip/0failures; SQLite48 passed/5skip repeats core cases and is not48 extra distinct tests. PostgreSQL core statement coverage846/859=98.49%, excludes dynamic UI modules and seed. It is not branch coverage, full UI coverage, penetration testing or accessibility certification. Mypy passed7 configured core modules; Ruff lint and formatting and compileall passed. A Starlette/httpx TestClient deprecation warning remains. Configuration YAML was structurally checked, but container and remote CI execution were not reported. These are stored project artefacts, not new tests performed to make the PPT.</a:t>
            </a:r>
          </a:p>
          <a:p>
            <a:endParaRPr/>
          </a:p>
          <a:p>
            <a:r>
              <a:t>EVIDENCE</a:t>
            </a:r>
          </a:p>
          <a:p>
            <a:r>
              <a:t>reports/validation.json • coverage-postgres.json • VALIDATION.md</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27 — DevOps: configured gates, honest status</a:t>
            </a:r>
          </a:p>
          <a:p>
            <a:endParaRPr/>
          </a:p>
          <a:p>
            <a:r>
              <a:t>METHOD</a:t>
            </a:r>
          </a:p>
          <a:p>
            <a:r>
              <a:t>Automate repeatable checks and container configuration; do not confuse configuration with execution.</a:t>
            </a:r>
          </a:p>
          <a:p>
            <a:endParaRPr/>
          </a:p>
          <a:p>
            <a:r>
              <a:t>USE IN RAILORA</a:t>
            </a:r>
          </a:p>
          <a:p>
            <a:r>
              <a:t>CI defines quality/PostgreSQL and browser jobs; Dockerfile + Compose are included, but remote/container runs are unverified.</a:t>
            </a:r>
          </a:p>
          <a:p>
            <a:endParaRPr/>
          </a:p>
          <a:p>
            <a:r>
              <a:t>EXPLANATION / TECHNICAL DEFENCE</a:t>
            </a:r>
          </a:p>
          <a:p>
            <a:r>
              <a:t>The included CI validate job runs Ruff, format, Mypy, pytest coverage against a PostgreSQL17 test service and a Docker build. Browser job runs a separate disposable seeded application and Playwright. Coverage fail threshold is85. Non-root Dockerfile and Compose with PostgreSQL healthcheck and persistent volume are supplied. YAML structural parsing passed, but Docker build, Compose launch, remote Actions execution and production deployment were not executed in recorded delivery. No automatic CD is claimed. In Compose the app connects to host db inside the container network; the browser talks to the web app using valid relative URLs, never container-local localhost. Root password/public demo credentials are development-only.</a:t>
            </a:r>
          </a:p>
          <a:p>
            <a:endParaRPr/>
          </a:p>
          <a:p>
            <a:r>
              <a:t>EVIDENCE</a:t>
            </a:r>
          </a:p>
          <a:p>
            <a:r>
              <a:t>ci.yml • Dockerfile • docker-compose.yml • VALIDATION.md</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28 — AI-assisted: specify before generating</a:t>
            </a:r>
          </a:p>
          <a:p>
            <a:endParaRPr/>
          </a:p>
          <a:p>
            <a:r>
              <a:t>METHOD</a:t>
            </a:r>
          </a:p>
          <a:p>
            <a:r>
              <a:t>Supply narrow context, explicit invariants and falsifiable tests; treat generated code as a draft.</a:t>
            </a:r>
          </a:p>
          <a:p>
            <a:endParaRPr/>
          </a:p>
          <a:p>
            <a:r>
              <a:t>USE IN RAILORA</a:t>
            </a:r>
          </a:p>
          <a:p>
            <a:r>
              <a:t>Use schemas + lock order + constraints to request a bounded change, then inspect and validate it.</a:t>
            </a:r>
          </a:p>
          <a:p>
            <a:endParaRPr/>
          </a:p>
          <a:p>
            <a:r>
              <a:t>EXPLANATION / TECHNICAL DEFENCE</a:t>
            </a:r>
          </a:p>
          <a:p>
            <a:r>
              <a:t>This is a reusable prompting template, not an invented historical conversation. Ask for a plan before code. Give BookingInput, seat primary key, service contract and relevant tests rather than the entire repository. State non-negotiable invariants:unique seat ownership, atomic booking/seat/event, idempotent retries, FIFO fairness, roles, exact money and simulation. Ask for race/failure tests and independent oracles, not only happy-path demonstrations. Do not include real secrets, payment card data or personal bookings. AI was used to interpret specification, generate Python/UI and tests and review. Tool execution and regression checks validate drafts. Student must independently understand and acknowledge assistance under institutional policy.</a:t>
            </a:r>
          </a:p>
          <a:p>
            <a:endParaRPr/>
          </a:p>
          <a:p>
            <a:r>
              <a:t>EVIDENCE</a:t>
            </a:r>
          </a:p>
          <a:p>
            <a:r>
              <a:t>AI_REVIEW.md • SPECIFICATION.md • schemas.py</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29 — AI review: defects found, not hidden</a:t>
            </a:r>
          </a:p>
          <a:p>
            <a:endParaRPr/>
          </a:p>
          <a:p>
            <a:r>
              <a:t>METHOD</a:t>
            </a:r>
          </a:p>
          <a:p>
            <a:r>
              <a:t>Inspect actual behavior, identify counterexamples, fix the cause and rerun checks.</a:t>
            </a:r>
          </a:p>
          <a:p>
            <a:endParaRPr/>
          </a:p>
          <a:p>
            <a:r>
              <a:t>USE IN RAILORA</a:t>
            </a:r>
          </a:p>
          <a:p>
            <a:r>
              <a:t>Browser inspection and PostgreSQL tests caught UI-state, CSS and fixture defects in generated drafts.</a:t>
            </a:r>
          </a:p>
          <a:p>
            <a:endParaRPr/>
          </a:p>
          <a:p>
            <a:r>
              <a:t>EXPLANATION / TECHNICAL DEFENCE</a:t>
            </a:r>
          </a:p>
          <a:p>
            <a:r>
              <a:t>Actual review record: booking committed but success dialog was hidden because it was nested inside a closed parent modal; root the dialog in client content. Admin table-row collided with a Tailwind utility causing rows to collapse; rename data-row and enforce grid. PostgreSQL fixtures assigned manual IDs without advancing sequences, causing4 initial failures invisible on SQLite; let database allocate IDs and rerun PostgreSQL suite. Further actual corrections include wraps/typing details, bound row variable, Dijkstra predecessor storage, whitespace/time validation, timezone bucketing, mobile layout and real quick-search key handler. Do not say AI independently certified itself; execution and independent properties are evidence. Do not weaken tests or suppress failing rules to obtain a pass. No independent human production-security audit is claimed.</a:t>
            </a:r>
          </a:p>
          <a:p>
            <a:endParaRPr/>
          </a:p>
          <a:p>
            <a:r>
              <a:t>EVIDENCE</a:t>
            </a:r>
          </a:p>
          <a:p>
            <a:r>
              <a:t>AI_REVIEW.md • tests-postgres.xml • ui-smoke.json</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30 — Performance: measure, then improve</a:t>
            </a:r>
          </a:p>
          <a:p>
            <a:endParaRPr/>
          </a:p>
          <a:p>
            <a:r>
              <a:t>METHOD</a:t>
            </a:r>
          </a:p>
          <a:p>
            <a:r>
              <a:t>Benchmark reproducibly and disclose input size, repeats, memory scope and excluded costs.</a:t>
            </a:r>
          </a:p>
          <a:p>
            <a:endParaRPr/>
          </a:p>
          <a:p>
            <a:r>
              <a:t>USE IN RAILORA</a:t>
            </a:r>
          </a:p>
          <a:p>
            <a:r>
              <a:t>Use native sorted() as a reference; prioritise SQL pagination/batched loading for the current admin bottleneck.</a:t>
            </a:r>
          </a:p>
          <a:p>
            <a:endParaRPr/>
          </a:p>
          <a:p>
            <a:r>
              <a:t>EXPLANATION / TECHNICAL DEFENCE</a:t>
            </a:r>
          </a:p>
          <a:p>
            <a:r>
              <a:t>Recorded benchmarks use seed42 and median per call over5 repeats. Sort uses5 calls/repeat; graph/seat10; warm local DB search/admin5/3. Peak KiB is one-call tracemalloc Python allocation, not whole-process RSS/native or PostgreSQL memory. Browser/network proxy and CPU process-pool transport are excluded. At5000 items custommerge12.50938ms/159.10KiB, sorted0.58121ms/58.51KiB. Search15 services3.54711ms; admin46 bookings89.62213ms/309.77KiB. Native Timsort is a production candidate, while current custom sort is inspectable coursework. Admin serialization fetches complete register plus per-booking queries; UI pagination is not SQL pagination. Dijkstra500 nodes0.76966ms; tiny branch test pruning is not worst-case proof. Do not extrapolate microtimings to production throughput or claim process-pool speedup.</a:t>
            </a:r>
          </a:p>
          <a:p>
            <a:endParaRPr/>
          </a:p>
          <a:p>
            <a:r>
              <a:t>EVIDENCE</a:t>
            </a:r>
          </a:p>
          <a:p>
            <a:r>
              <a:t>reports/performance.csv • benchmark.py • VALIDATION.md</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31 — The complete Computational Thinking workflow</a:t>
            </a:r>
          </a:p>
          <a:p>
            <a:endParaRPr/>
          </a:p>
          <a:p>
            <a:r>
              <a:t>METHOD</a:t>
            </a:r>
          </a:p>
          <a:p>
            <a:r>
              <a:t>Trace decisions from a real-world invariant to validated code, measured behavior and defence.</a:t>
            </a:r>
          </a:p>
          <a:p>
            <a:endParaRPr/>
          </a:p>
          <a:p>
            <a:r>
              <a:t>USE IN RAILORA</a:t>
            </a:r>
          </a:p>
          <a:p>
            <a:r>
              <a:t>AI review and testing repeat throughout; CI/containerisation is configured, while student defence remains required.</a:t>
            </a:r>
          </a:p>
          <a:p>
            <a:endParaRPr/>
          </a:p>
          <a:p>
            <a:r>
              <a:t>EXPLANATION / TECHNICAL DEFENCE</a:t>
            </a:r>
          </a:p>
          <a:p>
            <a:r>
              <a:t>Explain the whole course workflow:real scarce-seat problem→computational thinking→decomposition/abstraction→algorithm/data selection→Python→OOP/functional boundaries→appropriate concurrency and database consistency→tests/quality→configured CI/container→AI review/revalidation→performance→live demonstration→technical defence. It is iterative:AI generation/review and testing appear earlier as well, not a single late stage. The slide shows13 milestones in four rows; gray studentdefence means the implementation/report does not prove mastery or a passed viva. Amber CI/container means configuration exists but remote build/launch/deploy was not executed in the recorded environment. Run a useful regression after a small extension to produce student-owned evidence.</a:t>
            </a:r>
          </a:p>
          <a:p>
            <a:endParaRPr/>
          </a:p>
          <a:p>
            <a:r>
              <a:t>EVIDENCE</a:t>
            </a:r>
          </a:p>
          <a:p>
            <a:r>
              <a:t>ASSESSMENT_MAP.md • SPECIFICATION.md • VALIDATION.md</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32 — Live demo: one journey, two sessions</a:t>
            </a:r>
          </a:p>
          <a:p>
            <a:endParaRPr/>
          </a:p>
          <a:p>
            <a:r>
              <a:t>METHOD</a:t>
            </a:r>
          </a:p>
          <a:p>
            <a:r>
              <a:t>Demonstrate observable state changes with separate traveler and administrator profiles.</a:t>
            </a:r>
          </a:p>
          <a:p>
            <a:endParaRPr/>
          </a:p>
          <a:p>
            <a:r>
              <a:t>USE IN RAILORA</a:t>
            </a:r>
          </a:p>
          <a:p>
            <a:r>
              <a:t>Search → book two passengers → PNR/demo PDF → admin update → cancel → algorithm lab.</a:t>
            </a:r>
          </a:p>
          <a:p>
            <a:endParaRPr/>
          </a:p>
          <a:p>
            <a:r>
              <a:t>EXPLANATION / TECHNICAL DEFENCE</a:t>
            </a:r>
          </a:p>
          <a:p>
            <a:r>
              <a:t>Use a clean development PostgreSQL CTPDB and two browser profiles or incognito contexts. Traveler aditya@railora.demo / Railora@123; admin admin@railora.demo / Admin@123. Website passwords differ from PostgreSQL root. Existing populated DB may not contain demo accounts because seed_demo earlyreturns when any User exists; never blindly delete existing user data. Pick tomorrow so departure-time guard will not reject today. Search direct service, book2, show finalfare/seats/PNR and visibly markedPDF. In admin profile wait about3seconds and inspect durable event/register. Cancel from traveler and explain seatrelease/promotion. Run lab and changebudget; do not call it connection-feasible booking. For FIFO/races use isolated *_test tests, not destructive actions on user data. Recorded E2E evidence exists but student should rehearse on their own installation.</a:t>
            </a:r>
          </a:p>
          <a:p>
            <a:endParaRPr/>
          </a:p>
          <a:p>
            <a:r>
              <a:t>EVIDENCE</a:t>
            </a:r>
          </a:p>
          <a:p>
            <a:r>
              <a:t>TECHNICAL_DEFENCE.md • tests/test_e2e.py • README.md</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33 — Limitations: turn honesty into a roadmap</a:t>
            </a:r>
          </a:p>
          <a:p>
            <a:endParaRPr/>
          </a:p>
          <a:p>
            <a:r>
              <a:t>METHOD</a:t>
            </a:r>
          </a:p>
          <a:p>
            <a:r>
              <a:t>Evaluate abstraction gaps and bottlenecks before proposing targeted, tested improvements.</a:t>
            </a:r>
          </a:p>
          <a:p>
            <a:endParaRPr/>
          </a:p>
          <a:p>
            <a:r>
              <a:t>USE IN RAILORA</a:t>
            </a:r>
          </a:p>
          <a:p>
            <a:r>
              <a:t>Railora is an academic simulation—not official booking, real payment settlement or a production deployment.</a:t>
            </a:r>
          </a:p>
          <a:p>
            <a:endParaRPr/>
          </a:p>
          <a:p>
            <a:r>
              <a:t>EXPLANATION / TECHNICAL DEFENCE</a:t>
            </a:r>
          </a:p>
          <a:p>
            <a:r>
              <a:t>Current design has direct service booking, synthetic schedules/three-class availability, simulated funds, local demo sessions and graph paths without transfer feasibility. No official ticket, live national inventory, real payment/refund, SMS/email, production certification or live Google image feed exists. Safe seeding and migrations are important: create_all is bootstrap and nonempty users stops seed. Coarse train lock and N+1-style serialization limit throughput. Prioritise SQL pagination/loading and finer inventory locks with race tests; operational work adds TLS, rate limiting, secret rotation, backups, recovery and accessibility. Real provider integration needs permission and segment/calendar/transfer modeling, plus holds, outbox/webhook verification and payment reconciliation. Never add network charge directly under SQL lock. Future items are not presented as already implemented.</a:t>
            </a:r>
          </a:p>
          <a:p>
            <a:endParaRPr/>
          </a:p>
          <a:p>
            <a:r>
              <a:t>EVIDENCE</a:t>
            </a:r>
          </a:p>
          <a:p>
            <a:r>
              <a:t>SPECIFICATION.md • ALGORITHMS.md • AI_REVIEW.md</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34 — Technical defence: explain the decision</a:t>
            </a:r>
          </a:p>
          <a:p>
            <a:endParaRPr/>
          </a:p>
          <a:p>
            <a:r>
              <a:t>METHOD</a:t>
            </a:r>
          </a:p>
          <a:p>
            <a:r>
              <a:t>Answer with invariants, algorithm preconditions, source contracts and executed evidence.</a:t>
            </a:r>
          </a:p>
          <a:p>
            <a:endParaRPr/>
          </a:p>
          <a:p>
            <a:r>
              <a:t>USE IN RAILORA</a:t>
            </a:r>
          </a:p>
          <a:p>
            <a:r>
              <a:t>A student should defend these choices and make one meaningful, tested extension—not merely show the UI.</a:t>
            </a:r>
          </a:p>
          <a:p>
            <a:endParaRPr/>
          </a:p>
          <a:p>
            <a:r>
              <a:t>EXPLANATION / TECHNICAL DEFENCE</a:t>
            </a:r>
          </a:p>
          <a:p>
            <a:r>
              <a:t>Suggested answers:1 Availability is a snapshot; SQL row locks plus seatuniquePK prevent a secondowner atcommit.2 DP imposes atmostHedges, Dijkstra is unconstrained and non-negative.3 Together is a bounded preference; fallback remains available/free/unique.4 Conventional GIL prevents broad purePython CPU threading speedup; I/O threads and CPU processes fit different work.5 High statementcoverage measures execution, not correctness, branchcompleteness or security, and UI/seed are outsidecorepercentage.6 Idempotent retries use fullcommandfingerprint and keyrecheckafterlock; failed providers rollback. Student extension: add a well-specified sort rule or farepolicy, first create meaningfulfailingtest, implement minimally and rerunchecks. Agepolicy needs appropriateageinputcontract, not inheritance alone. No passed viva or personal independentauthorship is claimed.</a:t>
            </a:r>
          </a:p>
          <a:p>
            <a:endParaRPr/>
          </a:p>
          <a:p>
            <a:r>
              <a:t>EVIDENCE</a:t>
            </a:r>
          </a:p>
          <a:p>
            <a:r>
              <a:t>TECHNICAL_DEFENCE.md • ASSESSMENT_MAP.md</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35 — Every course outcome has inspectable evidence</a:t>
            </a:r>
          </a:p>
          <a:p>
            <a:endParaRPr/>
          </a:p>
          <a:p>
            <a:r>
              <a:t>METHOD</a:t>
            </a:r>
          </a:p>
          <a:p>
            <a:r>
              <a:t>Link each claim to code, test artefacts or a demonstration; distinguish completed from proposed work.</a:t>
            </a:r>
          </a:p>
          <a:p>
            <a:endParaRPr/>
          </a:p>
          <a:p>
            <a:r>
              <a:t>USE IN RAILORA</a:t>
            </a:r>
          </a:p>
          <a:p>
            <a:r>
              <a:t>Use the source ZIP + project report + this deck together; fill the cover details and rehearse the defence.</a:t>
            </a:r>
          </a:p>
          <a:p>
            <a:endParaRPr/>
          </a:p>
          <a:p>
            <a:r>
              <a:t>EXPLANATION / TECHNICAL DEFENCE</a:t>
            </a:r>
          </a:p>
          <a:p>
            <a:r>
              <a:t>Six assessment pillars are covered. Computational thinking:decomposition, abstraction, patterns and all fivealgorithmfamilies plusimplementation-awarecomplexity. Python/data:structures, iterators/generators/comprehensions/decorator/contextmanager andperformance. Design:classes, ABCinheritance, composition, Protocol,generics,typehints, modularadapters/strategies/unitofwork. Functional/concurrency:purefunctions/higher-orderkeys/frozenvalues/threads/processes/async/GIL. Quality/DevOps:pytest,Hypothesis,unit/integration/race/browser,scopedcoverage,Mypy,Ruff,format,configuredCI/container. AI:prompting,context,specfirst,drafts,criticalreview,actualcorrections,revalidation. Primaryreferences:README andSPECIFICATION;sourcealgorithms/models/services;reportsvalidation/coverage/performance;AI_REVIEW,TECHNICAL_DEFENCE andASSET_CREDITS. Visualcredits:actualUIfromcapturemanifest, SwissheroPexels32548690 andcachedGoa32262464/Kerala13045091/Jaipur19149600; pexels.com/license. PhotosarelocalcreditableassetsnotliveGooglefeed. StudentmustfillcoverandacknowledgeAIappropriately. Originalresultsdated11Oct2026. Presentationcreatedfromevidence,notnewfulltests orstudentviva.</a:t>
            </a:r>
          </a:p>
          <a:p>
            <a:endParaRPr/>
          </a:p>
          <a:p>
            <a:r>
              <a:t>EVIDENCE</a:t>
            </a:r>
          </a:p>
          <a:p>
            <a:r>
              <a:t>ASSESSMENT_MAP.md • reports/ • ASSET_CREDITS.md</a:t>
            </a:r>
          </a:p>
          <a:p>
            <a:endParaRPr/>
          </a:p>
          <a:p>
            <a:r>
              <a:t>DISCLOSURE</a:t>
            </a:r>
          </a:p>
          <a:p>
            <a:r>
              <a:t>Academic simulation; synthetic services and passenger data, simulated payments. Recorded validation is not a new run on the student's machine.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p:blipFill>
        <p:spPr>
          <a:xfrm>
            <a:off x="6565392" y="0"/>
            <a:ext cx="5632704" cy="6858000"/>
          </a:xfrm>
          <a:prstGeom prst="rect">
            <a:avLst/>
          </a:prstGeom>
        </p:spPr>
      </p:pic>
      <p:sp>
        <p:nvSpPr>
          <p:cNvPr id="3" name="Rectangle 2"/>
          <p:cNvSpPr/>
          <p:nvPr/>
        </p:nvSpPr>
        <p:spPr>
          <a:xfrm>
            <a:off x="0" y="0"/>
            <a:ext cx="656539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493776"/>
            <a:ext cx="493776" cy="49377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77021" y="577717"/>
            <a:ext cx="237012" cy="286390"/>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677021" y="720912"/>
            <a:ext cx="237013"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95527" y="577717"/>
            <a:ext cx="0" cy="143195"/>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662208" y="864108"/>
            <a:ext cx="54315" cy="49377"/>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69594" y="864108"/>
            <a:ext cx="54315" cy="49377"/>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188720" y="475488"/>
            <a:ext cx="4754880" cy="594360"/>
          </a:xfrm>
          <a:prstGeom prst="rect">
            <a:avLst/>
          </a:prstGeom>
          <a:noFill/>
        </p:spPr>
        <p:txBody>
          <a:bodyPr wrap="square" lIns="0" tIns="0" rIns="0" bIns="0" anchor="t">
            <a:noAutofit/>
          </a:bodyPr>
          <a:lstStyle/>
          <a:p>
            <a:pPr algn="l">
              <a:lnSpc>
                <a:spcPct val="110000"/>
              </a:lnSpc>
              <a:spcBef>
                <a:spcPts val="0"/>
              </a:spcBef>
              <a:spcAft>
                <a:spcPts val="0"/>
              </a:spcAft>
            </a:pPr>
            <a:r>
              <a:rPr sz="4000" b="1" dirty="0" err="1">
                <a:solidFill>
                  <a:srgbClr val="22263B"/>
                </a:solidFill>
                <a:latin typeface="Arial"/>
              </a:rPr>
              <a:t>railora</a:t>
            </a:r>
            <a:r>
              <a:rPr sz="4000" b="1" dirty="0">
                <a:solidFill>
                  <a:srgbClr val="22263B"/>
                </a:solidFill>
                <a:latin typeface="Arial"/>
              </a:rPr>
              <a:t>.</a:t>
            </a:r>
          </a:p>
        </p:txBody>
      </p:sp>
      <p:sp>
        <p:nvSpPr>
          <p:cNvPr id="11" name="TextBox 10"/>
          <p:cNvSpPr txBox="1"/>
          <p:nvPr/>
        </p:nvSpPr>
        <p:spPr>
          <a:xfrm>
            <a:off x="548640" y="1307592"/>
            <a:ext cx="5486400" cy="438912"/>
          </a:xfrm>
          <a:prstGeom prst="rect">
            <a:avLst/>
          </a:prstGeom>
          <a:noFill/>
        </p:spPr>
        <p:txBody>
          <a:bodyPr wrap="square" lIns="0" tIns="0" rIns="0" bIns="0" anchor="t">
            <a:noAutofit/>
          </a:bodyPr>
          <a:lstStyle/>
          <a:p>
            <a:pPr algn="l">
              <a:lnSpc>
                <a:spcPct val="122000"/>
              </a:lnSpc>
              <a:spcBef>
                <a:spcPts val="0"/>
              </a:spcBef>
              <a:spcAft>
                <a:spcPts val="0"/>
              </a:spcAft>
            </a:pPr>
            <a:r>
              <a:rPr sz="1200" b="1">
                <a:solidFill>
                  <a:srgbClr val="7450DF"/>
                </a:solidFill>
                <a:latin typeface="Arial"/>
              </a:rPr>
              <a:t>COMPUTATIONAL THINKING</a:t>
            </a:r>
          </a:p>
          <a:p>
            <a:pPr algn="l">
              <a:lnSpc>
                <a:spcPct val="122000"/>
              </a:lnSpc>
              <a:spcBef>
                <a:spcPts val="0"/>
              </a:spcBef>
              <a:spcAft>
                <a:spcPts val="0"/>
              </a:spcAft>
            </a:pPr>
            <a:r>
              <a:rPr sz="1200" b="1">
                <a:solidFill>
                  <a:srgbClr val="7450DF"/>
                </a:solidFill>
                <a:latin typeface="Arial"/>
              </a:rPr>
              <a:t>AND PROGRAMMING</a:t>
            </a:r>
          </a:p>
        </p:txBody>
      </p:sp>
      <p:sp>
        <p:nvSpPr>
          <p:cNvPr id="12" name="TextBox 11"/>
          <p:cNvSpPr txBox="1"/>
          <p:nvPr/>
        </p:nvSpPr>
        <p:spPr>
          <a:xfrm>
            <a:off x="548640" y="1938528"/>
            <a:ext cx="5577840" cy="1261872"/>
          </a:xfrm>
          <a:prstGeom prst="rect">
            <a:avLst/>
          </a:prstGeom>
          <a:noFill/>
        </p:spPr>
        <p:txBody>
          <a:bodyPr wrap="square" lIns="0" tIns="0" rIns="0" bIns="0" anchor="t">
            <a:noAutofit/>
          </a:bodyPr>
          <a:lstStyle/>
          <a:p>
            <a:pPr algn="ctr"/>
            <a:r>
              <a:rPr lang="en-IN" sz="3200" b="1" dirty="0"/>
              <a:t>SMART TRAVELLING SHORTEST PATH BOOKING PLATFOEM</a:t>
            </a:r>
            <a:endParaRPr sz="2950" b="1" dirty="0">
              <a:solidFill>
                <a:srgbClr val="22263B"/>
              </a:solidFill>
              <a:latin typeface="Arial"/>
            </a:endParaRPr>
          </a:p>
        </p:txBody>
      </p:sp>
      <p:sp>
        <p:nvSpPr>
          <p:cNvPr id="13" name="TextBox 12"/>
          <p:cNvSpPr txBox="1"/>
          <p:nvPr/>
        </p:nvSpPr>
        <p:spPr>
          <a:xfrm>
            <a:off x="548640" y="3273552"/>
            <a:ext cx="5577840" cy="365760"/>
          </a:xfrm>
          <a:prstGeom prst="rect">
            <a:avLst/>
          </a:prstGeom>
          <a:noFill/>
        </p:spPr>
        <p:txBody>
          <a:bodyPr wrap="square" lIns="0" tIns="0" rIns="0" bIns="0" anchor="t">
            <a:noAutofit/>
          </a:bodyPr>
          <a:lstStyle/>
          <a:p>
            <a:pPr algn="l">
              <a:lnSpc>
                <a:spcPct val="110000"/>
              </a:lnSpc>
              <a:spcBef>
                <a:spcPts val="0"/>
              </a:spcBef>
              <a:spcAft>
                <a:spcPts val="0"/>
              </a:spcAft>
            </a:pPr>
            <a:r>
              <a:rPr sz="1920" b="0">
                <a:solidFill>
                  <a:srgbClr val="50576D"/>
                </a:solidFill>
                <a:latin typeface="Arial"/>
              </a:rPr>
              <a:t>Methods. Implementation. Evidence.</a:t>
            </a:r>
          </a:p>
        </p:txBody>
      </p:sp>
      <p:sp>
        <p:nvSpPr>
          <p:cNvPr id="14" name="Oval 13"/>
          <p:cNvSpPr/>
          <p:nvPr/>
        </p:nvSpPr>
        <p:spPr>
          <a:xfrm>
            <a:off x="566928" y="3785615"/>
            <a:ext cx="265176" cy="265176"/>
          </a:xfrm>
          <a:prstGeom prst="ellipse">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3822191"/>
            <a:ext cx="265176" cy="219456"/>
          </a:xfrm>
          <a:prstGeom prst="rect">
            <a:avLst/>
          </a:prstGeom>
          <a:noFill/>
        </p:spPr>
        <p:txBody>
          <a:bodyPr wrap="square" lIns="0" tIns="0" rIns="0" bIns="0" anchor="ctr">
            <a:noAutofit/>
          </a:bodyPr>
          <a:lstStyle/>
          <a:p>
            <a:pPr algn="ctr">
              <a:lnSpc>
                <a:spcPct val="110000"/>
              </a:lnSpc>
              <a:spcBef>
                <a:spcPts val="0"/>
              </a:spcBef>
              <a:spcAft>
                <a:spcPts val="0"/>
              </a:spcAft>
            </a:pPr>
            <a:r>
              <a:rPr sz="1200" b="1">
                <a:solidFill>
                  <a:srgbClr val="7450DF"/>
                </a:solidFill>
                <a:latin typeface="Arial"/>
              </a:rPr>
              <a:t>1</a:t>
            </a:r>
          </a:p>
        </p:txBody>
      </p:sp>
      <p:sp>
        <p:nvSpPr>
          <p:cNvPr id="16" name="TextBox 15"/>
          <p:cNvSpPr txBox="1"/>
          <p:nvPr/>
        </p:nvSpPr>
        <p:spPr>
          <a:xfrm>
            <a:off x="987552" y="3800246"/>
            <a:ext cx="5120640" cy="274320"/>
          </a:xfrm>
          <a:prstGeom prst="rect">
            <a:avLst/>
          </a:prstGeom>
          <a:noFill/>
        </p:spPr>
        <p:txBody>
          <a:bodyPr wrap="square" lIns="0" tIns="0" rIns="0" bIns="0" anchor="t">
            <a:noAutofit/>
          </a:bodyPr>
          <a:lstStyle/>
          <a:p>
            <a:pPr algn="l">
              <a:lnSpc>
                <a:spcPct val="110000"/>
              </a:lnSpc>
              <a:spcBef>
                <a:spcPts val="0"/>
              </a:spcBef>
              <a:spcAft>
                <a:spcPts val="0"/>
              </a:spcAft>
            </a:pPr>
            <a:r>
              <a:rPr sz="1810" b="1">
                <a:solidFill>
                  <a:srgbClr val="22263B"/>
                </a:solidFill>
                <a:latin typeface="Arial"/>
              </a:rPr>
              <a:t>Decomposition</a:t>
            </a:r>
          </a:p>
        </p:txBody>
      </p:sp>
      <p:sp>
        <p:nvSpPr>
          <p:cNvPr id="17" name="Oval 16"/>
          <p:cNvSpPr/>
          <p:nvPr/>
        </p:nvSpPr>
        <p:spPr>
          <a:xfrm>
            <a:off x="566928" y="4215383"/>
            <a:ext cx="265176" cy="265176"/>
          </a:xfrm>
          <a:prstGeom prst="ellipse">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4251959"/>
            <a:ext cx="265176" cy="219456"/>
          </a:xfrm>
          <a:prstGeom prst="rect">
            <a:avLst/>
          </a:prstGeom>
          <a:noFill/>
        </p:spPr>
        <p:txBody>
          <a:bodyPr wrap="square" lIns="0" tIns="0" rIns="0" bIns="0" anchor="ctr">
            <a:noAutofit/>
          </a:bodyPr>
          <a:lstStyle/>
          <a:p>
            <a:pPr algn="ctr">
              <a:lnSpc>
                <a:spcPct val="110000"/>
              </a:lnSpc>
              <a:spcBef>
                <a:spcPts val="0"/>
              </a:spcBef>
              <a:spcAft>
                <a:spcPts val="0"/>
              </a:spcAft>
            </a:pPr>
            <a:r>
              <a:rPr sz="1200" b="1">
                <a:solidFill>
                  <a:srgbClr val="7450DF"/>
                </a:solidFill>
                <a:latin typeface="Arial"/>
              </a:rPr>
              <a:t>2</a:t>
            </a:r>
          </a:p>
        </p:txBody>
      </p:sp>
      <p:sp>
        <p:nvSpPr>
          <p:cNvPr id="19" name="TextBox 18"/>
          <p:cNvSpPr txBox="1"/>
          <p:nvPr/>
        </p:nvSpPr>
        <p:spPr>
          <a:xfrm>
            <a:off x="987552" y="4230014"/>
            <a:ext cx="5120640" cy="274320"/>
          </a:xfrm>
          <a:prstGeom prst="rect">
            <a:avLst/>
          </a:prstGeom>
          <a:noFill/>
        </p:spPr>
        <p:txBody>
          <a:bodyPr wrap="square" lIns="0" tIns="0" rIns="0" bIns="0" anchor="t">
            <a:noAutofit/>
          </a:bodyPr>
          <a:lstStyle/>
          <a:p>
            <a:pPr algn="l">
              <a:lnSpc>
                <a:spcPct val="110000"/>
              </a:lnSpc>
              <a:spcBef>
                <a:spcPts val="0"/>
              </a:spcBef>
              <a:spcAft>
                <a:spcPts val="0"/>
              </a:spcAft>
            </a:pPr>
            <a:r>
              <a:rPr sz="1810" b="1">
                <a:solidFill>
                  <a:srgbClr val="22263B"/>
                </a:solidFill>
                <a:latin typeface="Arial"/>
              </a:rPr>
              <a:t>Abstraction</a:t>
            </a:r>
          </a:p>
        </p:txBody>
      </p:sp>
      <p:sp>
        <p:nvSpPr>
          <p:cNvPr id="20" name="Oval 19"/>
          <p:cNvSpPr/>
          <p:nvPr/>
        </p:nvSpPr>
        <p:spPr>
          <a:xfrm>
            <a:off x="566928" y="4645152"/>
            <a:ext cx="265176" cy="265176"/>
          </a:xfrm>
          <a:prstGeom prst="ellipse">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4681728"/>
            <a:ext cx="265176" cy="219456"/>
          </a:xfrm>
          <a:prstGeom prst="rect">
            <a:avLst/>
          </a:prstGeom>
          <a:noFill/>
        </p:spPr>
        <p:txBody>
          <a:bodyPr wrap="square" lIns="0" tIns="0" rIns="0" bIns="0" anchor="ctr">
            <a:noAutofit/>
          </a:bodyPr>
          <a:lstStyle/>
          <a:p>
            <a:pPr algn="ctr">
              <a:lnSpc>
                <a:spcPct val="110000"/>
              </a:lnSpc>
              <a:spcBef>
                <a:spcPts val="0"/>
              </a:spcBef>
              <a:spcAft>
                <a:spcPts val="0"/>
              </a:spcAft>
            </a:pPr>
            <a:r>
              <a:rPr sz="1200" b="1">
                <a:solidFill>
                  <a:srgbClr val="7450DF"/>
                </a:solidFill>
                <a:latin typeface="Arial"/>
              </a:rPr>
              <a:t>3</a:t>
            </a:r>
          </a:p>
        </p:txBody>
      </p:sp>
      <p:sp>
        <p:nvSpPr>
          <p:cNvPr id="22" name="TextBox 21"/>
          <p:cNvSpPr txBox="1"/>
          <p:nvPr/>
        </p:nvSpPr>
        <p:spPr>
          <a:xfrm>
            <a:off x="987552" y="4659782"/>
            <a:ext cx="5120640" cy="274320"/>
          </a:xfrm>
          <a:prstGeom prst="rect">
            <a:avLst/>
          </a:prstGeom>
          <a:noFill/>
        </p:spPr>
        <p:txBody>
          <a:bodyPr wrap="square" lIns="0" tIns="0" rIns="0" bIns="0" anchor="t">
            <a:noAutofit/>
          </a:bodyPr>
          <a:lstStyle/>
          <a:p>
            <a:pPr algn="l">
              <a:lnSpc>
                <a:spcPct val="110000"/>
              </a:lnSpc>
              <a:spcBef>
                <a:spcPts val="0"/>
              </a:spcBef>
              <a:spcAft>
                <a:spcPts val="0"/>
              </a:spcAft>
            </a:pPr>
            <a:r>
              <a:rPr sz="1810" b="1">
                <a:solidFill>
                  <a:srgbClr val="22263B"/>
                </a:solidFill>
                <a:latin typeface="Arial"/>
              </a:rPr>
              <a:t>Pattern Recognition</a:t>
            </a:r>
          </a:p>
        </p:txBody>
      </p:sp>
      <p:sp>
        <p:nvSpPr>
          <p:cNvPr id="23" name="Oval 22"/>
          <p:cNvSpPr/>
          <p:nvPr/>
        </p:nvSpPr>
        <p:spPr>
          <a:xfrm>
            <a:off x="566928" y="5074920"/>
            <a:ext cx="265176" cy="265176"/>
          </a:xfrm>
          <a:prstGeom prst="ellipse">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6928" y="5111496"/>
            <a:ext cx="265176" cy="219456"/>
          </a:xfrm>
          <a:prstGeom prst="rect">
            <a:avLst/>
          </a:prstGeom>
          <a:noFill/>
        </p:spPr>
        <p:txBody>
          <a:bodyPr wrap="square" lIns="0" tIns="0" rIns="0" bIns="0" anchor="ctr">
            <a:noAutofit/>
          </a:bodyPr>
          <a:lstStyle/>
          <a:p>
            <a:pPr algn="ctr">
              <a:lnSpc>
                <a:spcPct val="110000"/>
              </a:lnSpc>
              <a:spcBef>
                <a:spcPts val="0"/>
              </a:spcBef>
              <a:spcAft>
                <a:spcPts val="0"/>
              </a:spcAft>
            </a:pPr>
            <a:r>
              <a:rPr sz="1200" b="1">
                <a:solidFill>
                  <a:srgbClr val="7450DF"/>
                </a:solidFill>
                <a:latin typeface="Arial"/>
              </a:rPr>
              <a:t>4</a:t>
            </a:r>
          </a:p>
        </p:txBody>
      </p:sp>
      <p:sp>
        <p:nvSpPr>
          <p:cNvPr id="25" name="TextBox 24"/>
          <p:cNvSpPr txBox="1"/>
          <p:nvPr/>
        </p:nvSpPr>
        <p:spPr>
          <a:xfrm>
            <a:off x="987552" y="5089550"/>
            <a:ext cx="5120640" cy="274320"/>
          </a:xfrm>
          <a:prstGeom prst="rect">
            <a:avLst/>
          </a:prstGeom>
          <a:noFill/>
        </p:spPr>
        <p:txBody>
          <a:bodyPr wrap="square" lIns="0" tIns="0" rIns="0" bIns="0" anchor="t">
            <a:noAutofit/>
          </a:bodyPr>
          <a:lstStyle/>
          <a:p>
            <a:pPr algn="l">
              <a:lnSpc>
                <a:spcPct val="110000"/>
              </a:lnSpc>
              <a:spcBef>
                <a:spcPts val="0"/>
              </a:spcBef>
              <a:spcAft>
                <a:spcPts val="0"/>
              </a:spcAft>
            </a:pPr>
            <a:r>
              <a:rPr sz="1810" b="1">
                <a:solidFill>
                  <a:srgbClr val="22263B"/>
                </a:solidFill>
                <a:latin typeface="Arial"/>
              </a:rPr>
              <a:t>Algorithm Design</a:t>
            </a:r>
          </a:p>
        </p:txBody>
      </p:sp>
      <p:sp>
        <p:nvSpPr>
          <p:cNvPr id="26" name="TextBox 25"/>
          <p:cNvSpPr txBox="1"/>
          <p:nvPr/>
        </p:nvSpPr>
        <p:spPr>
          <a:xfrm>
            <a:off x="566928" y="5788152"/>
            <a:ext cx="5532120" cy="237744"/>
          </a:xfrm>
          <a:prstGeom prst="rect">
            <a:avLst/>
          </a:prstGeom>
          <a:noFill/>
        </p:spPr>
        <p:txBody>
          <a:bodyPr wrap="square" lIns="0" tIns="0" rIns="0" bIns="0" anchor="t">
            <a:noAutofit/>
          </a:bodyPr>
          <a:lstStyle/>
          <a:p>
            <a:pPr algn="l">
              <a:lnSpc>
                <a:spcPct val="110000"/>
              </a:lnSpc>
              <a:spcBef>
                <a:spcPts val="0"/>
              </a:spcBef>
              <a:spcAft>
                <a:spcPts val="0"/>
              </a:spcAft>
            </a:pPr>
            <a:r>
              <a:rPr lang="en-US" sz="1220" dirty="0">
                <a:solidFill>
                  <a:srgbClr val="50576D"/>
                </a:solidFill>
                <a:latin typeface="Arial"/>
              </a:rPr>
              <a:t>SHAIK GOUSE BASHA</a:t>
            </a:r>
            <a:r>
              <a:rPr sz="1220" b="0" dirty="0">
                <a:solidFill>
                  <a:srgbClr val="50576D"/>
                </a:solidFill>
                <a:latin typeface="Arial"/>
              </a:rPr>
              <a:t>  •  </a:t>
            </a:r>
            <a:r>
              <a:rPr lang="en-US" sz="1220" dirty="0">
                <a:solidFill>
                  <a:srgbClr val="50576D"/>
                </a:solidFill>
                <a:latin typeface="Arial"/>
              </a:rPr>
              <a:t>2601150020</a:t>
            </a:r>
            <a:endParaRPr sz="1220" b="0" dirty="0">
              <a:solidFill>
                <a:srgbClr val="50576D"/>
              </a:solidFill>
              <a:latin typeface="Arial"/>
            </a:endParaRPr>
          </a:p>
        </p:txBody>
      </p:sp>
      <p:sp>
        <p:nvSpPr>
          <p:cNvPr id="27" name="TextBox 26"/>
          <p:cNvSpPr txBox="1"/>
          <p:nvPr/>
        </p:nvSpPr>
        <p:spPr>
          <a:xfrm>
            <a:off x="566928" y="6099048"/>
            <a:ext cx="5532120" cy="237744"/>
          </a:xfrm>
          <a:prstGeom prst="rect">
            <a:avLst/>
          </a:prstGeom>
          <a:noFill/>
        </p:spPr>
        <p:txBody>
          <a:bodyPr wrap="square" lIns="0" tIns="0" rIns="0" bIns="0" anchor="t">
            <a:noAutofit/>
          </a:bodyPr>
          <a:lstStyle/>
          <a:p>
            <a:pPr algn="l">
              <a:lnSpc>
                <a:spcPct val="110000"/>
              </a:lnSpc>
              <a:spcBef>
                <a:spcPts val="0"/>
              </a:spcBef>
              <a:spcAft>
                <a:spcPts val="0"/>
              </a:spcAft>
            </a:pPr>
            <a:r>
              <a:rPr lang="en-US" sz="1220" dirty="0">
                <a:solidFill>
                  <a:srgbClr val="50576D"/>
                </a:solidFill>
                <a:latin typeface="Arial"/>
              </a:rPr>
              <a:t>AI&amp;DS</a:t>
            </a:r>
            <a:r>
              <a:rPr sz="1220" b="0" dirty="0">
                <a:solidFill>
                  <a:srgbClr val="50576D"/>
                </a:solidFill>
                <a:latin typeface="Arial"/>
              </a:rPr>
              <a:t>  •  </a:t>
            </a:r>
            <a:r>
              <a:rPr lang="en-US" sz="1220" dirty="0">
                <a:solidFill>
                  <a:srgbClr val="50576D"/>
                </a:solidFill>
                <a:latin typeface="Arial"/>
              </a:rPr>
              <a:t>K L UNIVERSITY</a:t>
            </a:r>
            <a:endParaRPr sz="1220" b="0" dirty="0">
              <a:solidFill>
                <a:srgbClr val="50576D"/>
              </a:solidFill>
              <a:latin typeface="Arial"/>
            </a:endParaRPr>
          </a:p>
        </p:txBody>
      </p:sp>
      <p:sp>
        <p:nvSpPr>
          <p:cNvPr id="28" name="TextBox 27"/>
          <p:cNvSpPr txBox="1"/>
          <p:nvPr/>
        </p:nvSpPr>
        <p:spPr>
          <a:xfrm>
            <a:off x="566928" y="6409944"/>
            <a:ext cx="5532120" cy="210312"/>
          </a:xfrm>
          <a:prstGeom prst="rect">
            <a:avLst/>
          </a:prstGeom>
          <a:noFill/>
        </p:spPr>
        <p:txBody>
          <a:bodyPr wrap="square" lIns="0" tIns="0" rIns="0" bIns="0" anchor="t">
            <a:noAutofit/>
          </a:bodyPr>
          <a:lstStyle/>
          <a:p>
            <a:pPr algn="l">
              <a:lnSpc>
                <a:spcPct val="100000"/>
              </a:lnSpc>
              <a:spcBef>
                <a:spcPts val="0"/>
              </a:spcBef>
              <a:spcAft>
                <a:spcPts val="0"/>
              </a:spcAft>
            </a:pPr>
            <a:r>
              <a:rPr lang="en-US" sz="1140" b="0" dirty="0">
                <a:solidFill>
                  <a:srgbClr val="7F869A"/>
                </a:solidFill>
                <a:latin typeface="Arial"/>
              </a:rPr>
              <a:t>DR. G. Syam Prasad</a:t>
            </a:r>
            <a:r>
              <a:rPr sz="1140" b="0" dirty="0">
                <a:solidFill>
                  <a:srgbClr val="7F869A"/>
                </a:solidFill>
                <a:latin typeface="Arial"/>
              </a:rPr>
              <a:t>  •  </a:t>
            </a:r>
            <a:r>
              <a:rPr lang="en-US" sz="1140" dirty="0">
                <a:solidFill>
                  <a:srgbClr val="7F869A"/>
                </a:solidFill>
                <a:latin typeface="Arial"/>
              </a:rPr>
              <a:t>2026</a:t>
            </a:r>
            <a:endParaRPr sz="1140" b="0" dirty="0">
              <a:solidFill>
                <a:srgbClr val="7F869A"/>
              </a:solidFill>
              <a:latin typeface="Arial"/>
            </a:endParaRPr>
          </a:p>
        </p:txBody>
      </p:sp>
      <p:sp>
        <p:nvSpPr>
          <p:cNvPr id="29" name="Rounded Rectangle 28"/>
          <p:cNvSpPr/>
          <p:nvPr/>
        </p:nvSpPr>
        <p:spPr>
          <a:xfrm>
            <a:off x="6848856" y="5724144"/>
            <a:ext cx="4937760" cy="713232"/>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059168" y="5897880"/>
            <a:ext cx="4517136" cy="365760"/>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22263B"/>
                </a:solidFill>
                <a:latin typeface="Arial"/>
              </a:rPr>
              <a:t>Python-authored UI  /  PostgreSQL CTPDB</a:t>
            </a:r>
          </a:p>
        </p:txBody>
      </p:sp>
      <p:sp>
        <p:nvSpPr>
          <p:cNvPr id="31" name="TextBox 30"/>
          <p:cNvSpPr txBox="1"/>
          <p:nvPr/>
        </p:nvSpPr>
        <p:spPr>
          <a:xfrm>
            <a:off x="6793992" y="6583680"/>
            <a:ext cx="5166360" cy="146304"/>
          </a:xfrm>
          <a:prstGeom prst="rect">
            <a:avLst/>
          </a:prstGeom>
          <a:noFill/>
        </p:spPr>
        <p:txBody>
          <a:bodyPr wrap="square" lIns="0" tIns="0" rIns="0" bIns="0" anchor="t">
            <a:noAutofit/>
          </a:bodyPr>
          <a:lstStyle/>
          <a:p>
            <a:pPr algn="l">
              <a:lnSpc>
                <a:spcPct val="110000"/>
              </a:lnSpc>
              <a:spcBef>
                <a:spcPts val="0"/>
              </a:spcBef>
              <a:spcAft>
                <a:spcPts val="0"/>
              </a:spcAft>
            </a:pPr>
            <a:r>
              <a:rPr sz="869" b="0">
                <a:solidFill>
                  <a:srgbClr val="FFFFFF"/>
                </a:solidFill>
                <a:latin typeface="Arial"/>
              </a:rPr>
              <a:t>Swiss scenic inspiration • Pexels 32548690 • Academic simulation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01 / COMPUTATIONAL THINKING</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Decomposition: one problem, eight parts</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Break a complex booking request into focused responsibilities and explicit contracts.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A two-passenger request crosses identity, search, fare, seats and atomic persistence—not one giant UI handler.</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SPECIFICATION.md • services.py • schemas.py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02 / 35</a:t>
            </a:r>
          </a:p>
        </p:txBody>
      </p:sp>
      <p:sp>
        <p:nvSpPr>
          <p:cNvPr id="20" name="Rounded Rectangle 19"/>
          <p:cNvSpPr/>
          <p:nvPr/>
        </p:nvSpPr>
        <p:spPr>
          <a:xfrm>
            <a:off x="557784" y="1956816"/>
            <a:ext cx="11036808" cy="384048"/>
          </a:xfrm>
          <a:prstGeom prst="roundRect">
            <a:avLst>
              <a:gd name="adj" fmla="val 14000"/>
            </a:avLst>
          </a:prstGeom>
          <a:solidFill>
            <a:srgbClr val="FA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58952" y="2034540"/>
            <a:ext cx="10652760" cy="219456"/>
          </a:xfrm>
          <a:prstGeom prst="rect">
            <a:avLst/>
          </a:prstGeom>
          <a:noFill/>
        </p:spPr>
        <p:txBody>
          <a:bodyPr wrap="square" lIns="0" tIns="0" rIns="0" bIns="0" anchor="t">
            <a:noAutofit/>
          </a:bodyPr>
          <a:lstStyle/>
          <a:p>
            <a:pPr algn="l">
              <a:lnSpc>
                <a:spcPct val="110000"/>
              </a:lnSpc>
              <a:spcBef>
                <a:spcPts val="0"/>
              </a:spcBef>
              <a:spcAft>
                <a:spcPts val="0"/>
              </a:spcAft>
            </a:pPr>
            <a:r>
              <a:rPr sz="1730" b="1">
                <a:solidFill>
                  <a:srgbClr val="22263B"/>
                </a:solidFill>
                <a:latin typeface="Arial"/>
              </a:rPr>
              <a:t>REAL-WORLD QUESTION   Who owns the final seat when several travelers click “Book”?</a:t>
            </a:r>
          </a:p>
        </p:txBody>
      </p:sp>
      <p:sp>
        <p:nvSpPr>
          <p:cNvPr id="22" name="Rounded Rectangle 21"/>
          <p:cNvSpPr/>
          <p:nvPr/>
        </p:nvSpPr>
        <p:spPr>
          <a:xfrm>
            <a:off x="557784" y="2587752"/>
            <a:ext cx="2651760" cy="122529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04088" y="2743200"/>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04088" y="2779776"/>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200" b="1">
                <a:solidFill>
                  <a:srgbClr val="FFFFFF"/>
                </a:solidFill>
                <a:latin typeface="Arial"/>
              </a:rPr>
              <a:t>1</a:t>
            </a:r>
          </a:p>
        </p:txBody>
      </p:sp>
      <p:sp>
        <p:nvSpPr>
          <p:cNvPr id="25" name="TextBox 24"/>
          <p:cNvSpPr txBox="1"/>
          <p:nvPr/>
        </p:nvSpPr>
        <p:spPr>
          <a:xfrm>
            <a:off x="1143000" y="2761488"/>
            <a:ext cx="1874519" cy="301752"/>
          </a:xfrm>
          <a:prstGeom prst="rect">
            <a:avLst/>
          </a:prstGeom>
          <a:noFill/>
        </p:spPr>
        <p:txBody>
          <a:bodyPr wrap="square" lIns="0" tIns="0" rIns="0" bIns="0" anchor="t">
            <a:noAutofit/>
          </a:bodyPr>
          <a:lstStyle/>
          <a:p>
            <a:pPr algn="l">
              <a:lnSpc>
                <a:spcPct val="110000"/>
              </a:lnSpc>
              <a:spcBef>
                <a:spcPts val="0"/>
              </a:spcBef>
              <a:spcAft>
                <a:spcPts val="0"/>
              </a:spcAft>
            </a:pPr>
            <a:r>
              <a:rPr sz="2020" b="1">
                <a:solidFill>
                  <a:srgbClr val="22263B"/>
                </a:solidFill>
                <a:latin typeface="Arial"/>
              </a:rPr>
              <a:t>Identity</a:t>
            </a:r>
          </a:p>
        </p:txBody>
      </p:sp>
      <p:sp>
        <p:nvSpPr>
          <p:cNvPr id="26" name="TextBox 25"/>
          <p:cNvSpPr txBox="1"/>
          <p:nvPr/>
        </p:nvSpPr>
        <p:spPr>
          <a:xfrm>
            <a:off x="704088" y="3227832"/>
            <a:ext cx="2368296" cy="256032"/>
          </a:xfrm>
          <a:prstGeom prst="rect">
            <a:avLst/>
          </a:prstGeom>
          <a:noFill/>
        </p:spPr>
        <p:txBody>
          <a:bodyPr wrap="square" lIns="0" tIns="0" rIns="0" bIns="0" anchor="t">
            <a:noAutofit/>
          </a:bodyPr>
          <a:lstStyle/>
          <a:p>
            <a:pPr algn="l">
              <a:lnSpc>
                <a:spcPct val="110000"/>
              </a:lnSpc>
              <a:spcBef>
                <a:spcPts val="0"/>
              </a:spcBef>
              <a:spcAft>
                <a:spcPts val="0"/>
              </a:spcAft>
            </a:pPr>
            <a:r>
              <a:rPr sz="1560" b="0">
                <a:solidFill>
                  <a:srgbClr val="50576D"/>
                </a:solidFill>
                <a:latin typeface="Arial"/>
              </a:rPr>
              <a:t>Account, session and role</a:t>
            </a:r>
          </a:p>
        </p:txBody>
      </p:sp>
      <p:sp>
        <p:nvSpPr>
          <p:cNvPr id="27" name="TextBox 26"/>
          <p:cNvSpPr txBox="1"/>
          <p:nvPr/>
        </p:nvSpPr>
        <p:spPr>
          <a:xfrm>
            <a:off x="704088" y="3538728"/>
            <a:ext cx="2377440" cy="155448"/>
          </a:xfrm>
          <a:prstGeom prst="rect">
            <a:avLst/>
          </a:prstGeom>
          <a:noFill/>
        </p:spPr>
        <p:txBody>
          <a:bodyPr wrap="square" lIns="0" tIns="0" rIns="0" bIns="0" anchor="t">
            <a:noAutofit/>
          </a:bodyPr>
          <a:lstStyle/>
          <a:p>
            <a:pPr algn="l">
              <a:lnSpc>
                <a:spcPct val="110000"/>
              </a:lnSpc>
              <a:spcBef>
                <a:spcPts val="0"/>
              </a:spcBef>
              <a:spcAft>
                <a:spcPts val="0"/>
              </a:spcAft>
            </a:pPr>
            <a:r>
              <a:rPr sz="1120" b="0">
                <a:solidFill>
                  <a:srgbClr val="7450DF"/>
                </a:solidFill>
                <a:latin typeface="Arial"/>
              </a:rPr>
              <a:t>AuthService</a:t>
            </a:r>
          </a:p>
        </p:txBody>
      </p:sp>
      <p:sp>
        <p:nvSpPr>
          <p:cNvPr id="28" name="Rounded Rectangle 27"/>
          <p:cNvSpPr/>
          <p:nvPr/>
        </p:nvSpPr>
        <p:spPr>
          <a:xfrm>
            <a:off x="3346703" y="2587752"/>
            <a:ext cx="2651760" cy="122529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3493008" y="2743200"/>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493008" y="2779776"/>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200" b="1">
                <a:solidFill>
                  <a:srgbClr val="FFFFFF"/>
                </a:solidFill>
                <a:latin typeface="Arial"/>
              </a:rPr>
              <a:t>2</a:t>
            </a:r>
          </a:p>
        </p:txBody>
      </p:sp>
      <p:sp>
        <p:nvSpPr>
          <p:cNvPr id="31" name="TextBox 30"/>
          <p:cNvSpPr txBox="1"/>
          <p:nvPr/>
        </p:nvSpPr>
        <p:spPr>
          <a:xfrm>
            <a:off x="3931920" y="2761488"/>
            <a:ext cx="1874519" cy="301752"/>
          </a:xfrm>
          <a:prstGeom prst="rect">
            <a:avLst/>
          </a:prstGeom>
          <a:noFill/>
        </p:spPr>
        <p:txBody>
          <a:bodyPr wrap="square" lIns="0" tIns="0" rIns="0" bIns="0" anchor="t">
            <a:noAutofit/>
          </a:bodyPr>
          <a:lstStyle/>
          <a:p>
            <a:pPr algn="l">
              <a:lnSpc>
                <a:spcPct val="110000"/>
              </a:lnSpc>
              <a:spcBef>
                <a:spcPts val="0"/>
              </a:spcBef>
              <a:spcAft>
                <a:spcPts val="0"/>
              </a:spcAft>
            </a:pPr>
            <a:r>
              <a:rPr sz="2020" b="1">
                <a:solidFill>
                  <a:srgbClr val="22263B"/>
                </a:solidFill>
                <a:latin typeface="Arial"/>
              </a:rPr>
              <a:t>Discovery</a:t>
            </a:r>
          </a:p>
        </p:txBody>
      </p:sp>
      <p:sp>
        <p:nvSpPr>
          <p:cNvPr id="32" name="TextBox 31"/>
          <p:cNvSpPr txBox="1"/>
          <p:nvPr/>
        </p:nvSpPr>
        <p:spPr>
          <a:xfrm>
            <a:off x="3493008" y="3227832"/>
            <a:ext cx="2368296" cy="256032"/>
          </a:xfrm>
          <a:prstGeom prst="rect">
            <a:avLst/>
          </a:prstGeom>
          <a:noFill/>
        </p:spPr>
        <p:txBody>
          <a:bodyPr wrap="square" lIns="0" tIns="0" rIns="0" bIns="0" anchor="t">
            <a:noAutofit/>
          </a:bodyPr>
          <a:lstStyle/>
          <a:p>
            <a:pPr algn="l">
              <a:lnSpc>
                <a:spcPct val="110000"/>
              </a:lnSpc>
              <a:spcBef>
                <a:spcPts val="0"/>
              </a:spcBef>
              <a:spcAft>
                <a:spcPts val="0"/>
              </a:spcAft>
            </a:pPr>
            <a:r>
              <a:rPr sz="1560" b="0">
                <a:solidFill>
                  <a:srgbClr val="50576D"/>
                </a:solidFill>
                <a:latin typeface="Arial"/>
              </a:rPr>
              <a:t>Route, date and class</a:t>
            </a:r>
          </a:p>
        </p:txBody>
      </p:sp>
      <p:sp>
        <p:nvSpPr>
          <p:cNvPr id="33" name="TextBox 32"/>
          <p:cNvSpPr txBox="1"/>
          <p:nvPr/>
        </p:nvSpPr>
        <p:spPr>
          <a:xfrm>
            <a:off x="3493008" y="3538728"/>
            <a:ext cx="2377440" cy="155448"/>
          </a:xfrm>
          <a:prstGeom prst="rect">
            <a:avLst/>
          </a:prstGeom>
          <a:noFill/>
        </p:spPr>
        <p:txBody>
          <a:bodyPr wrap="square" lIns="0" tIns="0" rIns="0" bIns="0" anchor="t">
            <a:noAutofit/>
          </a:bodyPr>
          <a:lstStyle/>
          <a:p>
            <a:pPr algn="l">
              <a:lnSpc>
                <a:spcPct val="110000"/>
              </a:lnSpc>
              <a:spcBef>
                <a:spcPts val="0"/>
              </a:spcBef>
              <a:spcAft>
                <a:spcPts val="0"/>
              </a:spcAft>
            </a:pPr>
            <a:r>
              <a:rPr sz="1120" b="0">
                <a:solidFill>
                  <a:srgbClr val="7450DF"/>
                </a:solidFill>
                <a:latin typeface="Arial"/>
              </a:rPr>
              <a:t>RailService.search</a:t>
            </a:r>
          </a:p>
        </p:txBody>
      </p:sp>
      <p:sp>
        <p:nvSpPr>
          <p:cNvPr id="34" name="Rounded Rectangle 33"/>
          <p:cNvSpPr/>
          <p:nvPr/>
        </p:nvSpPr>
        <p:spPr>
          <a:xfrm>
            <a:off x="6135624" y="2587752"/>
            <a:ext cx="2651760" cy="122529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6281928" y="2743200"/>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281928" y="2779776"/>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200" b="1">
                <a:solidFill>
                  <a:srgbClr val="FFFFFF"/>
                </a:solidFill>
                <a:latin typeface="Arial"/>
              </a:rPr>
              <a:t>3</a:t>
            </a:r>
          </a:p>
        </p:txBody>
      </p:sp>
      <p:sp>
        <p:nvSpPr>
          <p:cNvPr id="37" name="TextBox 36"/>
          <p:cNvSpPr txBox="1"/>
          <p:nvPr/>
        </p:nvSpPr>
        <p:spPr>
          <a:xfrm>
            <a:off x="6720840" y="2761488"/>
            <a:ext cx="1874519" cy="301752"/>
          </a:xfrm>
          <a:prstGeom prst="rect">
            <a:avLst/>
          </a:prstGeom>
          <a:noFill/>
        </p:spPr>
        <p:txBody>
          <a:bodyPr wrap="square" lIns="0" tIns="0" rIns="0" bIns="0" anchor="t">
            <a:noAutofit/>
          </a:bodyPr>
          <a:lstStyle/>
          <a:p>
            <a:pPr algn="l">
              <a:lnSpc>
                <a:spcPct val="110000"/>
              </a:lnSpc>
              <a:spcBef>
                <a:spcPts val="0"/>
              </a:spcBef>
              <a:spcAft>
                <a:spcPts val="0"/>
              </a:spcAft>
            </a:pPr>
            <a:r>
              <a:rPr sz="2020" b="1">
                <a:solidFill>
                  <a:srgbClr val="22263B"/>
                </a:solidFill>
                <a:latin typeface="Arial"/>
              </a:rPr>
              <a:t>Pricing</a:t>
            </a:r>
          </a:p>
        </p:txBody>
      </p:sp>
      <p:sp>
        <p:nvSpPr>
          <p:cNvPr id="38" name="TextBox 37"/>
          <p:cNvSpPr txBox="1"/>
          <p:nvPr/>
        </p:nvSpPr>
        <p:spPr>
          <a:xfrm>
            <a:off x="6281928" y="3227832"/>
            <a:ext cx="2368296" cy="256032"/>
          </a:xfrm>
          <a:prstGeom prst="rect">
            <a:avLst/>
          </a:prstGeom>
          <a:noFill/>
        </p:spPr>
        <p:txBody>
          <a:bodyPr wrap="square" lIns="0" tIns="0" rIns="0" bIns="0" anchor="t">
            <a:noAutofit/>
          </a:bodyPr>
          <a:lstStyle/>
          <a:p>
            <a:pPr algn="l">
              <a:lnSpc>
                <a:spcPct val="110000"/>
              </a:lnSpc>
              <a:spcBef>
                <a:spcPts val="0"/>
              </a:spcBef>
              <a:spcAft>
                <a:spcPts val="0"/>
              </a:spcAft>
            </a:pPr>
            <a:r>
              <a:rPr sz="1560" b="0">
                <a:solidFill>
                  <a:srgbClr val="50576D"/>
                </a:solidFill>
                <a:latin typeface="Arial"/>
              </a:rPr>
              <a:t>Exact fare and service fee</a:t>
            </a:r>
          </a:p>
        </p:txBody>
      </p:sp>
      <p:sp>
        <p:nvSpPr>
          <p:cNvPr id="39" name="TextBox 38"/>
          <p:cNvSpPr txBox="1"/>
          <p:nvPr/>
        </p:nvSpPr>
        <p:spPr>
          <a:xfrm>
            <a:off x="6281928" y="3538728"/>
            <a:ext cx="2377440" cy="155448"/>
          </a:xfrm>
          <a:prstGeom prst="rect">
            <a:avLst/>
          </a:prstGeom>
          <a:noFill/>
        </p:spPr>
        <p:txBody>
          <a:bodyPr wrap="square" lIns="0" tIns="0" rIns="0" bIns="0" anchor="t">
            <a:noAutofit/>
          </a:bodyPr>
          <a:lstStyle/>
          <a:p>
            <a:pPr algn="l">
              <a:lnSpc>
                <a:spcPct val="110000"/>
              </a:lnSpc>
              <a:spcBef>
                <a:spcPts val="0"/>
              </a:spcBef>
              <a:spcAft>
                <a:spcPts val="0"/>
              </a:spcAft>
            </a:pPr>
            <a:r>
              <a:rPr sz="1120" b="0">
                <a:solidFill>
                  <a:srgbClr val="7450DF"/>
                </a:solidFill>
                <a:latin typeface="Arial"/>
              </a:rPr>
              <a:t>FarePolicy / fare_quote</a:t>
            </a:r>
          </a:p>
        </p:txBody>
      </p:sp>
      <p:sp>
        <p:nvSpPr>
          <p:cNvPr id="40" name="Rounded Rectangle 39"/>
          <p:cNvSpPr/>
          <p:nvPr/>
        </p:nvSpPr>
        <p:spPr>
          <a:xfrm>
            <a:off x="8924543" y="2587752"/>
            <a:ext cx="2651760" cy="122529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9070847" y="2743200"/>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070847" y="2779776"/>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200" b="1">
                <a:solidFill>
                  <a:srgbClr val="FFFFFF"/>
                </a:solidFill>
                <a:latin typeface="Arial"/>
              </a:rPr>
              <a:t>4</a:t>
            </a:r>
          </a:p>
        </p:txBody>
      </p:sp>
      <p:sp>
        <p:nvSpPr>
          <p:cNvPr id="43" name="TextBox 42"/>
          <p:cNvSpPr txBox="1"/>
          <p:nvPr/>
        </p:nvSpPr>
        <p:spPr>
          <a:xfrm>
            <a:off x="9509759" y="2761488"/>
            <a:ext cx="1874519" cy="301752"/>
          </a:xfrm>
          <a:prstGeom prst="rect">
            <a:avLst/>
          </a:prstGeom>
          <a:noFill/>
        </p:spPr>
        <p:txBody>
          <a:bodyPr wrap="square" lIns="0" tIns="0" rIns="0" bIns="0" anchor="t">
            <a:noAutofit/>
          </a:bodyPr>
          <a:lstStyle/>
          <a:p>
            <a:pPr algn="l">
              <a:lnSpc>
                <a:spcPct val="110000"/>
              </a:lnSpc>
              <a:spcBef>
                <a:spcPts val="0"/>
              </a:spcBef>
              <a:spcAft>
                <a:spcPts val="0"/>
              </a:spcAft>
            </a:pPr>
            <a:r>
              <a:rPr sz="2020" b="1">
                <a:solidFill>
                  <a:srgbClr val="22263B"/>
                </a:solidFill>
                <a:latin typeface="Arial"/>
              </a:rPr>
              <a:t>Allocation</a:t>
            </a:r>
          </a:p>
        </p:txBody>
      </p:sp>
      <p:sp>
        <p:nvSpPr>
          <p:cNvPr id="44" name="TextBox 43"/>
          <p:cNvSpPr txBox="1"/>
          <p:nvPr/>
        </p:nvSpPr>
        <p:spPr>
          <a:xfrm>
            <a:off x="9070847" y="3227832"/>
            <a:ext cx="2368296" cy="256032"/>
          </a:xfrm>
          <a:prstGeom prst="rect">
            <a:avLst/>
          </a:prstGeom>
          <a:noFill/>
        </p:spPr>
        <p:txBody>
          <a:bodyPr wrap="square" lIns="0" tIns="0" rIns="0" bIns="0" anchor="t">
            <a:noAutofit/>
          </a:bodyPr>
          <a:lstStyle/>
          <a:p>
            <a:pPr algn="l">
              <a:lnSpc>
                <a:spcPct val="110000"/>
              </a:lnSpc>
              <a:spcBef>
                <a:spcPts val="0"/>
              </a:spcBef>
              <a:spcAft>
                <a:spcPts val="0"/>
              </a:spcAft>
            </a:pPr>
            <a:r>
              <a:rPr sz="1560" b="0">
                <a:solidFill>
                  <a:srgbClr val="50576D"/>
                </a:solidFill>
                <a:latin typeface="Arial"/>
              </a:rPr>
              <a:t>Free, unique group seats</a:t>
            </a:r>
          </a:p>
        </p:txBody>
      </p:sp>
      <p:sp>
        <p:nvSpPr>
          <p:cNvPr id="45" name="TextBox 44"/>
          <p:cNvSpPr txBox="1"/>
          <p:nvPr/>
        </p:nvSpPr>
        <p:spPr>
          <a:xfrm>
            <a:off x="9070847" y="3538728"/>
            <a:ext cx="2377440" cy="155448"/>
          </a:xfrm>
          <a:prstGeom prst="rect">
            <a:avLst/>
          </a:prstGeom>
          <a:noFill/>
        </p:spPr>
        <p:txBody>
          <a:bodyPr wrap="square" lIns="0" tIns="0" rIns="0" bIns="0" anchor="t">
            <a:noAutofit/>
          </a:bodyPr>
          <a:lstStyle/>
          <a:p>
            <a:pPr algn="l">
              <a:lnSpc>
                <a:spcPct val="110000"/>
              </a:lnSpc>
              <a:spcBef>
                <a:spcPts val="0"/>
              </a:spcBef>
              <a:spcAft>
                <a:spcPts val="0"/>
              </a:spcAft>
            </a:pPr>
            <a:r>
              <a:rPr sz="1120" b="0">
                <a:solidFill>
                  <a:srgbClr val="7450DF"/>
                </a:solidFill>
                <a:latin typeface="Arial"/>
              </a:rPr>
              <a:t>allocate_seats</a:t>
            </a:r>
          </a:p>
        </p:txBody>
      </p:sp>
      <p:sp>
        <p:nvSpPr>
          <p:cNvPr id="46" name="Rounded Rectangle 45"/>
          <p:cNvSpPr/>
          <p:nvPr/>
        </p:nvSpPr>
        <p:spPr>
          <a:xfrm>
            <a:off x="557784" y="4050791"/>
            <a:ext cx="2651760" cy="122529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704088" y="4206240"/>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04088" y="4242816"/>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200" b="1">
                <a:solidFill>
                  <a:srgbClr val="FFFFFF"/>
                </a:solidFill>
                <a:latin typeface="Arial"/>
              </a:rPr>
              <a:t>5</a:t>
            </a:r>
          </a:p>
        </p:txBody>
      </p:sp>
      <p:sp>
        <p:nvSpPr>
          <p:cNvPr id="49" name="TextBox 48"/>
          <p:cNvSpPr txBox="1"/>
          <p:nvPr/>
        </p:nvSpPr>
        <p:spPr>
          <a:xfrm>
            <a:off x="1143000" y="4224528"/>
            <a:ext cx="1874519" cy="301752"/>
          </a:xfrm>
          <a:prstGeom prst="rect">
            <a:avLst/>
          </a:prstGeom>
          <a:noFill/>
        </p:spPr>
        <p:txBody>
          <a:bodyPr wrap="square" lIns="0" tIns="0" rIns="0" bIns="0" anchor="t">
            <a:noAutofit/>
          </a:bodyPr>
          <a:lstStyle/>
          <a:p>
            <a:pPr algn="l">
              <a:lnSpc>
                <a:spcPct val="110000"/>
              </a:lnSpc>
              <a:spcBef>
                <a:spcPts val="0"/>
              </a:spcBef>
              <a:spcAft>
                <a:spcPts val="0"/>
              </a:spcAft>
            </a:pPr>
            <a:r>
              <a:rPr sz="2020" b="1">
                <a:solidFill>
                  <a:srgbClr val="22263B"/>
                </a:solidFill>
                <a:latin typeface="Arial"/>
              </a:rPr>
              <a:t>Persistence</a:t>
            </a:r>
          </a:p>
        </p:txBody>
      </p:sp>
      <p:sp>
        <p:nvSpPr>
          <p:cNvPr id="50" name="TextBox 49"/>
          <p:cNvSpPr txBox="1"/>
          <p:nvPr/>
        </p:nvSpPr>
        <p:spPr>
          <a:xfrm>
            <a:off x="704088" y="4690872"/>
            <a:ext cx="2368296" cy="256032"/>
          </a:xfrm>
          <a:prstGeom prst="rect">
            <a:avLst/>
          </a:prstGeom>
          <a:noFill/>
        </p:spPr>
        <p:txBody>
          <a:bodyPr wrap="square" lIns="0" tIns="0" rIns="0" bIns="0" anchor="t">
            <a:noAutofit/>
          </a:bodyPr>
          <a:lstStyle/>
          <a:p>
            <a:pPr algn="l">
              <a:lnSpc>
                <a:spcPct val="110000"/>
              </a:lnSpc>
              <a:spcBef>
                <a:spcPts val="0"/>
              </a:spcBef>
              <a:spcAft>
                <a:spcPts val="0"/>
              </a:spcAft>
            </a:pPr>
            <a:r>
              <a:rPr sz="1560" b="0">
                <a:solidFill>
                  <a:srgbClr val="50576D"/>
                </a:solidFill>
                <a:latin typeface="Arial"/>
              </a:rPr>
              <a:t>Booking + seats + event</a:t>
            </a:r>
          </a:p>
        </p:txBody>
      </p:sp>
      <p:sp>
        <p:nvSpPr>
          <p:cNvPr id="51" name="TextBox 50"/>
          <p:cNvSpPr txBox="1"/>
          <p:nvPr/>
        </p:nvSpPr>
        <p:spPr>
          <a:xfrm>
            <a:off x="704088" y="5001768"/>
            <a:ext cx="2377440" cy="155448"/>
          </a:xfrm>
          <a:prstGeom prst="rect">
            <a:avLst/>
          </a:prstGeom>
          <a:noFill/>
        </p:spPr>
        <p:txBody>
          <a:bodyPr wrap="square" lIns="0" tIns="0" rIns="0" bIns="0" anchor="t">
            <a:noAutofit/>
          </a:bodyPr>
          <a:lstStyle/>
          <a:p>
            <a:pPr algn="l">
              <a:lnSpc>
                <a:spcPct val="110000"/>
              </a:lnSpc>
              <a:spcBef>
                <a:spcPts val="0"/>
              </a:spcBef>
              <a:spcAft>
                <a:spcPts val="0"/>
              </a:spcAft>
            </a:pPr>
            <a:r>
              <a:rPr sz="1120" b="0">
                <a:solidFill>
                  <a:srgbClr val="7450DF"/>
                </a:solidFill>
                <a:latin typeface="Arial"/>
              </a:rPr>
              <a:t>Database.transaction</a:t>
            </a:r>
          </a:p>
        </p:txBody>
      </p:sp>
      <p:sp>
        <p:nvSpPr>
          <p:cNvPr id="52" name="Rounded Rectangle 51"/>
          <p:cNvSpPr/>
          <p:nvPr/>
        </p:nvSpPr>
        <p:spPr>
          <a:xfrm>
            <a:off x="3346703" y="4050791"/>
            <a:ext cx="2651760" cy="122529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3493008" y="4206240"/>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493008" y="4242816"/>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200" b="1">
                <a:solidFill>
                  <a:srgbClr val="FFFFFF"/>
                </a:solidFill>
                <a:latin typeface="Arial"/>
              </a:rPr>
              <a:t>6</a:t>
            </a:r>
          </a:p>
        </p:txBody>
      </p:sp>
      <p:sp>
        <p:nvSpPr>
          <p:cNvPr id="55" name="TextBox 54"/>
          <p:cNvSpPr txBox="1"/>
          <p:nvPr/>
        </p:nvSpPr>
        <p:spPr>
          <a:xfrm>
            <a:off x="3931920" y="4224528"/>
            <a:ext cx="1874519" cy="301752"/>
          </a:xfrm>
          <a:prstGeom prst="rect">
            <a:avLst/>
          </a:prstGeom>
          <a:noFill/>
        </p:spPr>
        <p:txBody>
          <a:bodyPr wrap="square" lIns="0" tIns="0" rIns="0" bIns="0" anchor="t">
            <a:noAutofit/>
          </a:bodyPr>
          <a:lstStyle/>
          <a:p>
            <a:pPr algn="l">
              <a:lnSpc>
                <a:spcPct val="110000"/>
              </a:lnSpc>
              <a:spcBef>
                <a:spcPts val="0"/>
              </a:spcBef>
              <a:spcAft>
                <a:spcPts val="0"/>
              </a:spcAft>
            </a:pPr>
            <a:r>
              <a:rPr sz="2020" b="1">
                <a:solidFill>
                  <a:srgbClr val="22263B"/>
                </a:solidFill>
                <a:latin typeface="Arial"/>
              </a:rPr>
              <a:t>Lifecycle</a:t>
            </a:r>
          </a:p>
        </p:txBody>
      </p:sp>
      <p:sp>
        <p:nvSpPr>
          <p:cNvPr id="56" name="TextBox 55"/>
          <p:cNvSpPr txBox="1"/>
          <p:nvPr/>
        </p:nvSpPr>
        <p:spPr>
          <a:xfrm>
            <a:off x="3493008" y="4690872"/>
            <a:ext cx="2368296" cy="256032"/>
          </a:xfrm>
          <a:prstGeom prst="rect">
            <a:avLst/>
          </a:prstGeom>
          <a:noFill/>
        </p:spPr>
        <p:txBody>
          <a:bodyPr wrap="square" lIns="0" tIns="0" rIns="0" bIns="0" anchor="t">
            <a:noAutofit/>
          </a:bodyPr>
          <a:lstStyle/>
          <a:p>
            <a:pPr algn="l">
              <a:lnSpc>
                <a:spcPct val="110000"/>
              </a:lnSpc>
              <a:spcBef>
                <a:spcPts val="0"/>
              </a:spcBef>
              <a:spcAft>
                <a:spcPts val="0"/>
              </a:spcAft>
            </a:pPr>
            <a:r>
              <a:rPr sz="1560" b="0">
                <a:solidFill>
                  <a:srgbClr val="50576D"/>
                </a:solidFill>
                <a:latin typeface="Arial"/>
              </a:rPr>
              <a:t>Confirm / cancel / expire</a:t>
            </a:r>
          </a:p>
        </p:txBody>
      </p:sp>
      <p:sp>
        <p:nvSpPr>
          <p:cNvPr id="57" name="TextBox 56"/>
          <p:cNvSpPr txBox="1"/>
          <p:nvPr/>
        </p:nvSpPr>
        <p:spPr>
          <a:xfrm>
            <a:off x="3493008" y="5001768"/>
            <a:ext cx="2377440" cy="155448"/>
          </a:xfrm>
          <a:prstGeom prst="rect">
            <a:avLst/>
          </a:prstGeom>
          <a:noFill/>
        </p:spPr>
        <p:txBody>
          <a:bodyPr wrap="square" lIns="0" tIns="0" rIns="0" bIns="0" anchor="t">
            <a:noAutofit/>
          </a:bodyPr>
          <a:lstStyle/>
          <a:p>
            <a:pPr algn="l">
              <a:lnSpc>
                <a:spcPct val="110000"/>
              </a:lnSpc>
              <a:spcBef>
                <a:spcPts val="0"/>
              </a:spcBef>
              <a:spcAft>
                <a:spcPts val="0"/>
              </a:spcAft>
            </a:pPr>
            <a:r>
              <a:rPr sz="1120" b="0">
                <a:solidFill>
                  <a:srgbClr val="7450DF"/>
                </a:solidFill>
                <a:latin typeface="Arial"/>
              </a:rPr>
              <a:t>RailService</a:t>
            </a:r>
          </a:p>
        </p:txBody>
      </p:sp>
      <p:sp>
        <p:nvSpPr>
          <p:cNvPr id="58" name="Rounded Rectangle 57"/>
          <p:cNvSpPr/>
          <p:nvPr/>
        </p:nvSpPr>
        <p:spPr>
          <a:xfrm>
            <a:off x="6135624" y="4050791"/>
            <a:ext cx="2651760" cy="122529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6281928" y="4206240"/>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281928" y="4242816"/>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200" b="1">
                <a:solidFill>
                  <a:srgbClr val="FFFFFF"/>
                </a:solidFill>
                <a:latin typeface="Arial"/>
              </a:rPr>
              <a:t>7</a:t>
            </a:r>
          </a:p>
        </p:txBody>
      </p:sp>
      <p:sp>
        <p:nvSpPr>
          <p:cNvPr id="61" name="TextBox 60"/>
          <p:cNvSpPr txBox="1"/>
          <p:nvPr/>
        </p:nvSpPr>
        <p:spPr>
          <a:xfrm>
            <a:off x="6720840" y="4224528"/>
            <a:ext cx="1874519" cy="301752"/>
          </a:xfrm>
          <a:prstGeom prst="rect">
            <a:avLst/>
          </a:prstGeom>
          <a:noFill/>
        </p:spPr>
        <p:txBody>
          <a:bodyPr wrap="square" lIns="0" tIns="0" rIns="0" bIns="0" anchor="t">
            <a:noAutofit/>
          </a:bodyPr>
          <a:lstStyle/>
          <a:p>
            <a:pPr algn="l">
              <a:lnSpc>
                <a:spcPct val="110000"/>
              </a:lnSpc>
              <a:spcBef>
                <a:spcPts val="0"/>
              </a:spcBef>
              <a:spcAft>
                <a:spcPts val="0"/>
              </a:spcAft>
            </a:pPr>
            <a:r>
              <a:rPr sz="2020" b="1">
                <a:solidFill>
                  <a:srgbClr val="22263B"/>
                </a:solidFill>
                <a:latin typeface="Arial"/>
              </a:rPr>
              <a:t>Observation</a:t>
            </a:r>
          </a:p>
        </p:txBody>
      </p:sp>
      <p:sp>
        <p:nvSpPr>
          <p:cNvPr id="62" name="TextBox 61"/>
          <p:cNvSpPr txBox="1"/>
          <p:nvPr/>
        </p:nvSpPr>
        <p:spPr>
          <a:xfrm>
            <a:off x="6281928" y="4690872"/>
            <a:ext cx="2368296" cy="256032"/>
          </a:xfrm>
          <a:prstGeom prst="rect">
            <a:avLst/>
          </a:prstGeom>
          <a:noFill/>
        </p:spPr>
        <p:txBody>
          <a:bodyPr wrap="square" lIns="0" tIns="0" rIns="0" bIns="0" anchor="t">
            <a:noAutofit/>
          </a:bodyPr>
          <a:lstStyle/>
          <a:p>
            <a:pPr algn="l">
              <a:lnSpc>
                <a:spcPct val="110000"/>
              </a:lnSpc>
              <a:spcBef>
                <a:spcPts val="0"/>
              </a:spcBef>
              <a:spcAft>
                <a:spcPts val="0"/>
              </a:spcAft>
            </a:pPr>
            <a:r>
              <a:rPr sz="1560" b="0">
                <a:solidFill>
                  <a:srgbClr val="50576D"/>
                </a:solidFill>
                <a:latin typeface="Arial"/>
              </a:rPr>
              <a:t>Admin register and charts</a:t>
            </a:r>
          </a:p>
        </p:txBody>
      </p:sp>
      <p:sp>
        <p:nvSpPr>
          <p:cNvPr id="63" name="TextBox 62"/>
          <p:cNvSpPr txBox="1"/>
          <p:nvPr/>
        </p:nvSpPr>
        <p:spPr>
          <a:xfrm>
            <a:off x="6281928" y="5001768"/>
            <a:ext cx="2377440" cy="155448"/>
          </a:xfrm>
          <a:prstGeom prst="rect">
            <a:avLst/>
          </a:prstGeom>
          <a:noFill/>
        </p:spPr>
        <p:txBody>
          <a:bodyPr wrap="square" lIns="0" tIns="0" rIns="0" bIns="0" anchor="t">
            <a:noAutofit/>
          </a:bodyPr>
          <a:lstStyle/>
          <a:p>
            <a:pPr algn="l">
              <a:lnSpc>
                <a:spcPct val="110000"/>
              </a:lnSpc>
              <a:spcBef>
                <a:spcPts val="0"/>
              </a:spcBef>
              <a:spcAft>
                <a:spcPts val="0"/>
              </a:spcAft>
            </a:pPr>
            <a:r>
              <a:rPr sz="1120" b="0">
                <a:solidFill>
                  <a:srgbClr val="7450DF"/>
                </a:solidFill>
                <a:latin typeface="Arial"/>
              </a:rPr>
              <a:t>AuditEvent / AdminUI</a:t>
            </a:r>
          </a:p>
        </p:txBody>
      </p:sp>
      <p:sp>
        <p:nvSpPr>
          <p:cNvPr id="64" name="Rounded Rectangle 63"/>
          <p:cNvSpPr/>
          <p:nvPr/>
        </p:nvSpPr>
        <p:spPr>
          <a:xfrm>
            <a:off x="8924543" y="4050791"/>
            <a:ext cx="2651760" cy="122529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9070847" y="4206240"/>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9070847" y="4242816"/>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200" b="1">
                <a:solidFill>
                  <a:srgbClr val="FFFFFF"/>
                </a:solidFill>
                <a:latin typeface="Arial"/>
              </a:rPr>
              <a:t>8</a:t>
            </a:r>
          </a:p>
        </p:txBody>
      </p:sp>
      <p:sp>
        <p:nvSpPr>
          <p:cNvPr id="67" name="TextBox 66"/>
          <p:cNvSpPr txBox="1"/>
          <p:nvPr/>
        </p:nvSpPr>
        <p:spPr>
          <a:xfrm>
            <a:off x="9509759" y="4224528"/>
            <a:ext cx="1874519" cy="301752"/>
          </a:xfrm>
          <a:prstGeom prst="rect">
            <a:avLst/>
          </a:prstGeom>
          <a:noFill/>
        </p:spPr>
        <p:txBody>
          <a:bodyPr wrap="square" lIns="0" tIns="0" rIns="0" bIns="0" anchor="t">
            <a:noAutofit/>
          </a:bodyPr>
          <a:lstStyle/>
          <a:p>
            <a:pPr algn="l">
              <a:lnSpc>
                <a:spcPct val="110000"/>
              </a:lnSpc>
              <a:spcBef>
                <a:spcPts val="0"/>
              </a:spcBef>
              <a:spcAft>
                <a:spcPts val="0"/>
              </a:spcAft>
            </a:pPr>
            <a:r>
              <a:rPr sz="2020" b="1">
                <a:solidFill>
                  <a:srgbClr val="22263B"/>
                </a:solidFill>
                <a:latin typeface="Arial"/>
              </a:rPr>
              <a:t>Validation</a:t>
            </a:r>
          </a:p>
        </p:txBody>
      </p:sp>
      <p:sp>
        <p:nvSpPr>
          <p:cNvPr id="68" name="TextBox 67"/>
          <p:cNvSpPr txBox="1"/>
          <p:nvPr/>
        </p:nvSpPr>
        <p:spPr>
          <a:xfrm>
            <a:off x="9070847" y="4690872"/>
            <a:ext cx="2368296" cy="256032"/>
          </a:xfrm>
          <a:prstGeom prst="rect">
            <a:avLst/>
          </a:prstGeom>
          <a:noFill/>
        </p:spPr>
        <p:txBody>
          <a:bodyPr wrap="square" lIns="0" tIns="0" rIns="0" bIns="0" anchor="t">
            <a:noAutofit/>
          </a:bodyPr>
          <a:lstStyle/>
          <a:p>
            <a:pPr algn="l">
              <a:lnSpc>
                <a:spcPct val="110000"/>
              </a:lnSpc>
              <a:spcBef>
                <a:spcPts val="0"/>
              </a:spcBef>
              <a:spcAft>
                <a:spcPts val="0"/>
              </a:spcAft>
            </a:pPr>
            <a:r>
              <a:rPr sz="1560" b="0">
                <a:solidFill>
                  <a:srgbClr val="50576D"/>
                </a:solidFill>
                <a:latin typeface="Arial"/>
              </a:rPr>
              <a:t>Properties, races and E2E</a:t>
            </a:r>
          </a:p>
        </p:txBody>
      </p:sp>
      <p:sp>
        <p:nvSpPr>
          <p:cNvPr id="69" name="TextBox 68"/>
          <p:cNvSpPr txBox="1"/>
          <p:nvPr/>
        </p:nvSpPr>
        <p:spPr>
          <a:xfrm>
            <a:off x="9070847" y="5001768"/>
            <a:ext cx="2377440" cy="155448"/>
          </a:xfrm>
          <a:prstGeom prst="rect">
            <a:avLst/>
          </a:prstGeom>
          <a:noFill/>
        </p:spPr>
        <p:txBody>
          <a:bodyPr wrap="square" lIns="0" tIns="0" rIns="0" bIns="0" anchor="t">
            <a:noAutofit/>
          </a:bodyPr>
          <a:lstStyle/>
          <a:p>
            <a:pPr algn="l">
              <a:lnSpc>
                <a:spcPct val="110000"/>
              </a:lnSpc>
              <a:spcBef>
                <a:spcPts val="0"/>
              </a:spcBef>
              <a:spcAft>
                <a:spcPts val="0"/>
              </a:spcAft>
            </a:pPr>
            <a:r>
              <a:rPr sz="1120" b="0">
                <a:solidFill>
                  <a:srgbClr val="7450DF"/>
                </a:solidFill>
                <a:latin typeface="Arial"/>
              </a:rPr>
              <a:t>tests/ + reports/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02 / COMPUTATIONAL THINKING</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Abstraction: keep only what matters</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Model essential booking facts; deliberately leave unrelated detail outside the model.</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Train + date + class define inventory; station edges support teaching routes, not connection-valid tickets.</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models.py • algorithms.py • ARCHITECTURE.md</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03 / 35</a:t>
            </a:r>
          </a:p>
        </p:txBody>
      </p:sp>
      <p:sp>
        <p:nvSpPr>
          <p:cNvPr id="20" name="Rounded Rectangle 19"/>
          <p:cNvSpPr/>
          <p:nvPr/>
        </p:nvSpPr>
        <p:spPr>
          <a:xfrm>
            <a:off x="566928" y="1984248"/>
            <a:ext cx="4617720" cy="3611880"/>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2121408"/>
            <a:ext cx="4288536" cy="365760"/>
          </a:xfrm>
          <a:prstGeom prst="rect">
            <a:avLst/>
          </a:prstGeom>
          <a:noFill/>
        </p:spPr>
        <p:txBody>
          <a:bodyPr wrap="square" lIns="0" tIns="0" rIns="0" bIns="0" anchor="t">
            <a:noAutofit/>
          </a:bodyPr>
          <a:lstStyle/>
          <a:p>
            <a:pPr algn="l">
              <a:lnSpc>
                <a:spcPct val="110000"/>
              </a:lnSpc>
              <a:spcBef>
                <a:spcPts val="0"/>
              </a:spcBef>
              <a:spcAft>
                <a:spcPts val="0"/>
              </a:spcAft>
            </a:pPr>
            <a:r>
              <a:rPr sz="2200" b="1">
                <a:solidFill>
                  <a:srgbClr val="22263B"/>
                </a:solidFill>
                <a:latin typeface="Arial"/>
              </a:rPr>
              <a:t>KEEP IN THE MODEL</a:t>
            </a:r>
          </a:p>
        </p:txBody>
      </p:sp>
      <p:sp>
        <p:nvSpPr>
          <p:cNvPr id="22" name="TextBox 21"/>
          <p:cNvSpPr txBox="1"/>
          <p:nvPr/>
        </p:nvSpPr>
        <p:spPr>
          <a:xfrm>
            <a:off x="731520" y="2569464"/>
            <a:ext cx="4288536" cy="2971800"/>
          </a:xfrm>
          <a:prstGeom prst="rect">
            <a:avLst/>
          </a:prstGeom>
          <a:noFill/>
        </p:spPr>
        <p:txBody>
          <a:bodyPr wrap="square" lIns="0" tIns="0" rIns="0" bIns="0" anchor="t">
            <a:noAutofit/>
          </a:bodyPr>
          <a:lstStyle/>
          <a:p>
            <a:pPr algn="l">
              <a:lnSpc>
                <a:spcPct val="110000"/>
              </a:lnSpc>
              <a:spcBef>
                <a:spcPts val="0"/>
              </a:spcBef>
              <a:spcAft>
                <a:spcPts val="0"/>
              </a:spcAft>
            </a:pPr>
            <a:r>
              <a:rPr sz="2000" b="0">
                <a:solidFill>
                  <a:srgbClr val="50576D"/>
                </a:solidFill>
                <a:latin typeface="Arial"/>
              </a:rPr>
              <a:t>Train number and endpoints</a:t>
            </a:r>
          </a:p>
          <a:p>
            <a:pPr algn="l">
              <a:lnSpc>
                <a:spcPct val="110000"/>
              </a:lnSpc>
              <a:spcBef>
                <a:spcPts val="0"/>
              </a:spcBef>
              <a:spcAft>
                <a:spcPts val="0"/>
              </a:spcAft>
            </a:pPr>
            <a:r>
              <a:rPr sz="2000" b="0">
                <a:solidFill>
                  <a:srgbClr val="50576D"/>
                </a:solidFill>
                <a:latin typeface="Arial"/>
              </a:rPr>
              <a:t>Journey date and travel class</a:t>
            </a:r>
          </a:p>
          <a:p>
            <a:pPr algn="l">
              <a:lnSpc>
                <a:spcPct val="110000"/>
              </a:lnSpc>
              <a:spcBef>
                <a:spcPts val="0"/>
              </a:spcBef>
              <a:spcAft>
                <a:spcPts val="0"/>
              </a:spcAft>
            </a:pPr>
            <a:r>
              <a:rPr sz="2000" b="0">
                <a:solidFill>
                  <a:srgbClr val="50576D"/>
                </a:solidFill>
                <a:latin typeface="Arial"/>
              </a:rPr>
              <a:t>Passengers, price and status</a:t>
            </a:r>
          </a:p>
          <a:p>
            <a:pPr algn="l">
              <a:lnSpc>
                <a:spcPct val="110000"/>
              </a:lnSpc>
              <a:spcBef>
                <a:spcPts val="0"/>
              </a:spcBef>
              <a:spcAft>
                <a:spcPts val="0"/>
              </a:spcAft>
            </a:pPr>
            <a:r>
              <a:rPr sz="2000" b="0">
                <a:solidFill>
                  <a:srgbClr val="50576D"/>
                </a:solidFill>
                <a:latin typeface="Arial"/>
              </a:rPr>
              <a:t>Seat identity and owner</a:t>
            </a:r>
          </a:p>
          <a:p>
            <a:pPr algn="l">
              <a:lnSpc>
                <a:spcPct val="110000"/>
              </a:lnSpc>
              <a:spcBef>
                <a:spcPts val="0"/>
              </a:spcBef>
              <a:spcAft>
                <a:spcPts val="0"/>
              </a:spcAft>
            </a:pPr>
            <a:r>
              <a:rPr sz="2000" b="0">
                <a:solidFill>
                  <a:srgbClr val="50576D"/>
                </a:solidFill>
                <a:latin typeface="Arial"/>
              </a:rPr>
              <a:t>Deadline and request key</a:t>
            </a:r>
          </a:p>
        </p:txBody>
      </p:sp>
      <p:sp>
        <p:nvSpPr>
          <p:cNvPr id="23" name="Rounded Rectangle 22"/>
          <p:cNvSpPr/>
          <p:nvPr/>
        </p:nvSpPr>
        <p:spPr>
          <a:xfrm>
            <a:off x="7013448" y="1984248"/>
            <a:ext cx="4617720" cy="3611880"/>
          </a:xfrm>
          <a:prstGeom prst="roundRect">
            <a:avLst>
              <a:gd name="adj" fmla="val 14000"/>
            </a:avLst>
          </a:prstGeom>
          <a:solidFill>
            <a:srgbClr val="F8F8FB"/>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78040" y="2121408"/>
            <a:ext cx="4288536" cy="365760"/>
          </a:xfrm>
          <a:prstGeom prst="rect">
            <a:avLst/>
          </a:prstGeom>
          <a:noFill/>
        </p:spPr>
        <p:txBody>
          <a:bodyPr wrap="square" lIns="0" tIns="0" rIns="0" bIns="0" anchor="t">
            <a:noAutofit/>
          </a:bodyPr>
          <a:lstStyle/>
          <a:p>
            <a:pPr algn="l">
              <a:lnSpc>
                <a:spcPct val="110000"/>
              </a:lnSpc>
              <a:spcBef>
                <a:spcPts val="0"/>
              </a:spcBef>
              <a:spcAft>
                <a:spcPts val="0"/>
              </a:spcAft>
            </a:pPr>
            <a:r>
              <a:rPr sz="2200" b="1">
                <a:solidFill>
                  <a:srgbClr val="50576D"/>
                </a:solidFill>
                <a:latin typeface="Arial"/>
              </a:rPr>
              <a:t>OMIT / SIMPLIFY</a:t>
            </a:r>
          </a:p>
        </p:txBody>
      </p:sp>
      <p:sp>
        <p:nvSpPr>
          <p:cNvPr id="25" name="TextBox 24"/>
          <p:cNvSpPr txBox="1"/>
          <p:nvPr/>
        </p:nvSpPr>
        <p:spPr>
          <a:xfrm>
            <a:off x="7178040" y="2569464"/>
            <a:ext cx="4288536" cy="2971800"/>
          </a:xfrm>
          <a:prstGeom prst="rect">
            <a:avLst/>
          </a:prstGeom>
          <a:noFill/>
        </p:spPr>
        <p:txBody>
          <a:bodyPr wrap="square" lIns="0" tIns="0" rIns="0" bIns="0" anchor="t">
            <a:noAutofit/>
          </a:bodyPr>
          <a:lstStyle/>
          <a:p>
            <a:pPr algn="l">
              <a:lnSpc>
                <a:spcPct val="110000"/>
              </a:lnSpc>
              <a:spcBef>
                <a:spcPts val="0"/>
              </a:spcBef>
              <a:spcAft>
                <a:spcPts val="0"/>
              </a:spcAft>
            </a:pPr>
            <a:r>
              <a:rPr sz="2000" b="0">
                <a:solidFill>
                  <a:srgbClr val="50576D"/>
                </a:solidFill>
                <a:latin typeface="Arial"/>
              </a:rPr>
              <a:t>Engine and maintenance details</a:t>
            </a:r>
          </a:p>
          <a:p>
            <a:pPr algn="l">
              <a:lnSpc>
                <a:spcPct val="110000"/>
              </a:lnSpc>
              <a:spcBef>
                <a:spcPts val="0"/>
              </a:spcBef>
              <a:spcAft>
                <a:spcPts val="0"/>
              </a:spcAft>
            </a:pPr>
            <a:r>
              <a:rPr sz="2000" b="0">
                <a:solidFill>
                  <a:srgbClr val="50576D"/>
                </a:solidFill>
                <a:latin typeface="Arial"/>
              </a:rPr>
              <a:t>Live national inventory</a:t>
            </a:r>
          </a:p>
          <a:p>
            <a:pPr algn="l">
              <a:lnSpc>
                <a:spcPct val="110000"/>
              </a:lnSpc>
              <a:spcBef>
                <a:spcPts val="0"/>
              </a:spcBef>
              <a:spcAft>
                <a:spcPts val="0"/>
              </a:spcAft>
            </a:pPr>
            <a:r>
              <a:rPr sz="2000" b="0">
                <a:solidFill>
                  <a:srgbClr val="50576D"/>
                </a:solidFill>
                <a:latin typeface="Arial"/>
              </a:rPr>
              <a:t>Operating calendars</a:t>
            </a:r>
          </a:p>
          <a:p>
            <a:pPr algn="l">
              <a:lnSpc>
                <a:spcPct val="110000"/>
              </a:lnSpc>
              <a:spcBef>
                <a:spcPts val="0"/>
              </a:spcBef>
              <a:spcAft>
                <a:spcPts val="0"/>
              </a:spcAft>
            </a:pPr>
            <a:r>
              <a:rPr sz="2000" b="0">
                <a:solidFill>
                  <a:srgbClr val="50576D"/>
                </a:solidFill>
                <a:latin typeface="Arial"/>
              </a:rPr>
              <a:t>Transfer feasibility</a:t>
            </a:r>
          </a:p>
          <a:p>
            <a:pPr algn="l">
              <a:lnSpc>
                <a:spcPct val="110000"/>
              </a:lnSpc>
              <a:spcBef>
                <a:spcPts val="0"/>
              </a:spcBef>
              <a:spcAft>
                <a:spcPts val="0"/>
              </a:spcAft>
            </a:pPr>
            <a:r>
              <a:rPr sz="2000" b="0">
                <a:solidFill>
                  <a:srgbClr val="50576D"/>
                </a:solidFill>
                <a:latin typeface="Arial"/>
              </a:rPr>
              <a:t>Real payment settlement</a:t>
            </a:r>
          </a:p>
        </p:txBody>
      </p:sp>
      <p:sp>
        <p:nvSpPr>
          <p:cNvPr id="26" name="Trapezoid 25"/>
          <p:cNvSpPr/>
          <p:nvPr/>
        </p:nvSpPr>
        <p:spPr>
          <a:xfrm rot="10800000">
            <a:off x="5486400" y="2441448"/>
            <a:ext cx="1252728" cy="502920"/>
          </a:xfrm>
          <a:prstGeom prst="trapezoid">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522976" y="2578608"/>
            <a:ext cx="1179576" cy="201168"/>
          </a:xfrm>
          <a:prstGeom prst="rect">
            <a:avLst/>
          </a:prstGeom>
          <a:noFill/>
        </p:spPr>
        <p:txBody>
          <a:bodyPr wrap="square" lIns="0" tIns="0" rIns="0" bIns="0" anchor="t">
            <a:noAutofit/>
          </a:bodyPr>
          <a:lstStyle/>
          <a:p>
            <a:pPr algn="ctr">
              <a:lnSpc>
                <a:spcPct val="110000"/>
              </a:lnSpc>
              <a:spcBef>
                <a:spcPts val="0"/>
              </a:spcBef>
              <a:spcAft>
                <a:spcPts val="0"/>
              </a:spcAft>
            </a:pPr>
            <a:r>
              <a:rPr sz="1250" b="1">
                <a:solidFill>
                  <a:srgbClr val="FFFFFF"/>
                </a:solidFill>
                <a:latin typeface="Arial"/>
              </a:rPr>
              <a:t>FILTER</a:t>
            </a:r>
          </a:p>
        </p:txBody>
      </p:sp>
      <p:sp>
        <p:nvSpPr>
          <p:cNvPr id="28" name="Rounded Rectangle 27"/>
          <p:cNvSpPr/>
          <p:nvPr/>
        </p:nvSpPr>
        <p:spPr>
          <a:xfrm>
            <a:off x="5431536" y="3191256"/>
            <a:ext cx="1353312" cy="1636776"/>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577840" y="3392424"/>
            <a:ext cx="1060704" cy="1234440"/>
          </a:xfrm>
          <a:prstGeom prst="rect">
            <a:avLst/>
          </a:prstGeom>
          <a:noFill/>
        </p:spPr>
        <p:txBody>
          <a:bodyPr wrap="square" lIns="0" tIns="0" rIns="0" bIns="0" anchor="t">
            <a:noAutofit/>
          </a:bodyPr>
          <a:lstStyle/>
          <a:p>
            <a:pPr algn="ctr">
              <a:lnSpc>
                <a:spcPct val="110000"/>
              </a:lnSpc>
              <a:spcBef>
                <a:spcPts val="0"/>
              </a:spcBef>
              <a:spcAft>
                <a:spcPts val="0"/>
              </a:spcAft>
            </a:pPr>
            <a:r>
              <a:rPr sz="1440" b="1">
                <a:solidFill>
                  <a:srgbClr val="389778"/>
                </a:solidFill>
                <a:latin typeface="Arial"/>
              </a:rPr>
              <a:t>LESS</a:t>
            </a:r>
          </a:p>
          <a:p>
            <a:pPr algn="ctr">
              <a:lnSpc>
                <a:spcPct val="110000"/>
              </a:lnSpc>
              <a:spcBef>
                <a:spcPts val="0"/>
              </a:spcBef>
              <a:spcAft>
                <a:spcPts val="0"/>
              </a:spcAft>
            </a:pPr>
            <a:r>
              <a:rPr sz="1440" b="1">
                <a:solidFill>
                  <a:srgbClr val="389778"/>
                </a:solidFill>
                <a:latin typeface="Arial"/>
              </a:rPr>
              <a:t>DETAIL</a:t>
            </a:r>
          </a:p>
          <a:p>
            <a:pPr algn="ctr">
              <a:lnSpc>
                <a:spcPct val="110000"/>
              </a:lnSpc>
              <a:spcBef>
                <a:spcPts val="0"/>
              </a:spcBef>
              <a:spcAft>
                <a:spcPts val="0"/>
              </a:spcAft>
            </a:pPr>
            <a:endParaRPr sz="1440" b="1">
              <a:solidFill>
                <a:srgbClr val="389778"/>
              </a:solidFill>
              <a:latin typeface="Arial"/>
            </a:endParaRPr>
          </a:p>
          <a:p>
            <a:pPr algn="ctr">
              <a:lnSpc>
                <a:spcPct val="110000"/>
              </a:lnSpc>
              <a:spcBef>
                <a:spcPts val="0"/>
              </a:spcBef>
              <a:spcAft>
                <a:spcPts val="0"/>
              </a:spcAft>
            </a:pPr>
            <a:r>
              <a:rPr sz="1440" b="1">
                <a:solidFill>
                  <a:srgbClr val="389778"/>
                </a:solidFill>
                <a:latin typeface="Arial"/>
              </a:rPr>
              <a:t>CLEARER</a:t>
            </a:r>
          </a:p>
          <a:p>
            <a:pPr algn="ctr">
              <a:lnSpc>
                <a:spcPct val="110000"/>
              </a:lnSpc>
              <a:spcBef>
                <a:spcPts val="0"/>
              </a:spcBef>
              <a:spcAft>
                <a:spcPts val="0"/>
              </a:spcAft>
            </a:pPr>
            <a:r>
              <a:rPr sz="1440" b="1">
                <a:solidFill>
                  <a:srgbClr val="389778"/>
                </a:solidFill>
                <a:latin typeface="Arial"/>
              </a:rPr>
              <a:t>CONTRACT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03 / COMPUTATIONAL THINKING</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Pattern recognition: reusable solutions</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Recognise familiar structures before choosing code: paths, queues, ordering and shared resources.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A weighted graph finds paths; FIFO preserves fairness; idempotent commands make retries safe.</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ALGORITHMS.md • services.py • models.py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04 / 35</a:t>
            </a:r>
          </a:p>
        </p:txBody>
      </p:sp>
      <p:sp>
        <p:nvSpPr>
          <p:cNvPr id="20" name="Rounded Rectangle 19"/>
          <p:cNvSpPr/>
          <p:nvPr/>
        </p:nvSpPr>
        <p:spPr>
          <a:xfrm>
            <a:off x="576072" y="2029968"/>
            <a:ext cx="2103120" cy="337413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2376" y="2221992"/>
            <a:ext cx="1819656" cy="621792"/>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Weighted path</a:t>
            </a:r>
          </a:p>
        </p:txBody>
      </p:sp>
      <p:cxnSp>
        <p:nvCxnSpPr>
          <p:cNvPr id="22" name="Connector 21"/>
          <p:cNvCxnSpPr/>
          <p:nvPr/>
        </p:nvCxnSpPr>
        <p:spPr>
          <a:xfrm flipV="1">
            <a:off x="969264" y="2980944"/>
            <a:ext cx="1197864" cy="356616"/>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69264" y="3337560"/>
            <a:ext cx="1179576" cy="374903"/>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758952" y="3145536"/>
            <a:ext cx="402336" cy="402336"/>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58952" y="3182112"/>
            <a:ext cx="402336" cy="356616"/>
          </a:xfrm>
          <a:prstGeom prst="rect">
            <a:avLst/>
          </a:prstGeom>
          <a:noFill/>
        </p:spPr>
        <p:txBody>
          <a:bodyPr wrap="square" lIns="0" tIns="0" rIns="0" bIns="0" anchor="ctr">
            <a:noAutofit/>
          </a:bodyPr>
          <a:lstStyle/>
          <a:p>
            <a:pPr algn="ctr">
              <a:lnSpc>
                <a:spcPct val="110000"/>
              </a:lnSpc>
              <a:spcBef>
                <a:spcPts val="0"/>
              </a:spcBef>
              <a:spcAft>
                <a:spcPts val="0"/>
              </a:spcAft>
            </a:pPr>
            <a:r>
              <a:rPr sz="1500" b="1">
                <a:solidFill>
                  <a:srgbClr val="FFFFFF"/>
                </a:solidFill>
                <a:latin typeface="Arial"/>
              </a:rPr>
              <a:t>A</a:t>
            </a:r>
          </a:p>
        </p:txBody>
      </p:sp>
      <p:sp>
        <p:nvSpPr>
          <p:cNvPr id="26" name="Oval 25"/>
          <p:cNvSpPr/>
          <p:nvPr/>
        </p:nvSpPr>
        <p:spPr>
          <a:xfrm>
            <a:off x="2057400" y="2779776"/>
            <a:ext cx="402336" cy="402336"/>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057400" y="2816352"/>
            <a:ext cx="402336" cy="356616"/>
          </a:xfrm>
          <a:prstGeom prst="rect">
            <a:avLst/>
          </a:prstGeom>
          <a:noFill/>
        </p:spPr>
        <p:txBody>
          <a:bodyPr wrap="square" lIns="0" tIns="0" rIns="0" bIns="0" anchor="ctr">
            <a:noAutofit/>
          </a:bodyPr>
          <a:lstStyle/>
          <a:p>
            <a:pPr algn="ctr">
              <a:lnSpc>
                <a:spcPct val="110000"/>
              </a:lnSpc>
              <a:spcBef>
                <a:spcPts val="0"/>
              </a:spcBef>
              <a:spcAft>
                <a:spcPts val="0"/>
              </a:spcAft>
            </a:pPr>
            <a:r>
              <a:rPr sz="1500" b="1">
                <a:solidFill>
                  <a:srgbClr val="FFFFFF"/>
                </a:solidFill>
                <a:latin typeface="Arial"/>
              </a:rPr>
              <a:t>B</a:t>
            </a:r>
          </a:p>
        </p:txBody>
      </p:sp>
      <p:sp>
        <p:nvSpPr>
          <p:cNvPr id="28" name="Oval 27"/>
          <p:cNvSpPr/>
          <p:nvPr/>
        </p:nvSpPr>
        <p:spPr>
          <a:xfrm>
            <a:off x="2057400" y="3511296"/>
            <a:ext cx="402336" cy="402336"/>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057400" y="3547872"/>
            <a:ext cx="402336" cy="356616"/>
          </a:xfrm>
          <a:prstGeom prst="rect">
            <a:avLst/>
          </a:prstGeom>
          <a:noFill/>
        </p:spPr>
        <p:txBody>
          <a:bodyPr wrap="square" lIns="0" tIns="0" rIns="0" bIns="0" anchor="ctr">
            <a:noAutofit/>
          </a:bodyPr>
          <a:lstStyle/>
          <a:p>
            <a:pPr algn="ctr">
              <a:lnSpc>
                <a:spcPct val="110000"/>
              </a:lnSpc>
              <a:spcBef>
                <a:spcPts val="0"/>
              </a:spcBef>
              <a:spcAft>
                <a:spcPts val="0"/>
              </a:spcAft>
            </a:pPr>
            <a:r>
              <a:rPr sz="1500" b="1">
                <a:solidFill>
                  <a:srgbClr val="FFFFFF"/>
                </a:solidFill>
                <a:latin typeface="Arial"/>
              </a:rPr>
              <a:t>C</a:t>
            </a:r>
          </a:p>
        </p:txBody>
      </p:sp>
      <p:sp>
        <p:nvSpPr>
          <p:cNvPr id="30" name="TextBox 29"/>
          <p:cNvSpPr txBox="1"/>
          <p:nvPr/>
        </p:nvSpPr>
        <p:spPr>
          <a:xfrm>
            <a:off x="1307592" y="2926080"/>
            <a:ext cx="502920" cy="274320"/>
          </a:xfrm>
          <a:prstGeom prst="rect">
            <a:avLst/>
          </a:prstGeom>
          <a:noFill/>
        </p:spPr>
        <p:txBody>
          <a:bodyPr wrap="square" lIns="0" tIns="0" rIns="0" bIns="0" anchor="t">
            <a:noAutofit/>
          </a:bodyPr>
          <a:lstStyle/>
          <a:p>
            <a:pPr algn="l">
              <a:lnSpc>
                <a:spcPct val="110000"/>
              </a:lnSpc>
              <a:spcBef>
                <a:spcPts val="0"/>
              </a:spcBef>
              <a:spcAft>
                <a:spcPts val="0"/>
              </a:spcAft>
            </a:pPr>
            <a:r>
              <a:rPr sz="1300" b="0">
                <a:solidFill>
                  <a:srgbClr val="50576D"/>
                </a:solidFill>
                <a:latin typeface="Arial"/>
              </a:rPr>
              <a:t>100</a:t>
            </a:r>
          </a:p>
        </p:txBody>
      </p:sp>
      <p:sp>
        <p:nvSpPr>
          <p:cNvPr id="31" name="TextBox 30"/>
          <p:cNvSpPr txBox="1"/>
          <p:nvPr/>
        </p:nvSpPr>
        <p:spPr>
          <a:xfrm>
            <a:off x="722376" y="4590288"/>
            <a:ext cx="1810512" cy="658368"/>
          </a:xfrm>
          <a:prstGeom prst="rect">
            <a:avLst/>
          </a:prstGeom>
          <a:noFill/>
        </p:spPr>
        <p:txBody>
          <a:bodyPr wrap="square" lIns="0" tIns="0" rIns="0" bIns="0" anchor="t">
            <a:noAutofit/>
          </a:bodyPr>
          <a:lstStyle/>
          <a:p>
            <a:pPr algn="l">
              <a:lnSpc>
                <a:spcPct val="110000"/>
              </a:lnSpc>
              <a:spcBef>
                <a:spcPts val="0"/>
              </a:spcBef>
              <a:spcAft>
                <a:spcPts val="0"/>
              </a:spcAft>
            </a:pPr>
            <a:r>
              <a:rPr sz="1700" b="0">
                <a:solidFill>
                  <a:srgbClr val="50576D"/>
                </a:solidFill>
                <a:latin typeface="Arial"/>
              </a:rPr>
              <a:t>Station → service → station</a:t>
            </a:r>
          </a:p>
        </p:txBody>
      </p:sp>
      <p:sp>
        <p:nvSpPr>
          <p:cNvPr id="32" name="Rounded Rectangle 31"/>
          <p:cNvSpPr/>
          <p:nvPr/>
        </p:nvSpPr>
        <p:spPr>
          <a:xfrm>
            <a:off x="2807208" y="2029968"/>
            <a:ext cx="2103120" cy="3374136"/>
          </a:xfrm>
          <a:prstGeom prst="roundRect">
            <a:avLst>
              <a:gd name="adj" fmla="val 14000"/>
            </a:avLst>
          </a:prstGeom>
          <a:solidFill>
            <a:srgbClr val="F8F7FB"/>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953512" y="2221992"/>
            <a:ext cx="1819656" cy="621792"/>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Stable ordering</a:t>
            </a:r>
          </a:p>
        </p:txBody>
      </p:sp>
      <p:sp>
        <p:nvSpPr>
          <p:cNvPr id="34" name="Rectangle 33"/>
          <p:cNvSpPr/>
          <p:nvPr/>
        </p:nvSpPr>
        <p:spPr>
          <a:xfrm>
            <a:off x="3035808" y="2999232"/>
            <a:ext cx="886968" cy="228600"/>
          </a:xfrm>
          <a:prstGeom prst="rect">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081527" y="2999232"/>
            <a:ext cx="1143000" cy="210312"/>
          </a:xfrm>
          <a:prstGeom prst="rect">
            <a:avLst/>
          </a:prstGeom>
          <a:noFill/>
        </p:spPr>
        <p:txBody>
          <a:bodyPr wrap="square" lIns="0" tIns="0" rIns="0" bIns="0" anchor="t">
            <a:noAutofit/>
          </a:bodyPr>
          <a:lstStyle/>
          <a:p>
            <a:pPr algn="l">
              <a:lnSpc>
                <a:spcPct val="110000"/>
              </a:lnSpc>
              <a:spcBef>
                <a:spcPts val="0"/>
              </a:spcBef>
              <a:spcAft>
                <a:spcPts val="0"/>
              </a:spcAft>
            </a:pPr>
            <a:r>
              <a:rPr sz="1270" b="1">
                <a:solidFill>
                  <a:srgbClr val="FFFFFF"/>
                </a:solidFill>
                <a:latin typeface="Arial"/>
              </a:rPr>
              <a:t>595</a:t>
            </a:r>
          </a:p>
        </p:txBody>
      </p:sp>
      <p:sp>
        <p:nvSpPr>
          <p:cNvPr id="36" name="Rectangle 35"/>
          <p:cNvSpPr/>
          <p:nvPr/>
        </p:nvSpPr>
        <p:spPr>
          <a:xfrm>
            <a:off x="3035808" y="3392424"/>
            <a:ext cx="1207008" cy="228600"/>
          </a:xfrm>
          <a:prstGeom prst="rect">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081527" y="3392424"/>
            <a:ext cx="1143000" cy="210312"/>
          </a:xfrm>
          <a:prstGeom prst="rect">
            <a:avLst/>
          </a:prstGeom>
          <a:noFill/>
        </p:spPr>
        <p:txBody>
          <a:bodyPr wrap="square" lIns="0" tIns="0" rIns="0" bIns="0" anchor="t">
            <a:noAutofit/>
          </a:bodyPr>
          <a:lstStyle/>
          <a:p>
            <a:pPr algn="l">
              <a:lnSpc>
                <a:spcPct val="110000"/>
              </a:lnSpc>
              <a:spcBef>
                <a:spcPts val="0"/>
              </a:spcBef>
              <a:spcAft>
                <a:spcPts val="0"/>
              </a:spcAft>
            </a:pPr>
            <a:r>
              <a:rPr sz="1270" b="1">
                <a:solidFill>
                  <a:srgbClr val="FFFFFF"/>
                </a:solidFill>
                <a:latin typeface="Arial"/>
              </a:rPr>
              <a:t>780</a:t>
            </a:r>
          </a:p>
        </p:txBody>
      </p:sp>
      <p:sp>
        <p:nvSpPr>
          <p:cNvPr id="38" name="Rectangle 37"/>
          <p:cNvSpPr/>
          <p:nvPr/>
        </p:nvSpPr>
        <p:spPr>
          <a:xfrm>
            <a:off x="3035808" y="3785615"/>
            <a:ext cx="1527048" cy="228600"/>
          </a:xfrm>
          <a:prstGeom prst="rect">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081527" y="3785615"/>
            <a:ext cx="1143000" cy="210312"/>
          </a:xfrm>
          <a:prstGeom prst="rect">
            <a:avLst/>
          </a:prstGeom>
          <a:noFill/>
        </p:spPr>
        <p:txBody>
          <a:bodyPr wrap="square" lIns="0" tIns="0" rIns="0" bIns="0" anchor="t">
            <a:noAutofit/>
          </a:bodyPr>
          <a:lstStyle/>
          <a:p>
            <a:pPr algn="l">
              <a:lnSpc>
                <a:spcPct val="110000"/>
              </a:lnSpc>
              <a:spcBef>
                <a:spcPts val="0"/>
              </a:spcBef>
              <a:spcAft>
                <a:spcPts val="0"/>
              </a:spcAft>
            </a:pPr>
            <a:r>
              <a:rPr sz="1270" b="1">
                <a:solidFill>
                  <a:srgbClr val="FFFFFF"/>
                </a:solidFill>
                <a:latin typeface="Arial"/>
              </a:rPr>
              <a:t>950</a:t>
            </a:r>
          </a:p>
        </p:txBody>
      </p:sp>
      <p:sp>
        <p:nvSpPr>
          <p:cNvPr id="40" name="TextBox 39"/>
          <p:cNvSpPr txBox="1"/>
          <p:nvPr/>
        </p:nvSpPr>
        <p:spPr>
          <a:xfrm>
            <a:off x="2953512" y="4590288"/>
            <a:ext cx="1810512" cy="658368"/>
          </a:xfrm>
          <a:prstGeom prst="rect">
            <a:avLst/>
          </a:prstGeom>
          <a:noFill/>
        </p:spPr>
        <p:txBody>
          <a:bodyPr wrap="square" lIns="0" tIns="0" rIns="0" bIns="0" anchor="t">
            <a:noAutofit/>
          </a:bodyPr>
          <a:lstStyle/>
          <a:p>
            <a:pPr algn="l">
              <a:lnSpc>
                <a:spcPct val="110000"/>
              </a:lnSpc>
              <a:spcBef>
                <a:spcPts val="0"/>
              </a:spcBef>
              <a:spcAft>
                <a:spcPts val="0"/>
              </a:spcAft>
            </a:pPr>
            <a:r>
              <a:rPr sz="1700" b="0">
                <a:solidFill>
                  <a:srgbClr val="50576D"/>
                </a:solidFill>
                <a:latin typeface="Arial"/>
              </a:rPr>
              <a:t>Fare / duration / departure</a:t>
            </a:r>
          </a:p>
        </p:txBody>
      </p:sp>
      <p:sp>
        <p:nvSpPr>
          <p:cNvPr id="41" name="Rounded Rectangle 40"/>
          <p:cNvSpPr/>
          <p:nvPr/>
        </p:nvSpPr>
        <p:spPr>
          <a:xfrm>
            <a:off x="5038344" y="2029968"/>
            <a:ext cx="2103120" cy="337413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184648" y="2221992"/>
            <a:ext cx="1819656" cy="621792"/>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FIFO fairness</a:t>
            </a:r>
          </a:p>
        </p:txBody>
      </p:sp>
      <p:sp>
        <p:nvSpPr>
          <p:cNvPr id="43" name="Oval 42"/>
          <p:cNvSpPr/>
          <p:nvPr/>
        </p:nvSpPr>
        <p:spPr>
          <a:xfrm>
            <a:off x="5202936" y="3200400"/>
            <a:ext cx="457200" cy="457200"/>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202936" y="3236976"/>
            <a:ext cx="457200" cy="411480"/>
          </a:xfrm>
          <a:prstGeom prst="rect">
            <a:avLst/>
          </a:prstGeom>
          <a:noFill/>
        </p:spPr>
        <p:txBody>
          <a:bodyPr wrap="square" lIns="0" tIns="0" rIns="0" bIns="0" anchor="ctr">
            <a:noAutofit/>
          </a:bodyPr>
          <a:lstStyle/>
          <a:p>
            <a:pPr algn="ctr">
              <a:lnSpc>
                <a:spcPct val="110000"/>
              </a:lnSpc>
              <a:spcBef>
                <a:spcPts val="0"/>
              </a:spcBef>
              <a:spcAft>
                <a:spcPts val="0"/>
              </a:spcAft>
            </a:pPr>
            <a:r>
              <a:rPr sz="1500" b="1">
                <a:solidFill>
                  <a:srgbClr val="FFFFFF"/>
                </a:solidFill>
                <a:latin typeface="Arial"/>
              </a:rPr>
              <a:t>1</a:t>
            </a:r>
          </a:p>
        </p:txBody>
      </p:sp>
      <p:sp>
        <p:nvSpPr>
          <p:cNvPr id="45" name="Oval 44"/>
          <p:cNvSpPr/>
          <p:nvPr/>
        </p:nvSpPr>
        <p:spPr>
          <a:xfrm>
            <a:off x="5797296" y="3200400"/>
            <a:ext cx="457200" cy="457200"/>
          </a:xfrm>
          <a:prstGeom prst="ellipse">
            <a:avLst/>
          </a:prstGeom>
          <a:solidFill>
            <a:srgbClr val="C6B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797296" y="3236976"/>
            <a:ext cx="457200" cy="411480"/>
          </a:xfrm>
          <a:prstGeom prst="rect">
            <a:avLst/>
          </a:prstGeom>
          <a:noFill/>
        </p:spPr>
        <p:txBody>
          <a:bodyPr wrap="square" lIns="0" tIns="0" rIns="0" bIns="0" anchor="ctr">
            <a:noAutofit/>
          </a:bodyPr>
          <a:lstStyle/>
          <a:p>
            <a:pPr algn="ctr">
              <a:lnSpc>
                <a:spcPct val="110000"/>
              </a:lnSpc>
              <a:spcBef>
                <a:spcPts val="0"/>
              </a:spcBef>
              <a:spcAft>
                <a:spcPts val="0"/>
              </a:spcAft>
            </a:pPr>
            <a:r>
              <a:rPr sz="1500" b="1">
                <a:solidFill>
                  <a:srgbClr val="FFFFFF"/>
                </a:solidFill>
                <a:latin typeface="Arial"/>
              </a:rPr>
              <a:t>2</a:t>
            </a:r>
          </a:p>
        </p:txBody>
      </p:sp>
      <p:sp>
        <p:nvSpPr>
          <p:cNvPr id="47" name="Oval 46"/>
          <p:cNvSpPr/>
          <p:nvPr/>
        </p:nvSpPr>
        <p:spPr>
          <a:xfrm>
            <a:off x="6391655" y="3200400"/>
            <a:ext cx="457200" cy="457200"/>
          </a:xfrm>
          <a:prstGeom prst="ellipse">
            <a:avLst/>
          </a:prstGeom>
          <a:solidFill>
            <a:srgbClr val="C6B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391655" y="3236976"/>
            <a:ext cx="457200" cy="411480"/>
          </a:xfrm>
          <a:prstGeom prst="rect">
            <a:avLst/>
          </a:prstGeom>
          <a:noFill/>
        </p:spPr>
        <p:txBody>
          <a:bodyPr wrap="square" lIns="0" tIns="0" rIns="0" bIns="0" anchor="ctr">
            <a:noAutofit/>
          </a:bodyPr>
          <a:lstStyle/>
          <a:p>
            <a:pPr algn="ctr">
              <a:lnSpc>
                <a:spcPct val="110000"/>
              </a:lnSpc>
              <a:spcBef>
                <a:spcPts val="0"/>
              </a:spcBef>
              <a:spcAft>
                <a:spcPts val="0"/>
              </a:spcAft>
            </a:pPr>
            <a:r>
              <a:rPr sz="1500" b="1">
                <a:solidFill>
                  <a:srgbClr val="FFFFFF"/>
                </a:solidFill>
                <a:latin typeface="Arial"/>
              </a:rPr>
              <a:t>3</a:t>
            </a:r>
          </a:p>
        </p:txBody>
      </p:sp>
      <p:cxnSp>
        <p:nvCxnSpPr>
          <p:cNvPr id="49" name="Connector 48"/>
          <p:cNvCxnSpPr/>
          <p:nvPr/>
        </p:nvCxnSpPr>
        <p:spPr>
          <a:xfrm flipH="1">
            <a:off x="5440680" y="3913632"/>
            <a:ext cx="1188720"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303520" y="4059936"/>
            <a:ext cx="1563624" cy="219456"/>
          </a:xfrm>
          <a:prstGeom prst="rect">
            <a:avLst/>
          </a:prstGeom>
          <a:noFill/>
        </p:spPr>
        <p:txBody>
          <a:bodyPr wrap="square" lIns="0" tIns="0" rIns="0" bIns="0" anchor="t">
            <a:noAutofit/>
          </a:bodyPr>
          <a:lstStyle/>
          <a:p>
            <a:pPr algn="ctr">
              <a:lnSpc>
                <a:spcPct val="110000"/>
              </a:lnSpc>
              <a:spcBef>
                <a:spcPts val="0"/>
              </a:spcBef>
              <a:spcAft>
                <a:spcPts val="0"/>
              </a:spcAft>
            </a:pPr>
            <a:r>
              <a:rPr sz="1440" b="1">
                <a:solidFill>
                  <a:srgbClr val="7450DF"/>
                </a:solidFill>
                <a:latin typeface="Arial"/>
              </a:rPr>
              <a:t>oldest first</a:t>
            </a:r>
          </a:p>
        </p:txBody>
      </p:sp>
      <p:sp>
        <p:nvSpPr>
          <p:cNvPr id="51" name="TextBox 50"/>
          <p:cNvSpPr txBox="1"/>
          <p:nvPr/>
        </p:nvSpPr>
        <p:spPr>
          <a:xfrm>
            <a:off x="5184648" y="4590288"/>
            <a:ext cx="1810512" cy="658368"/>
          </a:xfrm>
          <a:prstGeom prst="rect">
            <a:avLst/>
          </a:prstGeom>
          <a:noFill/>
        </p:spPr>
        <p:txBody>
          <a:bodyPr wrap="square" lIns="0" tIns="0" rIns="0" bIns="0" anchor="t">
            <a:noAutofit/>
          </a:bodyPr>
          <a:lstStyle/>
          <a:p>
            <a:pPr algn="l">
              <a:lnSpc>
                <a:spcPct val="110000"/>
              </a:lnSpc>
              <a:spcBef>
                <a:spcPts val="0"/>
              </a:spcBef>
              <a:spcAft>
                <a:spcPts val="0"/>
              </a:spcAft>
            </a:pPr>
            <a:r>
              <a:rPr sz="1700" b="0">
                <a:solidFill>
                  <a:srgbClr val="50576D"/>
                </a:solidFill>
                <a:latin typeface="Arial"/>
              </a:rPr>
              <a:t>Oldest group stays first</a:t>
            </a:r>
          </a:p>
        </p:txBody>
      </p:sp>
      <p:sp>
        <p:nvSpPr>
          <p:cNvPr id="52" name="Rounded Rectangle 51"/>
          <p:cNvSpPr/>
          <p:nvPr/>
        </p:nvSpPr>
        <p:spPr>
          <a:xfrm>
            <a:off x="7269480" y="2029968"/>
            <a:ext cx="2103120" cy="3374136"/>
          </a:xfrm>
          <a:prstGeom prst="roundRect">
            <a:avLst>
              <a:gd name="adj" fmla="val 14000"/>
            </a:avLst>
          </a:prstGeom>
          <a:solidFill>
            <a:srgbClr val="F8F7FB"/>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415783" y="2221992"/>
            <a:ext cx="1819656" cy="621792"/>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Retry identity</a:t>
            </a:r>
          </a:p>
        </p:txBody>
      </p:sp>
      <p:sp>
        <p:nvSpPr>
          <p:cNvPr id="54" name="Rounded Rectangle 53"/>
          <p:cNvSpPr/>
          <p:nvPr/>
        </p:nvSpPr>
        <p:spPr>
          <a:xfrm>
            <a:off x="7443216" y="3017520"/>
            <a:ext cx="1746504" cy="365760"/>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525512" y="3067812"/>
            <a:ext cx="1581912" cy="301752"/>
          </a:xfrm>
          <a:prstGeom prst="rect">
            <a:avLst/>
          </a:prstGeom>
          <a:noFill/>
        </p:spPr>
        <p:txBody>
          <a:bodyPr wrap="square" lIns="0" tIns="0" rIns="0" bIns="0" anchor="t">
            <a:noAutofit/>
          </a:bodyPr>
          <a:lstStyle/>
          <a:p>
            <a:pPr algn="ctr">
              <a:lnSpc>
                <a:spcPct val="110000"/>
              </a:lnSpc>
              <a:spcBef>
                <a:spcPts val="0"/>
              </a:spcBef>
              <a:spcAft>
                <a:spcPts val="0"/>
              </a:spcAft>
            </a:pPr>
            <a:r>
              <a:rPr sz="1230" b="1">
                <a:solidFill>
                  <a:srgbClr val="7450DF"/>
                </a:solidFill>
                <a:latin typeface="Arial"/>
              </a:rPr>
              <a:t>KEY: same-request</a:t>
            </a:r>
          </a:p>
        </p:txBody>
      </p:sp>
      <p:cxnSp>
        <p:nvCxnSpPr>
          <p:cNvPr id="56" name="Connector 55"/>
          <p:cNvCxnSpPr/>
          <p:nvPr/>
        </p:nvCxnSpPr>
        <p:spPr>
          <a:xfrm>
            <a:off x="8321040" y="3520440"/>
            <a:ext cx="0" cy="356616"/>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7598664" y="3959352"/>
            <a:ext cx="1435608" cy="36576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680960" y="4009644"/>
            <a:ext cx="1271016" cy="301752"/>
          </a:xfrm>
          <a:prstGeom prst="rect">
            <a:avLst/>
          </a:prstGeom>
          <a:noFill/>
        </p:spPr>
        <p:txBody>
          <a:bodyPr wrap="square" lIns="0" tIns="0" rIns="0" bIns="0" anchor="t">
            <a:noAutofit/>
          </a:bodyPr>
          <a:lstStyle/>
          <a:p>
            <a:pPr algn="ctr">
              <a:lnSpc>
                <a:spcPct val="110000"/>
              </a:lnSpc>
              <a:spcBef>
                <a:spcPts val="0"/>
              </a:spcBef>
              <a:spcAft>
                <a:spcPts val="0"/>
              </a:spcAft>
            </a:pPr>
            <a:r>
              <a:rPr sz="1400" b="1">
                <a:solidFill>
                  <a:srgbClr val="389778"/>
                </a:solidFill>
                <a:latin typeface="Arial"/>
              </a:rPr>
              <a:t>ONE PNR</a:t>
            </a:r>
          </a:p>
        </p:txBody>
      </p:sp>
      <p:sp>
        <p:nvSpPr>
          <p:cNvPr id="59" name="TextBox 58"/>
          <p:cNvSpPr txBox="1"/>
          <p:nvPr/>
        </p:nvSpPr>
        <p:spPr>
          <a:xfrm>
            <a:off x="7415783" y="4590288"/>
            <a:ext cx="1810512" cy="658368"/>
          </a:xfrm>
          <a:prstGeom prst="rect">
            <a:avLst/>
          </a:prstGeom>
          <a:noFill/>
        </p:spPr>
        <p:txBody>
          <a:bodyPr wrap="square" lIns="0" tIns="0" rIns="0" bIns="0" anchor="t">
            <a:noAutofit/>
          </a:bodyPr>
          <a:lstStyle/>
          <a:p>
            <a:pPr algn="l">
              <a:lnSpc>
                <a:spcPct val="110000"/>
              </a:lnSpc>
              <a:spcBef>
                <a:spcPts val="0"/>
              </a:spcBef>
              <a:spcAft>
                <a:spcPts val="0"/>
              </a:spcAft>
            </a:pPr>
            <a:r>
              <a:rPr sz="1700" b="0">
                <a:solidFill>
                  <a:srgbClr val="50576D"/>
                </a:solidFill>
                <a:latin typeface="Arial"/>
              </a:rPr>
              <a:t>Same key → same PNR</a:t>
            </a:r>
          </a:p>
        </p:txBody>
      </p:sp>
      <p:sp>
        <p:nvSpPr>
          <p:cNvPr id="60" name="Rounded Rectangle 59"/>
          <p:cNvSpPr/>
          <p:nvPr/>
        </p:nvSpPr>
        <p:spPr>
          <a:xfrm>
            <a:off x="9500616" y="2029968"/>
            <a:ext cx="2103120" cy="337413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9646920" y="2221992"/>
            <a:ext cx="1819656" cy="621792"/>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Scarce resource</a:t>
            </a:r>
          </a:p>
        </p:txBody>
      </p:sp>
      <p:sp>
        <p:nvSpPr>
          <p:cNvPr id="62" name="Rounded Rectangle 61"/>
          <p:cNvSpPr/>
          <p:nvPr/>
        </p:nvSpPr>
        <p:spPr>
          <a:xfrm>
            <a:off x="10195560" y="2953512"/>
            <a:ext cx="713232" cy="960120"/>
          </a:xfrm>
          <a:prstGeom prst="roundRect">
            <a:avLst>
              <a:gd name="adj" fmla="val 14000"/>
            </a:avLst>
          </a:prstGeom>
          <a:solidFill>
            <a:srgbClr val="EAF5F0"/>
          </a:solidFill>
          <a:ln w="12700">
            <a:solidFill>
              <a:srgbClr val="3897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195560" y="3172968"/>
            <a:ext cx="713232" cy="301752"/>
          </a:xfrm>
          <a:prstGeom prst="rect">
            <a:avLst/>
          </a:prstGeom>
          <a:noFill/>
        </p:spPr>
        <p:txBody>
          <a:bodyPr wrap="square" lIns="0" tIns="0" rIns="0" bIns="0" anchor="t">
            <a:noAutofit/>
          </a:bodyPr>
          <a:lstStyle/>
          <a:p>
            <a:pPr algn="ctr">
              <a:lnSpc>
                <a:spcPct val="110000"/>
              </a:lnSpc>
              <a:spcBef>
                <a:spcPts val="0"/>
              </a:spcBef>
              <a:spcAft>
                <a:spcPts val="0"/>
              </a:spcAft>
            </a:pPr>
            <a:r>
              <a:rPr sz="2300" b="1">
                <a:solidFill>
                  <a:srgbClr val="389778"/>
                </a:solidFill>
                <a:latin typeface="Arial"/>
              </a:rPr>
              <a:t>01</a:t>
            </a:r>
          </a:p>
        </p:txBody>
      </p:sp>
      <p:sp>
        <p:nvSpPr>
          <p:cNvPr id="64" name="TextBox 63"/>
          <p:cNvSpPr txBox="1"/>
          <p:nvPr/>
        </p:nvSpPr>
        <p:spPr>
          <a:xfrm>
            <a:off x="9720072" y="4114800"/>
            <a:ext cx="1645920" cy="256032"/>
          </a:xfrm>
          <a:prstGeom prst="rect">
            <a:avLst/>
          </a:prstGeom>
          <a:noFill/>
        </p:spPr>
        <p:txBody>
          <a:bodyPr wrap="square" lIns="0" tIns="0" rIns="0" bIns="0" anchor="t">
            <a:noAutofit/>
          </a:bodyPr>
          <a:lstStyle/>
          <a:p>
            <a:pPr algn="ctr">
              <a:lnSpc>
                <a:spcPct val="110000"/>
              </a:lnSpc>
              <a:spcBef>
                <a:spcPts val="0"/>
              </a:spcBef>
              <a:spcAft>
                <a:spcPts val="0"/>
              </a:spcAft>
            </a:pPr>
            <a:r>
              <a:rPr sz="1440" b="1">
                <a:solidFill>
                  <a:srgbClr val="389778"/>
                </a:solidFill>
                <a:latin typeface="Arial"/>
              </a:rPr>
              <a:t>unique DB key</a:t>
            </a:r>
          </a:p>
        </p:txBody>
      </p:sp>
      <p:sp>
        <p:nvSpPr>
          <p:cNvPr id="65" name="TextBox 64"/>
          <p:cNvSpPr txBox="1"/>
          <p:nvPr/>
        </p:nvSpPr>
        <p:spPr>
          <a:xfrm>
            <a:off x="9646920" y="4590288"/>
            <a:ext cx="1810512" cy="658368"/>
          </a:xfrm>
          <a:prstGeom prst="rect">
            <a:avLst/>
          </a:prstGeom>
          <a:noFill/>
        </p:spPr>
        <p:txBody>
          <a:bodyPr wrap="square" lIns="0" tIns="0" rIns="0" bIns="0" anchor="t">
            <a:noAutofit/>
          </a:bodyPr>
          <a:lstStyle/>
          <a:p>
            <a:pPr algn="l">
              <a:lnSpc>
                <a:spcPct val="110000"/>
              </a:lnSpc>
              <a:spcBef>
                <a:spcPts val="0"/>
              </a:spcBef>
              <a:spcAft>
                <a:spcPts val="0"/>
              </a:spcAft>
            </a:pPr>
            <a:r>
              <a:rPr sz="1700" b="0">
                <a:solidFill>
                  <a:srgbClr val="50576D"/>
                </a:solidFill>
                <a:latin typeface="Arial"/>
              </a:rPr>
              <a:t>One seat → one owner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04 / COMPUTATIONAL THINKING</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Algorithm design: match method to need</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Select by objective, constraints and worst-case cost—not by using every method everywhere.</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Merge sort and seat allocation are in search/booking; graph optimisers live in the educational planner.</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algorithms.py • ALGORITHMS.md</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05 / 35</a:t>
            </a:r>
          </a:p>
        </p:txBody>
      </p:sp>
      <p:sp>
        <p:nvSpPr>
          <p:cNvPr id="20" name="Rectangle 19"/>
          <p:cNvSpPr/>
          <p:nvPr/>
        </p:nvSpPr>
        <p:spPr>
          <a:xfrm>
            <a:off x="585216" y="1984248"/>
            <a:ext cx="2514600" cy="402336"/>
          </a:xfrm>
          <a:prstGeom prst="rect">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2376" y="2089404"/>
            <a:ext cx="2240280" cy="192024"/>
          </a:xfrm>
          <a:prstGeom prst="rect">
            <a:avLst/>
          </a:prstGeom>
          <a:noFill/>
        </p:spPr>
        <p:txBody>
          <a:bodyPr wrap="square" lIns="0" tIns="0" rIns="0" bIns="0" anchor="t">
            <a:noAutofit/>
          </a:bodyPr>
          <a:lstStyle/>
          <a:p>
            <a:pPr algn="l">
              <a:lnSpc>
                <a:spcPct val="110000"/>
              </a:lnSpc>
              <a:spcBef>
                <a:spcPts val="0"/>
              </a:spcBef>
              <a:spcAft>
                <a:spcPts val="0"/>
              </a:spcAft>
            </a:pPr>
            <a:r>
              <a:rPr sz="1250" b="1">
                <a:solidFill>
                  <a:srgbClr val="FFFFFF"/>
                </a:solidFill>
                <a:latin typeface="Arial"/>
              </a:rPr>
              <a:t>METHOD</a:t>
            </a:r>
          </a:p>
        </p:txBody>
      </p:sp>
      <p:sp>
        <p:nvSpPr>
          <p:cNvPr id="22" name="Rectangle 21"/>
          <p:cNvSpPr/>
          <p:nvPr/>
        </p:nvSpPr>
        <p:spPr>
          <a:xfrm>
            <a:off x="3099816" y="1984248"/>
            <a:ext cx="3941063" cy="402336"/>
          </a:xfrm>
          <a:prstGeom prst="rect">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36976" y="2089404"/>
            <a:ext cx="3666744" cy="192024"/>
          </a:xfrm>
          <a:prstGeom prst="rect">
            <a:avLst/>
          </a:prstGeom>
          <a:noFill/>
        </p:spPr>
        <p:txBody>
          <a:bodyPr wrap="square" lIns="0" tIns="0" rIns="0" bIns="0" anchor="t">
            <a:noAutofit/>
          </a:bodyPr>
          <a:lstStyle/>
          <a:p>
            <a:pPr algn="l">
              <a:lnSpc>
                <a:spcPct val="110000"/>
              </a:lnSpc>
              <a:spcBef>
                <a:spcPts val="0"/>
              </a:spcBef>
              <a:spcAft>
                <a:spcPts val="0"/>
              </a:spcAft>
            </a:pPr>
            <a:r>
              <a:rPr sz="1250" b="1">
                <a:solidFill>
                  <a:srgbClr val="FFFFFF"/>
                </a:solidFill>
                <a:latin typeface="Arial"/>
              </a:rPr>
              <a:t>OBJECTIVE</a:t>
            </a:r>
          </a:p>
        </p:txBody>
      </p:sp>
      <p:sp>
        <p:nvSpPr>
          <p:cNvPr id="24" name="Rectangle 23"/>
          <p:cNvSpPr/>
          <p:nvPr/>
        </p:nvSpPr>
        <p:spPr>
          <a:xfrm>
            <a:off x="7040880" y="1984248"/>
            <a:ext cx="2825496" cy="402336"/>
          </a:xfrm>
          <a:prstGeom prst="rect">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178040" y="2089404"/>
            <a:ext cx="2551176" cy="192024"/>
          </a:xfrm>
          <a:prstGeom prst="rect">
            <a:avLst/>
          </a:prstGeom>
          <a:noFill/>
        </p:spPr>
        <p:txBody>
          <a:bodyPr wrap="square" lIns="0" tIns="0" rIns="0" bIns="0" anchor="t">
            <a:noAutofit/>
          </a:bodyPr>
          <a:lstStyle/>
          <a:p>
            <a:pPr algn="l">
              <a:lnSpc>
                <a:spcPct val="110000"/>
              </a:lnSpc>
              <a:spcBef>
                <a:spcPts val="0"/>
              </a:spcBef>
              <a:spcAft>
                <a:spcPts val="0"/>
              </a:spcAft>
            </a:pPr>
            <a:r>
              <a:rPr sz="1250" b="1">
                <a:solidFill>
                  <a:srgbClr val="FFFFFF"/>
                </a:solidFill>
                <a:latin typeface="Arial"/>
              </a:rPr>
              <a:t>FUNCTION</a:t>
            </a:r>
          </a:p>
        </p:txBody>
      </p:sp>
      <p:sp>
        <p:nvSpPr>
          <p:cNvPr id="26" name="Rectangle 25"/>
          <p:cNvSpPr/>
          <p:nvPr/>
        </p:nvSpPr>
        <p:spPr>
          <a:xfrm>
            <a:off x="9866376" y="1984248"/>
            <a:ext cx="1645920" cy="402336"/>
          </a:xfrm>
          <a:prstGeom prst="rect">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003536" y="2089404"/>
            <a:ext cx="1371600" cy="192024"/>
          </a:xfrm>
          <a:prstGeom prst="rect">
            <a:avLst/>
          </a:prstGeom>
          <a:noFill/>
        </p:spPr>
        <p:txBody>
          <a:bodyPr wrap="square" lIns="0" tIns="0" rIns="0" bIns="0" anchor="t">
            <a:noAutofit/>
          </a:bodyPr>
          <a:lstStyle/>
          <a:p>
            <a:pPr algn="l">
              <a:lnSpc>
                <a:spcPct val="110000"/>
              </a:lnSpc>
              <a:spcBef>
                <a:spcPts val="0"/>
              </a:spcBef>
              <a:spcAft>
                <a:spcPts val="0"/>
              </a:spcAft>
            </a:pPr>
            <a:r>
              <a:rPr sz="1250" b="1">
                <a:solidFill>
                  <a:srgbClr val="FFFFFF"/>
                </a:solidFill>
                <a:latin typeface="Arial"/>
              </a:rPr>
              <a:t>WHERE</a:t>
            </a:r>
          </a:p>
        </p:txBody>
      </p:sp>
      <p:sp>
        <p:nvSpPr>
          <p:cNvPr id="28" name="Rectangle 27"/>
          <p:cNvSpPr/>
          <p:nvPr/>
        </p:nvSpPr>
        <p:spPr>
          <a:xfrm>
            <a:off x="585216" y="2386584"/>
            <a:ext cx="2514600" cy="621792"/>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22376" y="2523744"/>
            <a:ext cx="2240280" cy="384048"/>
          </a:xfrm>
          <a:prstGeom prst="rect">
            <a:avLst/>
          </a:prstGeom>
          <a:noFill/>
        </p:spPr>
        <p:txBody>
          <a:bodyPr wrap="square" lIns="0" tIns="0" rIns="0" bIns="0" anchor="t">
            <a:noAutofit/>
          </a:bodyPr>
          <a:lstStyle/>
          <a:p>
            <a:pPr algn="l">
              <a:lnSpc>
                <a:spcPct val="110000"/>
              </a:lnSpc>
              <a:spcBef>
                <a:spcPts val="0"/>
              </a:spcBef>
              <a:spcAft>
                <a:spcPts val="0"/>
              </a:spcAft>
            </a:pPr>
            <a:r>
              <a:rPr sz="1660" b="1">
                <a:solidFill>
                  <a:srgbClr val="50576D"/>
                </a:solidFill>
                <a:latin typeface="Arial"/>
              </a:rPr>
              <a:t>Divide &amp; conquer</a:t>
            </a:r>
          </a:p>
        </p:txBody>
      </p:sp>
      <p:sp>
        <p:nvSpPr>
          <p:cNvPr id="30" name="Rectangle 29"/>
          <p:cNvSpPr/>
          <p:nvPr/>
        </p:nvSpPr>
        <p:spPr>
          <a:xfrm>
            <a:off x="3099816" y="2386584"/>
            <a:ext cx="3941063" cy="621792"/>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236976" y="2523744"/>
            <a:ext cx="3666744"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Stable train ranking</a:t>
            </a:r>
          </a:p>
        </p:txBody>
      </p:sp>
      <p:sp>
        <p:nvSpPr>
          <p:cNvPr id="32" name="Rectangle 31"/>
          <p:cNvSpPr/>
          <p:nvPr/>
        </p:nvSpPr>
        <p:spPr>
          <a:xfrm>
            <a:off x="7040880" y="2386584"/>
            <a:ext cx="2825496" cy="621792"/>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178040" y="2523744"/>
            <a:ext cx="2551176"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7450DF"/>
                </a:solidFill>
                <a:latin typeface="Consolas"/>
              </a:rPr>
              <a:t>merge_sort</a:t>
            </a:r>
          </a:p>
        </p:txBody>
      </p:sp>
      <p:sp>
        <p:nvSpPr>
          <p:cNvPr id="34" name="Rectangle 33"/>
          <p:cNvSpPr/>
          <p:nvPr/>
        </p:nvSpPr>
        <p:spPr>
          <a:xfrm>
            <a:off x="9866376" y="2386584"/>
            <a:ext cx="1645920" cy="621792"/>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003536" y="2523744"/>
            <a:ext cx="1371600"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Search</a:t>
            </a:r>
          </a:p>
        </p:txBody>
      </p:sp>
      <p:sp>
        <p:nvSpPr>
          <p:cNvPr id="36" name="Rectangle 35"/>
          <p:cNvSpPr/>
          <p:nvPr/>
        </p:nvSpPr>
        <p:spPr>
          <a:xfrm>
            <a:off x="585216" y="3008376"/>
            <a:ext cx="2514600" cy="621792"/>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22376" y="3145536"/>
            <a:ext cx="2240280" cy="384048"/>
          </a:xfrm>
          <a:prstGeom prst="rect">
            <a:avLst/>
          </a:prstGeom>
          <a:noFill/>
        </p:spPr>
        <p:txBody>
          <a:bodyPr wrap="square" lIns="0" tIns="0" rIns="0" bIns="0" anchor="t">
            <a:noAutofit/>
          </a:bodyPr>
          <a:lstStyle/>
          <a:p>
            <a:pPr algn="l">
              <a:lnSpc>
                <a:spcPct val="110000"/>
              </a:lnSpc>
              <a:spcBef>
                <a:spcPts val="0"/>
              </a:spcBef>
              <a:spcAft>
                <a:spcPts val="0"/>
              </a:spcAft>
            </a:pPr>
            <a:r>
              <a:rPr sz="1660" b="1">
                <a:solidFill>
                  <a:srgbClr val="50576D"/>
                </a:solidFill>
                <a:latin typeface="Arial"/>
              </a:rPr>
              <a:t>Greedy</a:t>
            </a:r>
          </a:p>
        </p:txBody>
      </p:sp>
      <p:sp>
        <p:nvSpPr>
          <p:cNvPr id="38" name="Rectangle 37"/>
          <p:cNvSpPr/>
          <p:nvPr/>
        </p:nvSpPr>
        <p:spPr>
          <a:xfrm>
            <a:off x="3099816" y="3008376"/>
            <a:ext cx="3941063" cy="621792"/>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236976" y="3145536"/>
            <a:ext cx="3666744"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Cheapest non-negative route</a:t>
            </a:r>
          </a:p>
        </p:txBody>
      </p:sp>
      <p:sp>
        <p:nvSpPr>
          <p:cNvPr id="40" name="Rectangle 39"/>
          <p:cNvSpPr/>
          <p:nvPr/>
        </p:nvSpPr>
        <p:spPr>
          <a:xfrm>
            <a:off x="7040880" y="3008376"/>
            <a:ext cx="2825496" cy="621792"/>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178040" y="3145536"/>
            <a:ext cx="2551176"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7450DF"/>
                </a:solidFill>
                <a:latin typeface="Consolas"/>
              </a:rPr>
              <a:t>greedy_route</a:t>
            </a:r>
          </a:p>
        </p:txBody>
      </p:sp>
      <p:sp>
        <p:nvSpPr>
          <p:cNvPr id="42" name="Rectangle 41"/>
          <p:cNvSpPr/>
          <p:nvPr/>
        </p:nvSpPr>
        <p:spPr>
          <a:xfrm>
            <a:off x="9866376" y="3008376"/>
            <a:ext cx="1645920" cy="621792"/>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003536" y="3145536"/>
            <a:ext cx="1371600"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Planner</a:t>
            </a:r>
          </a:p>
        </p:txBody>
      </p:sp>
      <p:sp>
        <p:nvSpPr>
          <p:cNvPr id="44" name="Rectangle 43"/>
          <p:cNvSpPr/>
          <p:nvPr/>
        </p:nvSpPr>
        <p:spPr>
          <a:xfrm>
            <a:off x="585216" y="3630168"/>
            <a:ext cx="2514600" cy="621792"/>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22376" y="3767328"/>
            <a:ext cx="2240280" cy="384048"/>
          </a:xfrm>
          <a:prstGeom prst="rect">
            <a:avLst/>
          </a:prstGeom>
          <a:noFill/>
        </p:spPr>
        <p:txBody>
          <a:bodyPr wrap="square" lIns="0" tIns="0" rIns="0" bIns="0" anchor="t">
            <a:noAutofit/>
          </a:bodyPr>
          <a:lstStyle/>
          <a:p>
            <a:pPr algn="l">
              <a:lnSpc>
                <a:spcPct val="110000"/>
              </a:lnSpc>
              <a:spcBef>
                <a:spcPts val="0"/>
              </a:spcBef>
              <a:spcAft>
                <a:spcPts val="0"/>
              </a:spcAft>
            </a:pPr>
            <a:r>
              <a:rPr sz="1660" b="1">
                <a:solidFill>
                  <a:srgbClr val="50576D"/>
                </a:solidFill>
                <a:latin typeface="Arial"/>
              </a:rPr>
              <a:t>Dynamic programming</a:t>
            </a:r>
          </a:p>
        </p:txBody>
      </p:sp>
      <p:sp>
        <p:nvSpPr>
          <p:cNvPr id="46" name="Rectangle 45"/>
          <p:cNvSpPr/>
          <p:nvPr/>
        </p:nvSpPr>
        <p:spPr>
          <a:xfrm>
            <a:off x="3099816" y="3630168"/>
            <a:ext cx="3941063" cy="621792"/>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36976" y="3767328"/>
            <a:ext cx="3666744"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Cheapest route with ≤H edges</a:t>
            </a:r>
          </a:p>
        </p:txBody>
      </p:sp>
      <p:sp>
        <p:nvSpPr>
          <p:cNvPr id="48" name="Rectangle 47"/>
          <p:cNvSpPr/>
          <p:nvPr/>
        </p:nvSpPr>
        <p:spPr>
          <a:xfrm>
            <a:off x="7040880" y="3630168"/>
            <a:ext cx="2825496" cy="621792"/>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178040" y="3767328"/>
            <a:ext cx="2551176"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7450DF"/>
                </a:solidFill>
                <a:latin typeface="Consolas"/>
              </a:rPr>
              <a:t>dynamic_route</a:t>
            </a:r>
          </a:p>
        </p:txBody>
      </p:sp>
      <p:sp>
        <p:nvSpPr>
          <p:cNvPr id="50" name="Rectangle 49"/>
          <p:cNvSpPr/>
          <p:nvPr/>
        </p:nvSpPr>
        <p:spPr>
          <a:xfrm>
            <a:off x="9866376" y="3630168"/>
            <a:ext cx="1645920" cy="621792"/>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003536" y="3767328"/>
            <a:ext cx="1371600"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Lab</a:t>
            </a:r>
          </a:p>
        </p:txBody>
      </p:sp>
      <p:sp>
        <p:nvSpPr>
          <p:cNvPr id="52" name="Rectangle 51"/>
          <p:cNvSpPr/>
          <p:nvPr/>
        </p:nvSpPr>
        <p:spPr>
          <a:xfrm>
            <a:off x="585216" y="4251960"/>
            <a:ext cx="2514600" cy="621792"/>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22376" y="4389120"/>
            <a:ext cx="2240280" cy="384048"/>
          </a:xfrm>
          <a:prstGeom prst="rect">
            <a:avLst/>
          </a:prstGeom>
          <a:noFill/>
        </p:spPr>
        <p:txBody>
          <a:bodyPr wrap="square" lIns="0" tIns="0" rIns="0" bIns="0" anchor="t">
            <a:noAutofit/>
          </a:bodyPr>
          <a:lstStyle/>
          <a:p>
            <a:pPr algn="l">
              <a:lnSpc>
                <a:spcPct val="110000"/>
              </a:lnSpc>
              <a:spcBef>
                <a:spcPts val="0"/>
              </a:spcBef>
              <a:spcAft>
                <a:spcPts val="0"/>
              </a:spcAft>
            </a:pPr>
            <a:r>
              <a:rPr sz="1660" b="1">
                <a:solidFill>
                  <a:srgbClr val="50576D"/>
                </a:solidFill>
                <a:latin typeface="Arial"/>
              </a:rPr>
              <a:t>Backtracking</a:t>
            </a:r>
          </a:p>
        </p:txBody>
      </p:sp>
      <p:sp>
        <p:nvSpPr>
          <p:cNvPr id="54" name="Rectangle 53"/>
          <p:cNvSpPr/>
          <p:nvPr/>
        </p:nvSpPr>
        <p:spPr>
          <a:xfrm>
            <a:off x="3099816" y="4251960"/>
            <a:ext cx="3941063" cy="621792"/>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236976" y="4389120"/>
            <a:ext cx="3666744"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Find contiguous group seats</a:t>
            </a:r>
          </a:p>
        </p:txBody>
      </p:sp>
      <p:sp>
        <p:nvSpPr>
          <p:cNvPr id="56" name="Rectangle 55"/>
          <p:cNvSpPr/>
          <p:nvPr/>
        </p:nvSpPr>
        <p:spPr>
          <a:xfrm>
            <a:off x="7040880" y="4251960"/>
            <a:ext cx="2825496" cy="621792"/>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178040" y="4389120"/>
            <a:ext cx="2551176"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7450DF"/>
                </a:solidFill>
                <a:latin typeface="Consolas"/>
              </a:rPr>
              <a:t>allocate_seats</a:t>
            </a:r>
          </a:p>
        </p:txBody>
      </p:sp>
      <p:sp>
        <p:nvSpPr>
          <p:cNvPr id="58" name="Rectangle 57"/>
          <p:cNvSpPr/>
          <p:nvPr/>
        </p:nvSpPr>
        <p:spPr>
          <a:xfrm>
            <a:off x="9866376" y="4251960"/>
            <a:ext cx="1645920" cy="621792"/>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003536" y="4389120"/>
            <a:ext cx="1371600"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Booking</a:t>
            </a:r>
          </a:p>
        </p:txBody>
      </p:sp>
      <p:sp>
        <p:nvSpPr>
          <p:cNvPr id="60" name="Rectangle 59"/>
          <p:cNvSpPr/>
          <p:nvPr/>
        </p:nvSpPr>
        <p:spPr>
          <a:xfrm>
            <a:off x="585216" y="4873752"/>
            <a:ext cx="2514600" cy="621792"/>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722376" y="5010912"/>
            <a:ext cx="2240280" cy="384048"/>
          </a:xfrm>
          <a:prstGeom prst="rect">
            <a:avLst/>
          </a:prstGeom>
          <a:noFill/>
        </p:spPr>
        <p:txBody>
          <a:bodyPr wrap="square" lIns="0" tIns="0" rIns="0" bIns="0" anchor="t">
            <a:noAutofit/>
          </a:bodyPr>
          <a:lstStyle/>
          <a:p>
            <a:pPr algn="l">
              <a:lnSpc>
                <a:spcPct val="110000"/>
              </a:lnSpc>
              <a:spcBef>
                <a:spcPts val="0"/>
              </a:spcBef>
              <a:spcAft>
                <a:spcPts val="0"/>
              </a:spcAft>
            </a:pPr>
            <a:r>
              <a:rPr sz="1660" b="1">
                <a:solidFill>
                  <a:srgbClr val="50576D"/>
                </a:solidFill>
                <a:latin typeface="Arial"/>
              </a:rPr>
              <a:t>Branch &amp; bound</a:t>
            </a:r>
          </a:p>
        </p:txBody>
      </p:sp>
      <p:sp>
        <p:nvSpPr>
          <p:cNvPr id="62" name="Rectangle 61"/>
          <p:cNvSpPr/>
          <p:nvPr/>
        </p:nvSpPr>
        <p:spPr>
          <a:xfrm>
            <a:off x="3099816" y="4873752"/>
            <a:ext cx="3941063" cy="621792"/>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236976" y="5010912"/>
            <a:ext cx="3666744"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Fastest simple path within budget</a:t>
            </a:r>
          </a:p>
        </p:txBody>
      </p:sp>
      <p:sp>
        <p:nvSpPr>
          <p:cNvPr id="64" name="Rectangle 63"/>
          <p:cNvSpPr/>
          <p:nvPr/>
        </p:nvSpPr>
        <p:spPr>
          <a:xfrm>
            <a:off x="7040880" y="4873752"/>
            <a:ext cx="2825496" cy="621792"/>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178040" y="5010912"/>
            <a:ext cx="2551176"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7450DF"/>
                </a:solidFill>
                <a:latin typeface="Consolas"/>
              </a:rPr>
              <a:t>branch_bound_route</a:t>
            </a:r>
          </a:p>
        </p:txBody>
      </p:sp>
      <p:sp>
        <p:nvSpPr>
          <p:cNvPr id="66" name="Rectangle 65"/>
          <p:cNvSpPr/>
          <p:nvPr/>
        </p:nvSpPr>
        <p:spPr>
          <a:xfrm>
            <a:off x="9866376" y="4873752"/>
            <a:ext cx="1645920" cy="621792"/>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003536" y="5010912"/>
            <a:ext cx="1371600" cy="384048"/>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Lab</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SOFTWARE DESIGN / MODULAR ARCHITECTURE</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Architecture: two adapters, one rulebook</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Use layered modules and shared services to avoid duplicated business rules.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NiceGUI UI and FastAPI call the same AuthService / RailService; PostgreSQL commits durable state.</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web.py • admin_ui.py • api.py • services.py • db.py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06 / 35</a:t>
            </a:r>
          </a:p>
        </p:txBody>
      </p:sp>
      <p:cxnSp>
        <p:nvCxnSpPr>
          <p:cNvPr id="20" name="Connector 19"/>
          <p:cNvCxnSpPr/>
          <p:nvPr/>
        </p:nvCxnSpPr>
        <p:spPr>
          <a:xfrm>
            <a:off x="2505456" y="2898648"/>
            <a:ext cx="0" cy="27432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505456" y="3895344"/>
            <a:ext cx="3575304" cy="347472"/>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714232" y="2898648"/>
            <a:ext cx="0" cy="27432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6080760" y="3895344"/>
            <a:ext cx="2633472" cy="347472"/>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188720" y="1965960"/>
            <a:ext cx="2642616" cy="923544"/>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353312" y="2103120"/>
            <a:ext cx="2313432" cy="365760"/>
          </a:xfrm>
          <a:prstGeom prst="rect">
            <a:avLst/>
          </a:prstGeom>
          <a:noFill/>
        </p:spPr>
        <p:txBody>
          <a:bodyPr wrap="square" lIns="0" tIns="0" rIns="0" bIns="0" anchor="t">
            <a:noAutofit/>
          </a:bodyPr>
          <a:lstStyle/>
          <a:p>
            <a:pPr algn="l">
              <a:lnSpc>
                <a:spcPct val="110000"/>
              </a:lnSpc>
              <a:spcBef>
                <a:spcPts val="0"/>
              </a:spcBef>
              <a:spcAft>
                <a:spcPts val="0"/>
              </a:spcAft>
            </a:pPr>
            <a:r>
              <a:rPr sz="2000" b="1">
                <a:solidFill>
                  <a:srgbClr val="22263B"/>
                </a:solidFill>
                <a:latin typeface="Arial"/>
              </a:rPr>
              <a:t>Traveler / Admin UI</a:t>
            </a:r>
          </a:p>
        </p:txBody>
      </p:sp>
      <p:sp>
        <p:nvSpPr>
          <p:cNvPr id="26" name="TextBox 25"/>
          <p:cNvSpPr txBox="1"/>
          <p:nvPr/>
        </p:nvSpPr>
        <p:spPr>
          <a:xfrm>
            <a:off x="1353312" y="2551176"/>
            <a:ext cx="2313432" cy="283464"/>
          </a:xfrm>
          <a:prstGeom prst="rect">
            <a:avLst/>
          </a:prstGeom>
          <a:noFill/>
        </p:spPr>
        <p:txBody>
          <a:bodyPr wrap="square" lIns="0" tIns="0" rIns="0" bIns="0" anchor="t">
            <a:noAutofit/>
          </a:bodyPr>
          <a:lstStyle/>
          <a:p>
            <a:pPr algn="l">
              <a:lnSpc>
                <a:spcPct val="110000"/>
              </a:lnSpc>
              <a:spcBef>
                <a:spcPts val="0"/>
              </a:spcBef>
              <a:spcAft>
                <a:spcPts val="0"/>
              </a:spcAft>
            </a:pPr>
            <a:r>
              <a:rPr sz="1580" b="0">
                <a:solidFill>
                  <a:srgbClr val="50576D"/>
                </a:solidFill>
                <a:latin typeface="Arial"/>
              </a:rPr>
              <a:t>NiceGUI • Python-authored</a:t>
            </a:r>
          </a:p>
        </p:txBody>
      </p:sp>
      <p:sp>
        <p:nvSpPr>
          <p:cNvPr id="27" name="Rounded Rectangle 26"/>
          <p:cNvSpPr/>
          <p:nvPr/>
        </p:nvSpPr>
        <p:spPr>
          <a:xfrm>
            <a:off x="7397496" y="1965960"/>
            <a:ext cx="2642616" cy="923544"/>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562088" y="2103120"/>
            <a:ext cx="2313432" cy="365760"/>
          </a:xfrm>
          <a:prstGeom prst="rect">
            <a:avLst/>
          </a:prstGeom>
          <a:noFill/>
        </p:spPr>
        <p:txBody>
          <a:bodyPr wrap="square" lIns="0" tIns="0" rIns="0" bIns="0" anchor="t">
            <a:noAutofit/>
          </a:bodyPr>
          <a:lstStyle/>
          <a:p>
            <a:pPr algn="l">
              <a:lnSpc>
                <a:spcPct val="110000"/>
              </a:lnSpc>
              <a:spcBef>
                <a:spcPts val="0"/>
              </a:spcBef>
              <a:spcAft>
                <a:spcPts val="0"/>
              </a:spcAft>
            </a:pPr>
            <a:r>
              <a:rPr sz="2000" b="1">
                <a:solidFill>
                  <a:srgbClr val="22263B"/>
                </a:solidFill>
                <a:latin typeface="Arial"/>
              </a:rPr>
              <a:t>REST clients</a:t>
            </a:r>
          </a:p>
        </p:txBody>
      </p:sp>
      <p:sp>
        <p:nvSpPr>
          <p:cNvPr id="29" name="TextBox 28"/>
          <p:cNvSpPr txBox="1"/>
          <p:nvPr/>
        </p:nvSpPr>
        <p:spPr>
          <a:xfrm>
            <a:off x="7562088" y="2551176"/>
            <a:ext cx="2313432" cy="283464"/>
          </a:xfrm>
          <a:prstGeom prst="rect">
            <a:avLst/>
          </a:prstGeom>
          <a:noFill/>
        </p:spPr>
        <p:txBody>
          <a:bodyPr wrap="square" lIns="0" tIns="0" rIns="0" bIns="0" anchor="t">
            <a:noAutofit/>
          </a:bodyPr>
          <a:lstStyle/>
          <a:p>
            <a:pPr algn="l">
              <a:lnSpc>
                <a:spcPct val="110000"/>
              </a:lnSpc>
              <a:spcBef>
                <a:spcPts val="0"/>
              </a:spcBef>
              <a:spcAft>
                <a:spcPts val="0"/>
              </a:spcAft>
            </a:pPr>
            <a:r>
              <a:rPr sz="1580" b="0">
                <a:solidFill>
                  <a:srgbClr val="50576D"/>
                </a:solidFill>
                <a:latin typeface="Arial"/>
              </a:rPr>
              <a:t>FastAPI • bearer token</a:t>
            </a:r>
          </a:p>
        </p:txBody>
      </p:sp>
      <p:sp>
        <p:nvSpPr>
          <p:cNvPr id="30" name="Rounded Rectangle 29"/>
          <p:cNvSpPr/>
          <p:nvPr/>
        </p:nvSpPr>
        <p:spPr>
          <a:xfrm>
            <a:off x="1188720" y="3191256"/>
            <a:ext cx="2642616" cy="740664"/>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353312" y="3328416"/>
            <a:ext cx="2313432" cy="365760"/>
          </a:xfrm>
          <a:prstGeom prst="rect">
            <a:avLst/>
          </a:prstGeom>
          <a:noFill/>
        </p:spPr>
        <p:txBody>
          <a:bodyPr wrap="square" lIns="0" tIns="0" rIns="0" bIns="0" anchor="t">
            <a:noAutofit/>
          </a:bodyPr>
          <a:lstStyle/>
          <a:p>
            <a:pPr algn="l">
              <a:lnSpc>
                <a:spcPct val="110000"/>
              </a:lnSpc>
              <a:spcBef>
                <a:spcPts val="0"/>
              </a:spcBef>
              <a:spcAft>
                <a:spcPts val="0"/>
              </a:spcAft>
            </a:pPr>
            <a:r>
              <a:rPr sz="2000" b="1">
                <a:solidFill>
                  <a:srgbClr val="22263B"/>
                </a:solidFill>
                <a:latin typeface="Arial"/>
              </a:rPr>
              <a:t>UI adapters</a:t>
            </a:r>
          </a:p>
        </p:txBody>
      </p:sp>
      <p:sp>
        <p:nvSpPr>
          <p:cNvPr id="32" name="Rounded Rectangle 31"/>
          <p:cNvSpPr/>
          <p:nvPr/>
        </p:nvSpPr>
        <p:spPr>
          <a:xfrm>
            <a:off x="7397496" y="3191256"/>
            <a:ext cx="2642616" cy="740664"/>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562088" y="3328416"/>
            <a:ext cx="2313432" cy="365760"/>
          </a:xfrm>
          <a:prstGeom prst="rect">
            <a:avLst/>
          </a:prstGeom>
          <a:noFill/>
        </p:spPr>
        <p:txBody>
          <a:bodyPr wrap="square" lIns="0" tIns="0" rIns="0" bIns="0" anchor="t">
            <a:noAutofit/>
          </a:bodyPr>
          <a:lstStyle/>
          <a:p>
            <a:pPr algn="l">
              <a:lnSpc>
                <a:spcPct val="110000"/>
              </a:lnSpc>
              <a:spcBef>
                <a:spcPts val="0"/>
              </a:spcBef>
              <a:spcAft>
                <a:spcPts val="0"/>
              </a:spcAft>
            </a:pPr>
            <a:r>
              <a:rPr sz="2000" b="1">
                <a:solidFill>
                  <a:srgbClr val="22263B"/>
                </a:solidFill>
                <a:latin typeface="Arial"/>
              </a:rPr>
              <a:t>API adapters</a:t>
            </a:r>
          </a:p>
        </p:txBody>
      </p:sp>
      <p:sp>
        <p:nvSpPr>
          <p:cNvPr id="34" name="Rounded Rectangle 33"/>
          <p:cNvSpPr/>
          <p:nvPr/>
        </p:nvSpPr>
        <p:spPr>
          <a:xfrm>
            <a:off x="3803904" y="4279392"/>
            <a:ext cx="4581144" cy="594360"/>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0" y="4448556"/>
            <a:ext cx="4315968" cy="320040"/>
          </a:xfrm>
          <a:prstGeom prst="rect">
            <a:avLst/>
          </a:prstGeom>
          <a:noFill/>
        </p:spPr>
        <p:txBody>
          <a:bodyPr wrap="square" lIns="0" tIns="0" rIns="0" bIns="0" anchor="t">
            <a:noAutofit/>
          </a:bodyPr>
          <a:lstStyle/>
          <a:p>
            <a:pPr algn="ctr">
              <a:lnSpc>
                <a:spcPct val="110000"/>
              </a:lnSpc>
              <a:spcBef>
                <a:spcPts val="0"/>
              </a:spcBef>
              <a:spcAft>
                <a:spcPts val="0"/>
              </a:spcAft>
            </a:pPr>
            <a:r>
              <a:rPr sz="2310" b="1">
                <a:solidFill>
                  <a:srgbClr val="FFFFFF"/>
                </a:solidFill>
                <a:latin typeface="Arial"/>
              </a:rPr>
              <a:t>AuthService  +  RailService</a:t>
            </a:r>
          </a:p>
        </p:txBody>
      </p:sp>
      <p:cxnSp>
        <p:nvCxnSpPr>
          <p:cNvPr id="36" name="Connector 35"/>
          <p:cNvCxnSpPr/>
          <p:nvPr/>
        </p:nvCxnSpPr>
        <p:spPr>
          <a:xfrm flipH="1">
            <a:off x="2459736" y="4882896"/>
            <a:ext cx="3630168" cy="292608"/>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089904" y="4882896"/>
            <a:ext cx="64008" cy="292608"/>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089904" y="4882896"/>
            <a:ext cx="3758184" cy="292608"/>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1042415" y="5202936"/>
            <a:ext cx="2834640" cy="557784"/>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152143" y="5276088"/>
            <a:ext cx="2624328" cy="201168"/>
          </a:xfrm>
          <a:prstGeom prst="rect">
            <a:avLst/>
          </a:prstGeom>
          <a:noFill/>
        </p:spPr>
        <p:txBody>
          <a:bodyPr wrap="square" lIns="0" tIns="0" rIns="0" bIns="0" anchor="t">
            <a:noAutofit/>
          </a:bodyPr>
          <a:lstStyle/>
          <a:p>
            <a:pPr algn="ctr">
              <a:lnSpc>
                <a:spcPct val="110000"/>
              </a:lnSpc>
              <a:spcBef>
                <a:spcPts val="0"/>
              </a:spcBef>
              <a:spcAft>
                <a:spcPts val="0"/>
              </a:spcAft>
            </a:pPr>
            <a:r>
              <a:rPr sz="1660" b="1">
                <a:solidFill>
                  <a:srgbClr val="7450DF"/>
                </a:solidFill>
                <a:latin typeface="Arial"/>
              </a:rPr>
              <a:t>Strategies</a:t>
            </a:r>
          </a:p>
        </p:txBody>
      </p:sp>
      <p:sp>
        <p:nvSpPr>
          <p:cNvPr id="41" name="TextBox 40"/>
          <p:cNvSpPr txBox="1"/>
          <p:nvPr/>
        </p:nvSpPr>
        <p:spPr>
          <a:xfrm>
            <a:off x="1152143" y="5536692"/>
            <a:ext cx="2624328" cy="164592"/>
          </a:xfrm>
          <a:prstGeom prst="rect">
            <a:avLst/>
          </a:prstGeom>
          <a:noFill/>
        </p:spPr>
        <p:txBody>
          <a:bodyPr wrap="square" lIns="0" tIns="0" rIns="0" bIns="0" anchor="t">
            <a:noAutofit/>
          </a:bodyPr>
          <a:lstStyle/>
          <a:p>
            <a:pPr algn="ctr">
              <a:lnSpc>
                <a:spcPct val="110000"/>
              </a:lnSpc>
              <a:spcBef>
                <a:spcPts val="0"/>
              </a:spcBef>
              <a:spcAft>
                <a:spcPts val="0"/>
              </a:spcAft>
            </a:pPr>
            <a:r>
              <a:rPr sz="1180" b="0">
                <a:solidFill>
                  <a:srgbClr val="50576D"/>
                </a:solidFill>
                <a:latin typeface="Arial"/>
              </a:rPr>
              <a:t>FarePolicy / DemoPayment</a:t>
            </a:r>
          </a:p>
        </p:txBody>
      </p:sp>
      <p:sp>
        <p:nvSpPr>
          <p:cNvPr id="42" name="Rounded Rectangle 41"/>
          <p:cNvSpPr/>
          <p:nvPr/>
        </p:nvSpPr>
        <p:spPr>
          <a:xfrm>
            <a:off x="4736592" y="5202936"/>
            <a:ext cx="2834640" cy="557784"/>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846320" y="5276088"/>
            <a:ext cx="2624328" cy="201168"/>
          </a:xfrm>
          <a:prstGeom prst="rect">
            <a:avLst/>
          </a:prstGeom>
          <a:noFill/>
        </p:spPr>
        <p:txBody>
          <a:bodyPr wrap="square" lIns="0" tIns="0" rIns="0" bIns="0" anchor="t">
            <a:noAutofit/>
          </a:bodyPr>
          <a:lstStyle/>
          <a:p>
            <a:pPr algn="ctr">
              <a:lnSpc>
                <a:spcPct val="110000"/>
              </a:lnSpc>
              <a:spcBef>
                <a:spcPts val="0"/>
              </a:spcBef>
              <a:spcAft>
                <a:spcPts val="0"/>
              </a:spcAft>
            </a:pPr>
            <a:r>
              <a:rPr sz="1660" b="1">
                <a:solidFill>
                  <a:srgbClr val="7450DF"/>
                </a:solidFill>
                <a:latin typeface="Arial"/>
              </a:rPr>
              <a:t>Pure algorithms</a:t>
            </a:r>
          </a:p>
        </p:txBody>
      </p:sp>
      <p:sp>
        <p:nvSpPr>
          <p:cNvPr id="44" name="TextBox 43"/>
          <p:cNvSpPr txBox="1"/>
          <p:nvPr/>
        </p:nvSpPr>
        <p:spPr>
          <a:xfrm>
            <a:off x="4846320" y="5536692"/>
            <a:ext cx="2624328" cy="164592"/>
          </a:xfrm>
          <a:prstGeom prst="rect">
            <a:avLst/>
          </a:prstGeom>
          <a:noFill/>
        </p:spPr>
        <p:txBody>
          <a:bodyPr wrap="square" lIns="0" tIns="0" rIns="0" bIns="0" anchor="t">
            <a:noAutofit/>
          </a:bodyPr>
          <a:lstStyle/>
          <a:p>
            <a:pPr algn="ctr">
              <a:lnSpc>
                <a:spcPct val="110000"/>
              </a:lnSpc>
              <a:spcBef>
                <a:spcPts val="0"/>
              </a:spcBef>
              <a:spcAft>
                <a:spcPts val="0"/>
              </a:spcAft>
            </a:pPr>
            <a:r>
              <a:rPr sz="1180" b="0">
                <a:solidFill>
                  <a:srgbClr val="50576D"/>
                </a:solidFill>
                <a:latin typeface="Arial"/>
              </a:rPr>
              <a:t>Sort / seats / routes</a:t>
            </a:r>
          </a:p>
        </p:txBody>
      </p:sp>
      <p:sp>
        <p:nvSpPr>
          <p:cNvPr id="45" name="Rounded Rectangle 44"/>
          <p:cNvSpPr/>
          <p:nvPr/>
        </p:nvSpPr>
        <p:spPr>
          <a:xfrm>
            <a:off x="8430768" y="5202936"/>
            <a:ext cx="2834640" cy="557784"/>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540496" y="5276088"/>
            <a:ext cx="2624328" cy="201168"/>
          </a:xfrm>
          <a:prstGeom prst="rect">
            <a:avLst/>
          </a:prstGeom>
          <a:noFill/>
        </p:spPr>
        <p:txBody>
          <a:bodyPr wrap="square" lIns="0" tIns="0" rIns="0" bIns="0" anchor="t">
            <a:noAutofit/>
          </a:bodyPr>
          <a:lstStyle/>
          <a:p>
            <a:pPr algn="ctr">
              <a:lnSpc>
                <a:spcPct val="110000"/>
              </a:lnSpc>
              <a:spcBef>
                <a:spcPts val="0"/>
              </a:spcBef>
              <a:spcAft>
                <a:spcPts val="0"/>
              </a:spcAft>
            </a:pPr>
            <a:r>
              <a:rPr sz="1660" b="1">
                <a:solidFill>
                  <a:srgbClr val="7450DF"/>
                </a:solidFill>
                <a:latin typeface="Arial"/>
              </a:rPr>
              <a:t>Database</a:t>
            </a:r>
          </a:p>
        </p:txBody>
      </p:sp>
      <p:sp>
        <p:nvSpPr>
          <p:cNvPr id="47" name="TextBox 46"/>
          <p:cNvSpPr txBox="1"/>
          <p:nvPr/>
        </p:nvSpPr>
        <p:spPr>
          <a:xfrm>
            <a:off x="8540496" y="5536692"/>
            <a:ext cx="2624328" cy="164592"/>
          </a:xfrm>
          <a:prstGeom prst="rect">
            <a:avLst/>
          </a:prstGeom>
          <a:noFill/>
        </p:spPr>
        <p:txBody>
          <a:bodyPr wrap="square" lIns="0" tIns="0" rIns="0" bIns="0" anchor="t">
            <a:noAutofit/>
          </a:bodyPr>
          <a:lstStyle/>
          <a:p>
            <a:pPr algn="ctr">
              <a:lnSpc>
                <a:spcPct val="110000"/>
              </a:lnSpc>
              <a:spcBef>
                <a:spcPts val="0"/>
              </a:spcBef>
              <a:spcAft>
                <a:spcPts val="0"/>
              </a:spcAft>
            </a:pPr>
            <a:r>
              <a:rPr sz="1180" b="0">
                <a:solidFill>
                  <a:srgbClr val="50576D"/>
                </a:solidFill>
                <a:latin typeface="Arial"/>
              </a:rPr>
              <a:t>SQLAlchemy → PostgreSQL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SOFTWARE DESIGN / RELATIONAL DATA</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Database: model ownership, not counters</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Use related entities, composite identities and database constraints to preserve invariants.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SeatAssignment PK = (train, date, class, seat); no second committed row can own that same seat identity.</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models.py • db.py • CTPDB</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07 / 35</a:t>
            </a:r>
          </a:p>
        </p:txBody>
      </p:sp>
      <p:cxnSp>
        <p:nvCxnSpPr>
          <p:cNvPr id="20" name="Connector 19"/>
          <p:cNvCxnSpPr/>
          <p:nvPr/>
        </p:nvCxnSpPr>
        <p:spPr>
          <a:xfrm>
            <a:off x="2807208" y="2734056"/>
            <a:ext cx="1490472"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739128" y="2734056"/>
            <a:ext cx="1737360"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495544" y="3236976"/>
            <a:ext cx="0" cy="585215"/>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729216" y="3236976"/>
            <a:ext cx="0" cy="585215"/>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6748272" y="4343400"/>
            <a:ext cx="1719072" cy="0"/>
          </a:xfrm>
          <a:prstGeom prst="line">
            <a:avLst/>
          </a:prstGeom>
          <a:ln w="22860">
            <a:solidFill>
              <a:srgbClr val="7450DF"/>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76072" y="2048256"/>
            <a:ext cx="2240280" cy="127101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0664" y="2185416"/>
            <a:ext cx="1911096" cy="365760"/>
          </a:xfrm>
          <a:prstGeom prst="rect">
            <a:avLst/>
          </a:prstGeom>
          <a:noFill/>
        </p:spPr>
        <p:txBody>
          <a:bodyPr wrap="square" lIns="0" tIns="0" rIns="0" bIns="0" anchor="t">
            <a:noAutofit/>
          </a:bodyPr>
          <a:lstStyle/>
          <a:p>
            <a:pPr algn="l">
              <a:lnSpc>
                <a:spcPct val="110000"/>
              </a:lnSpc>
              <a:spcBef>
                <a:spcPts val="0"/>
              </a:spcBef>
              <a:spcAft>
                <a:spcPts val="0"/>
              </a:spcAft>
            </a:pPr>
            <a:r>
              <a:rPr sz="2000" b="1">
                <a:solidFill>
                  <a:srgbClr val="22263B"/>
                </a:solidFill>
                <a:latin typeface="Arial"/>
              </a:rPr>
              <a:t>User</a:t>
            </a:r>
          </a:p>
        </p:txBody>
      </p:sp>
      <p:sp>
        <p:nvSpPr>
          <p:cNvPr id="27" name="TextBox 26"/>
          <p:cNvSpPr txBox="1"/>
          <p:nvPr/>
        </p:nvSpPr>
        <p:spPr>
          <a:xfrm>
            <a:off x="740664" y="2633472"/>
            <a:ext cx="1911096" cy="630936"/>
          </a:xfrm>
          <a:prstGeom prst="rect">
            <a:avLst/>
          </a:prstGeom>
          <a:noFill/>
        </p:spPr>
        <p:txBody>
          <a:bodyPr wrap="square" lIns="0" tIns="0" rIns="0" bIns="0" anchor="t">
            <a:noAutofit/>
          </a:bodyPr>
          <a:lstStyle/>
          <a:p>
            <a:pPr algn="l">
              <a:lnSpc>
                <a:spcPct val="110000"/>
              </a:lnSpc>
              <a:spcBef>
                <a:spcPts val="0"/>
              </a:spcBef>
              <a:spcAft>
                <a:spcPts val="0"/>
              </a:spcAft>
            </a:pPr>
            <a:r>
              <a:rPr sz="1639" b="0">
                <a:solidFill>
                  <a:srgbClr val="50576D"/>
                </a:solidFill>
                <a:latin typeface="Arial"/>
              </a:rPr>
              <a:t>id • email • role</a:t>
            </a:r>
          </a:p>
          <a:p>
            <a:pPr algn="l">
              <a:lnSpc>
                <a:spcPct val="110000"/>
              </a:lnSpc>
              <a:spcBef>
                <a:spcPts val="0"/>
              </a:spcBef>
              <a:spcAft>
                <a:spcPts val="0"/>
              </a:spcAft>
            </a:pPr>
            <a:r>
              <a:rPr sz="1639" b="0">
                <a:solidFill>
                  <a:srgbClr val="50576D"/>
                </a:solidFill>
                <a:latin typeface="Arial"/>
              </a:rPr>
              <a:t>password_hash</a:t>
            </a:r>
          </a:p>
        </p:txBody>
      </p:sp>
      <p:sp>
        <p:nvSpPr>
          <p:cNvPr id="28" name="Rounded Rectangle 27"/>
          <p:cNvSpPr/>
          <p:nvPr/>
        </p:nvSpPr>
        <p:spPr>
          <a:xfrm>
            <a:off x="4288536" y="2048256"/>
            <a:ext cx="2450592" cy="127101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53128" y="2185416"/>
            <a:ext cx="2121408" cy="365760"/>
          </a:xfrm>
          <a:prstGeom prst="rect">
            <a:avLst/>
          </a:prstGeom>
          <a:noFill/>
        </p:spPr>
        <p:txBody>
          <a:bodyPr wrap="square" lIns="0" tIns="0" rIns="0" bIns="0" anchor="t">
            <a:noAutofit/>
          </a:bodyPr>
          <a:lstStyle/>
          <a:p>
            <a:pPr algn="l">
              <a:lnSpc>
                <a:spcPct val="110000"/>
              </a:lnSpc>
              <a:spcBef>
                <a:spcPts val="0"/>
              </a:spcBef>
              <a:spcAft>
                <a:spcPts val="0"/>
              </a:spcAft>
            </a:pPr>
            <a:r>
              <a:rPr sz="2000" b="1">
                <a:solidFill>
                  <a:srgbClr val="22263B"/>
                </a:solidFill>
                <a:latin typeface="Arial"/>
              </a:rPr>
              <a:t>Booking</a:t>
            </a:r>
          </a:p>
        </p:txBody>
      </p:sp>
      <p:sp>
        <p:nvSpPr>
          <p:cNvPr id="30" name="TextBox 29"/>
          <p:cNvSpPr txBox="1"/>
          <p:nvPr/>
        </p:nvSpPr>
        <p:spPr>
          <a:xfrm>
            <a:off x="4453128" y="2633472"/>
            <a:ext cx="2121408" cy="630936"/>
          </a:xfrm>
          <a:prstGeom prst="rect">
            <a:avLst/>
          </a:prstGeom>
          <a:noFill/>
        </p:spPr>
        <p:txBody>
          <a:bodyPr wrap="square" lIns="0" tIns="0" rIns="0" bIns="0" anchor="t">
            <a:noAutofit/>
          </a:bodyPr>
          <a:lstStyle/>
          <a:p>
            <a:pPr algn="l">
              <a:lnSpc>
                <a:spcPct val="110000"/>
              </a:lnSpc>
              <a:spcBef>
                <a:spcPts val="0"/>
              </a:spcBef>
              <a:spcAft>
                <a:spcPts val="0"/>
              </a:spcAft>
            </a:pPr>
            <a:r>
              <a:rPr sz="1639" b="0">
                <a:solidFill>
                  <a:srgbClr val="50576D"/>
                </a:solidFill>
                <a:latin typeface="Arial"/>
              </a:rPr>
              <a:t>PNR • user • train</a:t>
            </a:r>
          </a:p>
          <a:p>
            <a:pPr algn="l">
              <a:lnSpc>
                <a:spcPct val="110000"/>
              </a:lnSpc>
              <a:spcBef>
                <a:spcPts val="0"/>
              </a:spcBef>
              <a:spcAft>
                <a:spcPts val="0"/>
              </a:spcAft>
            </a:pPr>
            <a:r>
              <a:rPr sz="1639" b="0">
                <a:solidFill>
                  <a:srgbClr val="50576D"/>
                </a:solidFill>
                <a:latin typeface="Arial"/>
              </a:rPr>
              <a:t>class • fare • state</a:t>
            </a:r>
          </a:p>
        </p:txBody>
      </p:sp>
      <p:sp>
        <p:nvSpPr>
          <p:cNvPr id="31" name="Rounded Rectangle 30"/>
          <p:cNvSpPr/>
          <p:nvPr/>
        </p:nvSpPr>
        <p:spPr>
          <a:xfrm>
            <a:off x="8476488" y="2048256"/>
            <a:ext cx="2532888" cy="127101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641080" y="2185416"/>
            <a:ext cx="2203704" cy="365760"/>
          </a:xfrm>
          <a:prstGeom prst="rect">
            <a:avLst/>
          </a:prstGeom>
          <a:noFill/>
        </p:spPr>
        <p:txBody>
          <a:bodyPr wrap="square" lIns="0" tIns="0" rIns="0" bIns="0" anchor="t">
            <a:noAutofit/>
          </a:bodyPr>
          <a:lstStyle/>
          <a:p>
            <a:pPr algn="l">
              <a:lnSpc>
                <a:spcPct val="110000"/>
              </a:lnSpc>
              <a:spcBef>
                <a:spcPts val="0"/>
              </a:spcBef>
              <a:spcAft>
                <a:spcPts val="0"/>
              </a:spcAft>
            </a:pPr>
            <a:r>
              <a:rPr sz="2000" b="1">
                <a:solidFill>
                  <a:srgbClr val="22263B"/>
                </a:solidFill>
                <a:latin typeface="Arial"/>
              </a:rPr>
              <a:t>Train</a:t>
            </a:r>
          </a:p>
        </p:txBody>
      </p:sp>
      <p:sp>
        <p:nvSpPr>
          <p:cNvPr id="33" name="TextBox 32"/>
          <p:cNvSpPr txBox="1"/>
          <p:nvPr/>
        </p:nvSpPr>
        <p:spPr>
          <a:xfrm>
            <a:off x="8641080" y="2633472"/>
            <a:ext cx="2203704" cy="630936"/>
          </a:xfrm>
          <a:prstGeom prst="rect">
            <a:avLst/>
          </a:prstGeom>
          <a:noFill/>
        </p:spPr>
        <p:txBody>
          <a:bodyPr wrap="square" lIns="0" tIns="0" rIns="0" bIns="0" anchor="t">
            <a:noAutofit/>
          </a:bodyPr>
          <a:lstStyle/>
          <a:p>
            <a:pPr algn="l">
              <a:lnSpc>
                <a:spcPct val="110000"/>
              </a:lnSpc>
              <a:spcBef>
                <a:spcPts val="0"/>
              </a:spcBef>
              <a:spcAft>
                <a:spcPts val="0"/>
              </a:spcAft>
            </a:pPr>
            <a:r>
              <a:rPr sz="1639" b="0">
                <a:solidFill>
                  <a:srgbClr val="50576D"/>
                </a:solidFill>
                <a:latin typeface="Arial"/>
              </a:rPr>
              <a:t>number • route</a:t>
            </a:r>
          </a:p>
          <a:p>
            <a:pPr algn="l">
              <a:lnSpc>
                <a:spcPct val="110000"/>
              </a:lnSpc>
              <a:spcBef>
                <a:spcPts val="0"/>
              </a:spcBef>
              <a:spcAft>
                <a:spcPts val="0"/>
              </a:spcAft>
            </a:pPr>
            <a:r>
              <a:rPr sz="1639" b="0">
                <a:solidFill>
                  <a:srgbClr val="50576D"/>
                </a:solidFill>
                <a:latin typeface="Arial"/>
              </a:rPr>
              <a:t>times • capacity</a:t>
            </a:r>
          </a:p>
        </p:txBody>
      </p:sp>
      <p:sp>
        <p:nvSpPr>
          <p:cNvPr id="34" name="Rounded Rectangle 33"/>
          <p:cNvSpPr/>
          <p:nvPr/>
        </p:nvSpPr>
        <p:spPr>
          <a:xfrm>
            <a:off x="4288536" y="3794760"/>
            <a:ext cx="2450592" cy="1371600"/>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53128" y="3931920"/>
            <a:ext cx="2121408" cy="365760"/>
          </a:xfrm>
          <a:prstGeom prst="rect">
            <a:avLst/>
          </a:prstGeom>
          <a:noFill/>
        </p:spPr>
        <p:txBody>
          <a:bodyPr wrap="square" lIns="0" tIns="0" rIns="0" bIns="0" anchor="t">
            <a:noAutofit/>
          </a:bodyPr>
          <a:lstStyle/>
          <a:p>
            <a:pPr algn="l">
              <a:lnSpc>
                <a:spcPct val="110000"/>
              </a:lnSpc>
              <a:spcBef>
                <a:spcPts val="0"/>
              </a:spcBef>
              <a:spcAft>
                <a:spcPts val="0"/>
              </a:spcAft>
            </a:pPr>
            <a:r>
              <a:rPr sz="1960" b="1">
                <a:solidFill>
                  <a:srgbClr val="389778"/>
                </a:solidFill>
                <a:latin typeface="Arial"/>
              </a:rPr>
              <a:t>SeatAssignment</a:t>
            </a:r>
          </a:p>
        </p:txBody>
      </p:sp>
      <p:sp>
        <p:nvSpPr>
          <p:cNvPr id="36" name="TextBox 35"/>
          <p:cNvSpPr txBox="1"/>
          <p:nvPr/>
        </p:nvSpPr>
        <p:spPr>
          <a:xfrm>
            <a:off x="4453128" y="4379976"/>
            <a:ext cx="2121408" cy="731520"/>
          </a:xfrm>
          <a:prstGeom prst="rect">
            <a:avLst/>
          </a:prstGeom>
          <a:noFill/>
        </p:spPr>
        <p:txBody>
          <a:bodyPr wrap="square" lIns="0" tIns="0" rIns="0" bIns="0" anchor="t">
            <a:noAutofit/>
          </a:bodyPr>
          <a:lstStyle/>
          <a:p>
            <a:pPr algn="l">
              <a:lnSpc>
                <a:spcPct val="110000"/>
              </a:lnSpc>
              <a:spcBef>
                <a:spcPts val="0"/>
              </a:spcBef>
              <a:spcAft>
                <a:spcPts val="0"/>
              </a:spcAft>
            </a:pPr>
            <a:r>
              <a:rPr sz="1700" b="0">
                <a:solidFill>
                  <a:srgbClr val="50576D"/>
                </a:solidFill>
                <a:latin typeface="Arial"/>
              </a:rPr>
              <a:t>train + date + class</a:t>
            </a:r>
          </a:p>
          <a:p>
            <a:pPr algn="l">
              <a:lnSpc>
                <a:spcPct val="110000"/>
              </a:lnSpc>
              <a:spcBef>
                <a:spcPts val="0"/>
              </a:spcBef>
              <a:spcAft>
                <a:spcPts val="0"/>
              </a:spcAft>
            </a:pPr>
            <a:r>
              <a:rPr sz="1700" b="0">
                <a:solidFill>
                  <a:srgbClr val="50576D"/>
                </a:solidFill>
                <a:latin typeface="Arial"/>
              </a:rPr>
              <a:t>+ seat → owner</a:t>
            </a:r>
          </a:p>
        </p:txBody>
      </p:sp>
      <p:sp>
        <p:nvSpPr>
          <p:cNvPr id="37" name="Rounded Rectangle 36"/>
          <p:cNvSpPr/>
          <p:nvPr/>
        </p:nvSpPr>
        <p:spPr>
          <a:xfrm>
            <a:off x="8476488" y="3794760"/>
            <a:ext cx="2532888" cy="1371600"/>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641080" y="3931920"/>
            <a:ext cx="2203704" cy="365760"/>
          </a:xfrm>
          <a:prstGeom prst="rect">
            <a:avLst/>
          </a:prstGeom>
          <a:noFill/>
        </p:spPr>
        <p:txBody>
          <a:bodyPr wrap="square" lIns="0" tIns="0" rIns="0" bIns="0" anchor="t">
            <a:noAutofit/>
          </a:bodyPr>
          <a:lstStyle/>
          <a:p>
            <a:pPr algn="l">
              <a:lnSpc>
                <a:spcPct val="110000"/>
              </a:lnSpc>
              <a:spcBef>
                <a:spcPts val="0"/>
              </a:spcBef>
              <a:spcAft>
                <a:spcPts val="0"/>
              </a:spcAft>
            </a:pPr>
            <a:r>
              <a:rPr sz="2000" b="1">
                <a:solidFill>
                  <a:srgbClr val="22263B"/>
                </a:solidFill>
                <a:latin typeface="Arial"/>
              </a:rPr>
              <a:t>Inventory</a:t>
            </a:r>
          </a:p>
        </p:txBody>
      </p:sp>
      <p:sp>
        <p:nvSpPr>
          <p:cNvPr id="39" name="TextBox 38"/>
          <p:cNvSpPr txBox="1"/>
          <p:nvPr/>
        </p:nvSpPr>
        <p:spPr>
          <a:xfrm>
            <a:off x="8641080" y="4379976"/>
            <a:ext cx="2203704" cy="731520"/>
          </a:xfrm>
          <a:prstGeom prst="rect">
            <a:avLst/>
          </a:prstGeom>
          <a:noFill/>
        </p:spPr>
        <p:txBody>
          <a:bodyPr wrap="square" lIns="0" tIns="0" rIns="0" bIns="0" anchor="t">
            <a:noAutofit/>
          </a:bodyPr>
          <a:lstStyle/>
          <a:p>
            <a:pPr algn="l">
              <a:lnSpc>
                <a:spcPct val="110000"/>
              </a:lnSpc>
              <a:spcBef>
                <a:spcPts val="0"/>
              </a:spcBef>
              <a:spcAft>
                <a:spcPts val="0"/>
              </a:spcAft>
            </a:pPr>
            <a:r>
              <a:rPr sz="1700" b="0">
                <a:solidFill>
                  <a:srgbClr val="50576D"/>
                </a:solidFill>
                <a:latin typeface="Arial"/>
              </a:rPr>
              <a:t>train + date + class</a:t>
            </a:r>
          </a:p>
          <a:p>
            <a:pPr algn="l">
              <a:lnSpc>
                <a:spcPct val="110000"/>
              </a:lnSpc>
              <a:spcBef>
                <a:spcPts val="0"/>
              </a:spcBef>
              <a:spcAft>
                <a:spcPts val="0"/>
              </a:spcAft>
            </a:pPr>
            <a:r>
              <a:rPr sz="1700" b="0">
                <a:solidFill>
                  <a:srgbClr val="50576D"/>
                </a:solidFill>
                <a:latin typeface="Arial"/>
              </a:rPr>
              <a:t>capacity</a:t>
            </a:r>
          </a:p>
        </p:txBody>
      </p:sp>
      <p:sp>
        <p:nvSpPr>
          <p:cNvPr id="40" name="Rounded Rectangle 39"/>
          <p:cNvSpPr/>
          <p:nvPr/>
        </p:nvSpPr>
        <p:spPr>
          <a:xfrm>
            <a:off x="576072" y="3794760"/>
            <a:ext cx="2240280" cy="1371600"/>
          </a:xfrm>
          <a:prstGeom prst="roundRect">
            <a:avLst>
              <a:gd name="adj" fmla="val 14000"/>
            </a:avLst>
          </a:prstGeom>
          <a:solidFill>
            <a:srgbClr val="F8F8FB"/>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40664" y="3931920"/>
            <a:ext cx="1911096" cy="365760"/>
          </a:xfrm>
          <a:prstGeom prst="rect">
            <a:avLst/>
          </a:prstGeom>
          <a:noFill/>
        </p:spPr>
        <p:txBody>
          <a:bodyPr wrap="square" lIns="0" tIns="0" rIns="0" bIns="0" anchor="t">
            <a:noAutofit/>
          </a:bodyPr>
          <a:lstStyle/>
          <a:p>
            <a:pPr algn="l">
              <a:lnSpc>
                <a:spcPct val="110000"/>
              </a:lnSpc>
              <a:spcBef>
                <a:spcPts val="0"/>
              </a:spcBef>
              <a:spcAft>
                <a:spcPts val="0"/>
              </a:spcAft>
            </a:pPr>
            <a:r>
              <a:rPr sz="2000" b="1">
                <a:solidFill>
                  <a:srgbClr val="22263B"/>
                </a:solidFill>
                <a:latin typeface="Arial"/>
              </a:rPr>
              <a:t>Other tables</a:t>
            </a:r>
          </a:p>
        </p:txBody>
      </p:sp>
      <p:sp>
        <p:nvSpPr>
          <p:cNvPr id="42" name="TextBox 41"/>
          <p:cNvSpPr txBox="1"/>
          <p:nvPr/>
        </p:nvSpPr>
        <p:spPr>
          <a:xfrm>
            <a:off x="740664" y="4379976"/>
            <a:ext cx="1911096" cy="731520"/>
          </a:xfrm>
          <a:prstGeom prst="rect">
            <a:avLst/>
          </a:prstGeom>
          <a:noFill/>
        </p:spPr>
        <p:txBody>
          <a:bodyPr wrap="square" lIns="0" tIns="0" rIns="0" bIns="0" anchor="t">
            <a:noAutofit/>
          </a:bodyPr>
          <a:lstStyle/>
          <a:p>
            <a:pPr algn="l">
              <a:lnSpc>
                <a:spcPct val="110000"/>
              </a:lnSpc>
              <a:spcBef>
                <a:spcPts val="0"/>
              </a:spcBef>
              <a:spcAft>
                <a:spcPts val="0"/>
              </a:spcAft>
            </a:pPr>
            <a:r>
              <a:rPr sz="1639" b="0">
                <a:solidFill>
                  <a:srgbClr val="50576D"/>
                </a:solidFill>
                <a:latin typeface="Arial"/>
              </a:rPr>
              <a:t>Station • Session</a:t>
            </a:r>
          </a:p>
          <a:p>
            <a:pPr algn="l">
              <a:lnSpc>
                <a:spcPct val="110000"/>
              </a:lnSpc>
              <a:spcBef>
                <a:spcPts val="0"/>
              </a:spcBef>
              <a:spcAft>
                <a:spcPts val="0"/>
              </a:spcAft>
            </a:pPr>
            <a:r>
              <a:rPr sz="1639" b="0">
                <a:solidFill>
                  <a:srgbClr val="50576D"/>
                </a:solidFill>
                <a:latin typeface="Arial"/>
              </a:rPr>
              <a:t>AuditEvent</a:t>
            </a:r>
          </a:p>
        </p:txBody>
      </p:sp>
      <p:sp>
        <p:nvSpPr>
          <p:cNvPr id="43" name="TextBox 42"/>
          <p:cNvSpPr txBox="1"/>
          <p:nvPr/>
        </p:nvSpPr>
        <p:spPr>
          <a:xfrm>
            <a:off x="3154680" y="2231136"/>
            <a:ext cx="886968" cy="265176"/>
          </a:xfrm>
          <a:prstGeom prst="rect">
            <a:avLst/>
          </a:prstGeom>
          <a:noFill/>
        </p:spPr>
        <p:txBody>
          <a:bodyPr wrap="square" lIns="0" tIns="0" rIns="0" bIns="0" anchor="t">
            <a:noAutofit/>
          </a:bodyPr>
          <a:lstStyle/>
          <a:p>
            <a:pPr algn="ctr">
              <a:lnSpc>
                <a:spcPct val="110000"/>
              </a:lnSpc>
              <a:spcBef>
                <a:spcPts val="0"/>
              </a:spcBef>
              <a:spcAft>
                <a:spcPts val="0"/>
              </a:spcAft>
            </a:pPr>
            <a:r>
              <a:rPr sz="1480" b="0">
                <a:solidFill>
                  <a:srgbClr val="7450DF"/>
                </a:solidFill>
                <a:latin typeface="Arial"/>
              </a:rPr>
              <a:t>1 : N</a:t>
            </a:r>
          </a:p>
        </p:txBody>
      </p:sp>
      <p:sp>
        <p:nvSpPr>
          <p:cNvPr id="44" name="TextBox 43"/>
          <p:cNvSpPr txBox="1"/>
          <p:nvPr/>
        </p:nvSpPr>
        <p:spPr>
          <a:xfrm>
            <a:off x="7159752" y="2231136"/>
            <a:ext cx="914400" cy="265176"/>
          </a:xfrm>
          <a:prstGeom prst="rect">
            <a:avLst/>
          </a:prstGeom>
          <a:noFill/>
        </p:spPr>
        <p:txBody>
          <a:bodyPr wrap="square" lIns="0" tIns="0" rIns="0" bIns="0" anchor="t">
            <a:noAutofit/>
          </a:bodyPr>
          <a:lstStyle/>
          <a:p>
            <a:pPr algn="ctr">
              <a:lnSpc>
                <a:spcPct val="110000"/>
              </a:lnSpc>
              <a:spcBef>
                <a:spcPts val="0"/>
              </a:spcBef>
              <a:spcAft>
                <a:spcPts val="0"/>
              </a:spcAft>
            </a:pPr>
            <a:r>
              <a:rPr sz="1480" b="0">
                <a:solidFill>
                  <a:srgbClr val="7450DF"/>
                </a:solidFill>
                <a:latin typeface="Arial"/>
              </a:rPr>
              <a:t>N : 1</a:t>
            </a:r>
          </a:p>
        </p:txBody>
      </p:sp>
      <p:sp>
        <p:nvSpPr>
          <p:cNvPr id="45" name="TextBox 44"/>
          <p:cNvSpPr txBox="1"/>
          <p:nvPr/>
        </p:nvSpPr>
        <p:spPr>
          <a:xfrm>
            <a:off x="3520440" y="5468112"/>
            <a:ext cx="7845552" cy="210312"/>
          </a:xfrm>
          <a:prstGeom prst="rect">
            <a:avLst/>
          </a:prstGeom>
          <a:noFill/>
        </p:spPr>
        <p:txBody>
          <a:bodyPr wrap="square" lIns="0" tIns="0" rIns="0" bIns="0" anchor="t">
            <a:noAutofit/>
          </a:bodyPr>
          <a:lstStyle/>
          <a:p>
            <a:pPr algn="ctr">
              <a:lnSpc>
                <a:spcPct val="110000"/>
              </a:lnSpc>
              <a:spcBef>
                <a:spcPts val="0"/>
              </a:spcBef>
              <a:spcAft>
                <a:spcPts val="0"/>
              </a:spcAft>
            </a:pPr>
            <a:r>
              <a:rPr sz="1270" b="0">
                <a:solidFill>
                  <a:srgbClr val="7F869A"/>
                </a:solidFill>
                <a:latin typeface="Arial"/>
              </a:rPr>
              <a:t>Solid: selected foreign keys   •   Dashed: logical inventory grouping, not a composite FK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ALGORITHM 01 / DIVIDE-AND-CONQUER</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Divide &amp; conquer: split, sort, merge</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Recursively split a list, then stably merge sorted halves.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merge_sort ranks train results by fare, duration or departure; equal keys keep their original order.</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algorithms.py: merge_sort • search() • test_algorithms.py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08 / 35</a:t>
            </a:r>
          </a:p>
        </p:txBody>
      </p:sp>
      <p:cxnSp>
        <p:nvCxnSpPr>
          <p:cNvPr id="20" name="Connector 19"/>
          <p:cNvCxnSpPr/>
          <p:nvPr/>
        </p:nvCxnSpPr>
        <p:spPr>
          <a:xfrm flipH="1">
            <a:off x="3749039" y="2478024"/>
            <a:ext cx="2345437" cy="420624"/>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094476" y="2478024"/>
            <a:ext cx="2318004" cy="420624"/>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2395728" y="3456432"/>
            <a:ext cx="1353311" cy="41148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749039" y="3456432"/>
            <a:ext cx="1371601" cy="41148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7242048" y="3456432"/>
            <a:ext cx="1170432" cy="41148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412480" y="3456432"/>
            <a:ext cx="1572768" cy="41148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395728" y="4352544"/>
            <a:ext cx="1353311" cy="347472"/>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3749039" y="4352544"/>
            <a:ext cx="1371601" cy="347472"/>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242048" y="4352544"/>
            <a:ext cx="1170432" cy="347472"/>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8412480" y="4352544"/>
            <a:ext cx="1572768" cy="347472"/>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749039" y="5184648"/>
            <a:ext cx="2345437" cy="219456"/>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6094476" y="5184648"/>
            <a:ext cx="2318004" cy="219456"/>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4261104" y="1938528"/>
            <a:ext cx="3666744" cy="557784"/>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261104" y="2075688"/>
            <a:ext cx="3666744" cy="292608"/>
          </a:xfrm>
          <a:prstGeom prst="rect">
            <a:avLst/>
          </a:prstGeom>
          <a:noFill/>
        </p:spPr>
        <p:txBody>
          <a:bodyPr wrap="square" lIns="0" tIns="0" rIns="0" bIns="0" anchor="t">
            <a:noAutofit/>
          </a:bodyPr>
          <a:lstStyle/>
          <a:p>
            <a:pPr algn="ctr">
              <a:lnSpc>
                <a:spcPct val="110000"/>
              </a:lnSpc>
              <a:spcBef>
                <a:spcPts val="0"/>
              </a:spcBef>
              <a:spcAft>
                <a:spcPts val="0"/>
              </a:spcAft>
            </a:pPr>
            <a:r>
              <a:rPr sz="2300" b="1">
                <a:solidFill>
                  <a:srgbClr val="FFFFFF"/>
                </a:solidFill>
                <a:latin typeface="Arial"/>
              </a:rPr>
              <a:t>[950, 595, 450, 780]</a:t>
            </a:r>
          </a:p>
        </p:txBody>
      </p:sp>
      <p:sp>
        <p:nvSpPr>
          <p:cNvPr id="34" name="Rounded Rectangle 33"/>
          <p:cNvSpPr/>
          <p:nvPr/>
        </p:nvSpPr>
        <p:spPr>
          <a:xfrm>
            <a:off x="2395728" y="2916936"/>
            <a:ext cx="2724912" cy="54864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395728" y="3054096"/>
            <a:ext cx="2724912" cy="265176"/>
          </a:xfrm>
          <a:prstGeom prst="rect">
            <a:avLst/>
          </a:prstGeom>
          <a:noFill/>
        </p:spPr>
        <p:txBody>
          <a:bodyPr wrap="square" lIns="0" tIns="0" rIns="0" bIns="0" anchor="t">
            <a:noAutofit/>
          </a:bodyPr>
          <a:lstStyle/>
          <a:p>
            <a:pPr algn="ctr">
              <a:lnSpc>
                <a:spcPct val="110000"/>
              </a:lnSpc>
              <a:spcBef>
                <a:spcPts val="0"/>
              </a:spcBef>
              <a:spcAft>
                <a:spcPts val="0"/>
              </a:spcAft>
            </a:pPr>
            <a:r>
              <a:rPr sz="2120" b="1">
                <a:solidFill>
                  <a:srgbClr val="7450DF"/>
                </a:solidFill>
                <a:latin typeface="Arial"/>
              </a:rPr>
              <a:t>[950, 595]</a:t>
            </a:r>
          </a:p>
        </p:txBody>
      </p:sp>
      <p:sp>
        <p:nvSpPr>
          <p:cNvPr id="36" name="Rounded Rectangle 35"/>
          <p:cNvSpPr/>
          <p:nvPr/>
        </p:nvSpPr>
        <p:spPr>
          <a:xfrm>
            <a:off x="7059168" y="2916936"/>
            <a:ext cx="2724912" cy="54864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059168" y="3054096"/>
            <a:ext cx="2724912" cy="265176"/>
          </a:xfrm>
          <a:prstGeom prst="rect">
            <a:avLst/>
          </a:prstGeom>
          <a:noFill/>
        </p:spPr>
        <p:txBody>
          <a:bodyPr wrap="square" lIns="0" tIns="0" rIns="0" bIns="0" anchor="t">
            <a:noAutofit/>
          </a:bodyPr>
          <a:lstStyle/>
          <a:p>
            <a:pPr algn="ctr">
              <a:lnSpc>
                <a:spcPct val="110000"/>
              </a:lnSpc>
              <a:spcBef>
                <a:spcPts val="0"/>
              </a:spcBef>
              <a:spcAft>
                <a:spcPts val="0"/>
              </a:spcAft>
            </a:pPr>
            <a:r>
              <a:rPr sz="2120" b="1">
                <a:solidFill>
                  <a:srgbClr val="7450DF"/>
                </a:solidFill>
                <a:latin typeface="Arial"/>
              </a:rPr>
              <a:t>[450, 780]</a:t>
            </a:r>
          </a:p>
        </p:txBody>
      </p:sp>
      <p:sp>
        <p:nvSpPr>
          <p:cNvPr id="38" name="Rounded Rectangle 37"/>
          <p:cNvSpPr/>
          <p:nvPr/>
        </p:nvSpPr>
        <p:spPr>
          <a:xfrm>
            <a:off x="1810512" y="3886200"/>
            <a:ext cx="1179576" cy="475488"/>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892807" y="3936491"/>
            <a:ext cx="1014984" cy="411480"/>
          </a:xfrm>
          <a:prstGeom prst="rect">
            <a:avLst/>
          </a:prstGeom>
          <a:noFill/>
        </p:spPr>
        <p:txBody>
          <a:bodyPr wrap="square" lIns="0" tIns="0" rIns="0" bIns="0" anchor="t">
            <a:noAutofit/>
          </a:bodyPr>
          <a:lstStyle/>
          <a:p>
            <a:pPr algn="ctr">
              <a:lnSpc>
                <a:spcPct val="110000"/>
              </a:lnSpc>
              <a:spcBef>
                <a:spcPts val="0"/>
              </a:spcBef>
              <a:spcAft>
                <a:spcPts val="0"/>
              </a:spcAft>
            </a:pPr>
            <a:r>
              <a:rPr sz="2100" b="1">
                <a:solidFill>
                  <a:srgbClr val="7450DF"/>
                </a:solidFill>
                <a:latin typeface="Arial"/>
              </a:rPr>
              <a:t>950</a:t>
            </a:r>
          </a:p>
        </p:txBody>
      </p:sp>
      <p:sp>
        <p:nvSpPr>
          <p:cNvPr id="40" name="Rounded Rectangle 39"/>
          <p:cNvSpPr/>
          <p:nvPr/>
        </p:nvSpPr>
        <p:spPr>
          <a:xfrm>
            <a:off x="4526280" y="3886200"/>
            <a:ext cx="1179576" cy="475488"/>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608576" y="3936491"/>
            <a:ext cx="1014984" cy="411480"/>
          </a:xfrm>
          <a:prstGeom prst="rect">
            <a:avLst/>
          </a:prstGeom>
          <a:noFill/>
        </p:spPr>
        <p:txBody>
          <a:bodyPr wrap="square" lIns="0" tIns="0" rIns="0" bIns="0" anchor="t">
            <a:noAutofit/>
          </a:bodyPr>
          <a:lstStyle/>
          <a:p>
            <a:pPr algn="ctr">
              <a:lnSpc>
                <a:spcPct val="110000"/>
              </a:lnSpc>
              <a:spcBef>
                <a:spcPts val="0"/>
              </a:spcBef>
              <a:spcAft>
                <a:spcPts val="0"/>
              </a:spcAft>
            </a:pPr>
            <a:r>
              <a:rPr sz="2100" b="1">
                <a:solidFill>
                  <a:srgbClr val="7450DF"/>
                </a:solidFill>
                <a:latin typeface="Arial"/>
              </a:rPr>
              <a:t>595</a:t>
            </a:r>
          </a:p>
        </p:txBody>
      </p:sp>
      <p:sp>
        <p:nvSpPr>
          <p:cNvPr id="42" name="Rounded Rectangle 41"/>
          <p:cNvSpPr/>
          <p:nvPr/>
        </p:nvSpPr>
        <p:spPr>
          <a:xfrm>
            <a:off x="6638544" y="3886200"/>
            <a:ext cx="1179576" cy="475488"/>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720840" y="3936491"/>
            <a:ext cx="1014984" cy="411480"/>
          </a:xfrm>
          <a:prstGeom prst="rect">
            <a:avLst/>
          </a:prstGeom>
          <a:noFill/>
        </p:spPr>
        <p:txBody>
          <a:bodyPr wrap="square" lIns="0" tIns="0" rIns="0" bIns="0" anchor="t">
            <a:noAutofit/>
          </a:bodyPr>
          <a:lstStyle/>
          <a:p>
            <a:pPr algn="ctr">
              <a:lnSpc>
                <a:spcPct val="110000"/>
              </a:lnSpc>
              <a:spcBef>
                <a:spcPts val="0"/>
              </a:spcBef>
              <a:spcAft>
                <a:spcPts val="0"/>
              </a:spcAft>
            </a:pPr>
            <a:r>
              <a:rPr sz="2100" b="1">
                <a:solidFill>
                  <a:srgbClr val="7450DF"/>
                </a:solidFill>
                <a:latin typeface="Arial"/>
              </a:rPr>
              <a:t>450</a:t>
            </a:r>
          </a:p>
        </p:txBody>
      </p:sp>
      <p:sp>
        <p:nvSpPr>
          <p:cNvPr id="44" name="Rounded Rectangle 43"/>
          <p:cNvSpPr/>
          <p:nvPr/>
        </p:nvSpPr>
        <p:spPr>
          <a:xfrm>
            <a:off x="9381744" y="3886200"/>
            <a:ext cx="1179576" cy="475488"/>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464040" y="3936491"/>
            <a:ext cx="1014984" cy="411480"/>
          </a:xfrm>
          <a:prstGeom prst="rect">
            <a:avLst/>
          </a:prstGeom>
          <a:noFill/>
        </p:spPr>
        <p:txBody>
          <a:bodyPr wrap="square" lIns="0" tIns="0" rIns="0" bIns="0" anchor="t">
            <a:noAutofit/>
          </a:bodyPr>
          <a:lstStyle/>
          <a:p>
            <a:pPr algn="ctr">
              <a:lnSpc>
                <a:spcPct val="110000"/>
              </a:lnSpc>
              <a:spcBef>
                <a:spcPts val="0"/>
              </a:spcBef>
              <a:spcAft>
                <a:spcPts val="0"/>
              </a:spcAft>
            </a:pPr>
            <a:r>
              <a:rPr sz="2100" b="1">
                <a:solidFill>
                  <a:srgbClr val="7450DF"/>
                </a:solidFill>
                <a:latin typeface="Arial"/>
              </a:rPr>
              <a:t>780</a:t>
            </a:r>
          </a:p>
        </p:txBody>
      </p:sp>
      <p:sp>
        <p:nvSpPr>
          <p:cNvPr id="46" name="Rounded Rectangle 45"/>
          <p:cNvSpPr/>
          <p:nvPr/>
        </p:nvSpPr>
        <p:spPr>
          <a:xfrm>
            <a:off x="2395728" y="4709160"/>
            <a:ext cx="2724912" cy="484632"/>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395728" y="4823460"/>
            <a:ext cx="2724912" cy="265176"/>
          </a:xfrm>
          <a:prstGeom prst="rect">
            <a:avLst/>
          </a:prstGeom>
          <a:noFill/>
        </p:spPr>
        <p:txBody>
          <a:bodyPr wrap="square" lIns="0" tIns="0" rIns="0" bIns="0" anchor="t">
            <a:noAutofit/>
          </a:bodyPr>
          <a:lstStyle/>
          <a:p>
            <a:pPr algn="ctr">
              <a:lnSpc>
                <a:spcPct val="110000"/>
              </a:lnSpc>
              <a:spcBef>
                <a:spcPts val="0"/>
              </a:spcBef>
              <a:spcAft>
                <a:spcPts val="0"/>
              </a:spcAft>
            </a:pPr>
            <a:r>
              <a:rPr sz="2050" b="1">
                <a:solidFill>
                  <a:srgbClr val="389778"/>
                </a:solidFill>
                <a:latin typeface="Arial"/>
              </a:rPr>
              <a:t>[595, 950]</a:t>
            </a:r>
          </a:p>
        </p:txBody>
      </p:sp>
      <p:sp>
        <p:nvSpPr>
          <p:cNvPr id="48" name="Rounded Rectangle 47"/>
          <p:cNvSpPr/>
          <p:nvPr/>
        </p:nvSpPr>
        <p:spPr>
          <a:xfrm>
            <a:off x="7059168" y="4709160"/>
            <a:ext cx="2724912" cy="484632"/>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059168" y="4823460"/>
            <a:ext cx="2724912" cy="265176"/>
          </a:xfrm>
          <a:prstGeom prst="rect">
            <a:avLst/>
          </a:prstGeom>
          <a:noFill/>
        </p:spPr>
        <p:txBody>
          <a:bodyPr wrap="square" lIns="0" tIns="0" rIns="0" bIns="0" anchor="t">
            <a:noAutofit/>
          </a:bodyPr>
          <a:lstStyle/>
          <a:p>
            <a:pPr algn="ctr">
              <a:lnSpc>
                <a:spcPct val="110000"/>
              </a:lnSpc>
              <a:spcBef>
                <a:spcPts val="0"/>
              </a:spcBef>
              <a:spcAft>
                <a:spcPts val="0"/>
              </a:spcAft>
            </a:pPr>
            <a:r>
              <a:rPr sz="2050" b="1">
                <a:solidFill>
                  <a:srgbClr val="389778"/>
                </a:solidFill>
                <a:latin typeface="Arial"/>
              </a:rPr>
              <a:t>[450, 780]</a:t>
            </a:r>
          </a:p>
        </p:txBody>
      </p:sp>
      <p:sp>
        <p:nvSpPr>
          <p:cNvPr id="50" name="Rounded Rectangle 49"/>
          <p:cNvSpPr/>
          <p:nvPr/>
        </p:nvSpPr>
        <p:spPr>
          <a:xfrm>
            <a:off x="4078224" y="5431536"/>
            <a:ext cx="4032504" cy="41148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078224" y="5509260"/>
            <a:ext cx="4032504" cy="228600"/>
          </a:xfrm>
          <a:prstGeom prst="rect">
            <a:avLst/>
          </a:prstGeom>
          <a:noFill/>
        </p:spPr>
        <p:txBody>
          <a:bodyPr wrap="square" lIns="0" tIns="0" rIns="0" bIns="0" anchor="t">
            <a:noAutofit/>
          </a:bodyPr>
          <a:lstStyle/>
          <a:p>
            <a:pPr algn="ctr">
              <a:lnSpc>
                <a:spcPct val="110000"/>
              </a:lnSpc>
              <a:spcBef>
                <a:spcPts val="0"/>
              </a:spcBef>
              <a:spcAft>
                <a:spcPts val="0"/>
              </a:spcAft>
            </a:pPr>
            <a:r>
              <a:rPr sz="2020" b="1">
                <a:solidFill>
                  <a:srgbClr val="389778"/>
                </a:solidFill>
                <a:latin typeface="Arial"/>
              </a:rPr>
              <a:t>[450, 595, 780, 950]</a:t>
            </a:r>
          </a:p>
        </p:txBody>
      </p:sp>
      <p:sp>
        <p:nvSpPr>
          <p:cNvPr id="52" name="Rounded Rectangle 51"/>
          <p:cNvSpPr/>
          <p:nvPr/>
        </p:nvSpPr>
        <p:spPr>
          <a:xfrm>
            <a:off x="585216" y="1965960"/>
            <a:ext cx="1883664" cy="329184"/>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67512" y="2016252"/>
            <a:ext cx="1719072" cy="265176"/>
          </a:xfrm>
          <a:prstGeom prst="rect">
            <a:avLst/>
          </a:prstGeom>
          <a:noFill/>
        </p:spPr>
        <p:txBody>
          <a:bodyPr wrap="square" lIns="0" tIns="0" rIns="0" bIns="0" anchor="t">
            <a:noAutofit/>
          </a:bodyPr>
          <a:lstStyle/>
          <a:p>
            <a:pPr algn="ctr">
              <a:lnSpc>
                <a:spcPct val="110000"/>
              </a:lnSpc>
              <a:spcBef>
                <a:spcPts val="0"/>
              </a:spcBef>
              <a:spcAft>
                <a:spcPts val="0"/>
              </a:spcAft>
            </a:pPr>
            <a:r>
              <a:rPr sz="1250" b="1">
                <a:solidFill>
                  <a:srgbClr val="389778"/>
                </a:solidFill>
                <a:latin typeface="Arial"/>
              </a:rPr>
              <a:t>TIME  O(n log n)</a:t>
            </a:r>
          </a:p>
        </p:txBody>
      </p:sp>
      <p:sp>
        <p:nvSpPr>
          <p:cNvPr id="54" name="Rounded Rectangle 53"/>
          <p:cNvSpPr/>
          <p:nvPr/>
        </p:nvSpPr>
        <p:spPr>
          <a:xfrm>
            <a:off x="9628632" y="1965960"/>
            <a:ext cx="1901952" cy="329184"/>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710928" y="2016252"/>
            <a:ext cx="1737360" cy="265176"/>
          </a:xfrm>
          <a:prstGeom prst="rect">
            <a:avLst/>
          </a:prstGeom>
          <a:noFill/>
        </p:spPr>
        <p:txBody>
          <a:bodyPr wrap="square" lIns="0" tIns="0" rIns="0" bIns="0" anchor="t">
            <a:noAutofit/>
          </a:bodyPr>
          <a:lstStyle/>
          <a:p>
            <a:pPr algn="ctr">
              <a:lnSpc>
                <a:spcPct val="110000"/>
              </a:lnSpc>
              <a:spcBef>
                <a:spcPts val="0"/>
              </a:spcBef>
              <a:spcAft>
                <a:spcPts val="0"/>
              </a:spcAft>
            </a:pPr>
            <a:r>
              <a:rPr sz="1250" b="1">
                <a:solidFill>
                  <a:srgbClr val="389778"/>
                </a:solidFill>
                <a:latin typeface="Arial"/>
              </a:rPr>
              <a:t>SPACE  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ALGORITHM 02 / GREEDY</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Greedy: settle the cheapest frontier</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Dijkstra expands the lowest cumulative base-fare candidate; all edge costs must be non-negative.</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greedy_route uses heapq + distances + predecessors in the Route Explorer; it does not book connections.</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algorithms.py: greedy_route • example_graph() tests</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09 / 35</a:t>
            </a:r>
          </a:p>
        </p:txBody>
      </p:sp>
      <p:cxnSp>
        <p:nvCxnSpPr>
          <p:cNvPr id="20" name="Connector 19"/>
          <p:cNvCxnSpPr/>
          <p:nvPr/>
        </p:nvCxnSpPr>
        <p:spPr>
          <a:xfrm flipV="1">
            <a:off x="1641251" y="2888163"/>
            <a:ext cx="1719265" cy="789065"/>
          </a:xfrm>
          <a:prstGeom prst="line">
            <a:avLst/>
          </a:prstGeom>
          <a:ln w="3302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726180" y="3122675"/>
            <a:ext cx="0" cy="1417320"/>
          </a:xfrm>
          <a:prstGeom prst="line">
            <a:avLst/>
          </a:prstGeom>
          <a:ln w="3302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4093839" y="4008456"/>
            <a:ext cx="1733561" cy="770471"/>
          </a:xfrm>
          <a:prstGeom prst="line">
            <a:avLst/>
          </a:prstGeom>
          <a:ln w="3302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642793" y="4009472"/>
            <a:ext cx="1716181" cy="768439"/>
          </a:xfrm>
          <a:prstGeom prst="line">
            <a:avLst/>
          </a:prstGeom>
          <a:ln w="20320">
            <a:solidFill>
              <a:srgbClr val="C7BEDD"/>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092313" y="2887134"/>
            <a:ext cx="1736613" cy="791123"/>
          </a:xfrm>
          <a:prstGeom prst="line">
            <a:avLst/>
          </a:prstGeom>
          <a:ln w="20320">
            <a:solidFill>
              <a:srgbClr val="C7BED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923544" y="3493008"/>
            <a:ext cx="704088" cy="704088"/>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3544" y="3529584"/>
            <a:ext cx="704088" cy="658368"/>
          </a:xfrm>
          <a:prstGeom prst="rect">
            <a:avLst/>
          </a:prstGeom>
          <a:noFill/>
        </p:spPr>
        <p:txBody>
          <a:bodyPr wrap="square" lIns="0" tIns="0" rIns="0" bIns="0" anchor="ctr">
            <a:noAutofit/>
          </a:bodyPr>
          <a:lstStyle/>
          <a:p>
            <a:pPr algn="ctr">
              <a:lnSpc>
                <a:spcPct val="110000"/>
              </a:lnSpc>
              <a:spcBef>
                <a:spcPts val="0"/>
              </a:spcBef>
              <a:spcAft>
                <a:spcPts val="0"/>
              </a:spcAft>
            </a:pPr>
            <a:r>
              <a:rPr sz="2400" b="1">
                <a:solidFill>
                  <a:srgbClr val="FFFFFF"/>
                </a:solidFill>
                <a:latin typeface="Arial"/>
              </a:rPr>
              <a:t>A</a:t>
            </a:r>
          </a:p>
        </p:txBody>
      </p:sp>
      <p:sp>
        <p:nvSpPr>
          <p:cNvPr id="27" name="Oval 26"/>
          <p:cNvSpPr/>
          <p:nvPr/>
        </p:nvSpPr>
        <p:spPr>
          <a:xfrm>
            <a:off x="3374136" y="2368296"/>
            <a:ext cx="704088" cy="704088"/>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374136" y="2404872"/>
            <a:ext cx="704088" cy="658368"/>
          </a:xfrm>
          <a:prstGeom prst="rect">
            <a:avLst/>
          </a:prstGeom>
          <a:noFill/>
        </p:spPr>
        <p:txBody>
          <a:bodyPr wrap="square" lIns="0" tIns="0" rIns="0" bIns="0" anchor="ctr">
            <a:noAutofit/>
          </a:bodyPr>
          <a:lstStyle/>
          <a:p>
            <a:pPr algn="ctr">
              <a:lnSpc>
                <a:spcPct val="110000"/>
              </a:lnSpc>
              <a:spcBef>
                <a:spcPts val="0"/>
              </a:spcBef>
              <a:spcAft>
                <a:spcPts val="0"/>
              </a:spcAft>
            </a:pPr>
            <a:r>
              <a:rPr sz="2400" b="1">
                <a:solidFill>
                  <a:srgbClr val="FFFFFF"/>
                </a:solidFill>
                <a:latin typeface="Arial"/>
              </a:rPr>
              <a:t>B</a:t>
            </a:r>
          </a:p>
        </p:txBody>
      </p:sp>
      <p:sp>
        <p:nvSpPr>
          <p:cNvPr id="29" name="Oval 28"/>
          <p:cNvSpPr/>
          <p:nvPr/>
        </p:nvSpPr>
        <p:spPr>
          <a:xfrm>
            <a:off x="3374136" y="4590288"/>
            <a:ext cx="704088" cy="704088"/>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374136" y="4626864"/>
            <a:ext cx="704088" cy="658368"/>
          </a:xfrm>
          <a:prstGeom prst="rect">
            <a:avLst/>
          </a:prstGeom>
          <a:noFill/>
        </p:spPr>
        <p:txBody>
          <a:bodyPr wrap="square" lIns="0" tIns="0" rIns="0" bIns="0" anchor="ctr">
            <a:noAutofit/>
          </a:bodyPr>
          <a:lstStyle/>
          <a:p>
            <a:pPr algn="ctr">
              <a:lnSpc>
                <a:spcPct val="110000"/>
              </a:lnSpc>
              <a:spcBef>
                <a:spcPts val="0"/>
              </a:spcBef>
              <a:spcAft>
                <a:spcPts val="0"/>
              </a:spcAft>
            </a:pPr>
            <a:r>
              <a:rPr sz="2400" b="1">
                <a:solidFill>
                  <a:srgbClr val="FFFFFF"/>
                </a:solidFill>
                <a:latin typeface="Arial"/>
              </a:rPr>
              <a:t>C</a:t>
            </a:r>
          </a:p>
        </p:txBody>
      </p:sp>
      <p:sp>
        <p:nvSpPr>
          <p:cNvPr id="31" name="Oval 30"/>
          <p:cNvSpPr/>
          <p:nvPr/>
        </p:nvSpPr>
        <p:spPr>
          <a:xfrm>
            <a:off x="5843016" y="3493008"/>
            <a:ext cx="704088" cy="704088"/>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843016" y="3529584"/>
            <a:ext cx="704088" cy="658368"/>
          </a:xfrm>
          <a:prstGeom prst="rect">
            <a:avLst/>
          </a:prstGeom>
          <a:noFill/>
        </p:spPr>
        <p:txBody>
          <a:bodyPr wrap="square" lIns="0" tIns="0" rIns="0" bIns="0" anchor="ctr">
            <a:noAutofit/>
          </a:bodyPr>
          <a:lstStyle/>
          <a:p>
            <a:pPr algn="ctr">
              <a:lnSpc>
                <a:spcPct val="110000"/>
              </a:lnSpc>
              <a:spcBef>
                <a:spcPts val="0"/>
              </a:spcBef>
              <a:spcAft>
                <a:spcPts val="0"/>
              </a:spcAft>
            </a:pPr>
            <a:r>
              <a:rPr sz="2400" b="1">
                <a:solidFill>
                  <a:srgbClr val="FFFFFF"/>
                </a:solidFill>
                <a:latin typeface="Arial"/>
              </a:rPr>
              <a:t>D</a:t>
            </a:r>
          </a:p>
        </p:txBody>
      </p:sp>
      <p:sp>
        <p:nvSpPr>
          <p:cNvPr id="33" name="Rounded Rectangle 32"/>
          <p:cNvSpPr/>
          <p:nvPr/>
        </p:nvSpPr>
        <p:spPr>
          <a:xfrm>
            <a:off x="1837943" y="2834640"/>
            <a:ext cx="594360" cy="292608"/>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920239" y="2884932"/>
            <a:ext cx="429768" cy="228600"/>
          </a:xfrm>
          <a:prstGeom prst="rect">
            <a:avLst/>
          </a:prstGeom>
          <a:noFill/>
        </p:spPr>
        <p:txBody>
          <a:bodyPr wrap="square" lIns="0" tIns="0" rIns="0" bIns="0" anchor="t">
            <a:noAutofit/>
          </a:bodyPr>
          <a:lstStyle/>
          <a:p>
            <a:pPr algn="ctr">
              <a:lnSpc>
                <a:spcPct val="110000"/>
              </a:lnSpc>
              <a:spcBef>
                <a:spcPts val="0"/>
              </a:spcBef>
              <a:spcAft>
                <a:spcPts val="0"/>
              </a:spcAft>
            </a:pPr>
            <a:r>
              <a:rPr sz="1500" b="1">
                <a:solidFill>
                  <a:srgbClr val="389778"/>
                </a:solidFill>
                <a:latin typeface="Arial"/>
              </a:rPr>
              <a:t>100</a:t>
            </a:r>
          </a:p>
        </p:txBody>
      </p:sp>
      <p:sp>
        <p:nvSpPr>
          <p:cNvPr id="35" name="Rounded Rectangle 34"/>
          <p:cNvSpPr/>
          <p:nvPr/>
        </p:nvSpPr>
        <p:spPr>
          <a:xfrm>
            <a:off x="4123944" y="3502152"/>
            <a:ext cx="594360" cy="292608"/>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206240" y="3552444"/>
            <a:ext cx="429768" cy="228600"/>
          </a:xfrm>
          <a:prstGeom prst="rect">
            <a:avLst/>
          </a:prstGeom>
          <a:noFill/>
        </p:spPr>
        <p:txBody>
          <a:bodyPr wrap="square" lIns="0" tIns="0" rIns="0" bIns="0" anchor="t">
            <a:noAutofit/>
          </a:bodyPr>
          <a:lstStyle/>
          <a:p>
            <a:pPr algn="ctr">
              <a:lnSpc>
                <a:spcPct val="110000"/>
              </a:lnSpc>
              <a:spcBef>
                <a:spcPts val="0"/>
              </a:spcBef>
              <a:spcAft>
                <a:spcPts val="0"/>
              </a:spcAft>
            </a:pPr>
            <a:r>
              <a:rPr sz="1500" b="1">
                <a:solidFill>
                  <a:srgbClr val="389778"/>
                </a:solidFill>
                <a:latin typeface="Arial"/>
              </a:rPr>
              <a:t>100</a:t>
            </a:r>
          </a:p>
        </p:txBody>
      </p:sp>
      <p:sp>
        <p:nvSpPr>
          <p:cNvPr id="37" name="Rounded Rectangle 36"/>
          <p:cNvSpPr/>
          <p:nvPr/>
        </p:nvSpPr>
        <p:spPr>
          <a:xfrm>
            <a:off x="4974336" y="4398264"/>
            <a:ext cx="594360" cy="292608"/>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056632" y="4448555"/>
            <a:ext cx="429768" cy="228600"/>
          </a:xfrm>
          <a:prstGeom prst="rect">
            <a:avLst/>
          </a:prstGeom>
          <a:noFill/>
        </p:spPr>
        <p:txBody>
          <a:bodyPr wrap="square" lIns="0" tIns="0" rIns="0" bIns="0" anchor="t">
            <a:noAutofit/>
          </a:bodyPr>
          <a:lstStyle/>
          <a:p>
            <a:pPr algn="ctr">
              <a:lnSpc>
                <a:spcPct val="110000"/>
              </a:lnSpc>
              <a:spcBef>
                <a:spcPts val="0"/>
              </a:spcBef>
              <a:spcAft>
                <a:spcPts val="0"/>
              </a:spcAft>
            </a:pPr>
            <a:r>
              <a:rPr sz="1500" b="1">
                <a:solidFill>
                  <a:srgbClr val="389778"/>
                </a:solidFill>
                <a:latin typeface="Arial"/>
              </a:rPr>
              <a:t>100</a:t>
            </a:r>
          </a:p>
        </p:txBody>
      </p:sp>
      <p:sp>
        <p:nvSpPr>
          <p:cNvPr id="39" name="Rounded Rectangle 38"/>
          <p:cNvSpPr/>
          <p:nvPr/>
        </p:nvSpPr>
        <p:spPr>
          <a:xfrm>
            <a:off x="1856231" y="4434840"/>
            <a:ext cx="594360" cy="292608"/>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938527" y="4485131"/>
            <a:ext cx="429768" cy="228600"/>
          </a:xfrm>
          <a:prstGeom prst="rect">
            <a:avLst/>
          </a:prstGeom>
          <a:noFill/>
        </p:spPr>
        <p:txBody>
          <a:bodyPr wrap="square" lIns="0" tIns="0" rIns="0" bIns="0" anchor="t">
            <a:noAutofit/>
          </a:bodyPr>
          <a:lstStyle/>
          <a:p>
            <a:pPr algn="ctr">
              <a:lnSpc>
                <a:spcPct val="110000"/>
              </a:lnSpc>
              <a:spcBef>
                <a:spcPts val="0"/>
              </a:spcBef>
              <a:spcAft>
                <a:spcPts val="0"/>
              </a:spcAft>
            </a:pPr>
            <a:r>
              <a:rPr sz="1500" b="1">
                <a:solidFill>
                  <a:srgbClr val="7F869A"/>
                </a:solidFill>
                <a:latin typeface="Arial"/>
              </a:rPr>
              <a:t>250</a:t>
            </a:r>
          </a:p>
        </p:txBody>
      </p:sp>
      <p:sp>
        <p:nvSpPr>
          <p:cNvPr id="41" name="Rounded Rectangle 40"/>
          <p:cNvSpPr/>
          <p:nvPr/>
        </p:nvSpPr>
        <p:spPr>
          <a:xfrm>
            <a:off x="5047488" y="2724912"/>
            <a:ext cx="594360" cy="292608"/>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129783" y="2775204"/>
            <a:ext cx="429768" cy="228600"/>
          </a:xfrm>
          <a:prstGeom prst="rect">
            <a:avLst/>
          </a:prstGeom>
          <a:noFill/>
        </p:spPr>
        <p:txBody>
          <a:bodyPr wrap="square" lIns="0" tIns="0" rIns="0" bIns="0" anchor="t">
            <a:noAutofit/>
          </a:bodyPr>
          <a:lstStyle/>
          <a:p>
            <a:pPr algn="ctr">
              <a:lnSpc>
                <a:spcPct val="110000"/>
              </a:lnSpc>
              <a:spcBef>
                <a:spcPts val="0"/>
              </a:spcBef>
              <a:spcAft>
                <a:spcPts val="0"/>
              </a:spcAft>
            </a:pPr>
            <a:r>
              <a:rPr sz="1500" b="1">
                <a:solidFill>
                  <a:srgbClr val="7F869A"/>
                </a:solidFill>
                <a:latin typeface="Arial"/>
              </a:rPr>
              <a:t>500</a:t>
            </a:r>
          </a:p>
        </p:txBody>
      </p:sp>
      <p:sp>
        <p:nvSpPr>
          <p:cNvPr id="43" name="TextBox 42"/>
          <p:cNvSpPr txBox="1"/>
          <p:nvPr/>
        </p:nvSpPr>
        <p:spPr>
          <a:xfrm>
            <a:off x="740664" y="2011680"/>
            <a:ext cx="6126480" cy="283464"/>
          </a:xfrm>
          <a:prstGeom prst="rect">
            <a:avLst/>
          </a:prstGeom>
          <a:noFill/>
        </p:spPr>
        <p:txBody>
          <a:bodyPr wrap="square" lIns="0" tIns="0" rIns="0" bIns="0" anchor="t">
            <a:noAutofit/>
          </a:bodyPr>
          <a:lstStyle/>
          <a:p>
            <a:pPr algn="l">
              <a:lnSpc>
                <a:spcPct val="110000"/>
              </a:lnSpc>
              <a:spcBef>
                <a:spcPts val="0"/>
              </a:spcBef>
              <a:spcAft>
                <a:spcPts val="0"/>
              </a:spcAft>
            </a:pPr>
            <a:r>
              <a:rPr sz="1220" b="1">
                <a:solidFill>
                  <a:srgbClr val="7F869A"/>
                </a:solidFill>
                <a:latin typeface="Arial"/>
              </a:rPr>
              <a:t>UNIT-TEST GRAPH  /  BASE FARE (INR)</a:t>
            </a:r>
          </a:p>
        </p:txBody>
      </p:sp>
      <p:sp>
        <p:nvSpPr>
          <p:cNvPr id="44" name="Rounded Rectangle 43"/>
          <p:cNvSpPr/>
          <p:nvPr/>
        </p:nvSpPr>
        <p:spPr>
          <a:xfrm>
            <a:off x="7616952" y="1984248"/>
            <a:ext cx="3968496" cy="1170432"/>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781544" y="2121408"/>
            <a:ext cx="3639312" cy="365760"/>
          </a:xfrm>
          <a:prstGeom prst="rect">
            <a:avLst/>
          </a:prstGeom>
          <a:noFill/>
        </p:spPr>
        <p:txBody>
          <a:bodyPr wrap="square" lIns="0" tIns="0" rIns="0" bIns="0" anchor="t">
            <a:noAutofit/>
          </a:bodyPr>
          <a:lstStyle/>
          <a:p>
            <a:pPr algn="l">
              <a:lnSpc>
                <a:spcPct val="110000"/>
              </a:lnSpc>
              <a:spcBef>
                <a:spcPts val="0"/>
              </a:spcBef>
              <a:spcAft>
                <a:spcPts val="0"/>
              </a:spcAft>
            </a:pPr>
            <a:r>
              <a:rPr sz="2200" b="1">
                <a:solidFill>
                  <a:srgbClr val="389778"/>
                </a:solidFill>
                <a:latin typeface="Arial"/>
              </a:rPr>
              <a:t>Cheapest route</a:t>
            </a:r>
          </a:p>
        </p:txBody>
      </p:sp>
      <p:sp>
        <p:nvSpPr>
          <p:cNvPr id="46" name="TextBox 45"/>
          <p:cNvSpPr txBox="1"/>
          <p:nvPr/>
        </p:nvSpPr>
        <p:spPr>
          <a:xfrm>
            <a:off x="7781544" y="2569464"/>
            <a:ext cx="3639312" cy="530352"/>
          </a:xfrm>
          <a:prstGeom prst="rect">
            <a:avLst/>
          </a:prstGeom>
          <a:noFill/>
        </p:spPr>
        <p:txBody>
          <a:bodyPr wrap="square" lIns="0" tIns="0" rIns="0" bIns="0" anchor="t">
            <a:noAutofit/>
          </a:bodyPr>
          <a:lstStyle/>
          <a:p>
            <a:pPr algn="l">
              <a:lnSpc>
                <a:spcPct val="110000"/>
              </a:lnSpc>
              <a:spcBef>
                <a:spcPts val="0"/>
              </a:spcBef>
              <a:spcAft>
                <a:spcPts val="0"/>
              </a:spcAft>
            </a:pPr>
            <a:r>
              <a:rPr sz="2300" b="0">
                <a:solidFill>
                  <a:srgbClr val="50576D"/>
                </a:solidFill>
                <a:latin typeface="Arial"/>
              </a:rPr>
              <a:t>A → B → C → D</a:t>
            </a:r>
          </a:p>
        </p:txBody>
      </p:sp>
      <p:sp>
        <p:nvSpPr>
          <p:cNvPr id="47" name="Rounded Rectangle 46"/>
          <p:cNvSpPr/>
          <p:nvPr/>
        </p:nvSpPr>
        <p:spPr>
          <a:xfrm>
            <a:off x="7616952" y="3364992"/>
            <a:ext cx="1883664" cy="1133856"/>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781544" y="3520440"/>
            <a:ext cx="1554480" cy="448056"/>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389778"/>
                </a:solidFill>
                <a:latin typeface="Arial"/>
              </a:rPr>
              <a:t>300</a:t>
            </a:r>
          </a:p>
        </p:txBody>
      </p:sp>
      <p:sp>
        <p:nvSpPr>
          <p:cNvPr id="49" name="TextBox 48"/>
          <p:cNvSpPr txBox="1"/>
          <p:nvPr/>
        </p:nvSpPr>
        <p:spPr>
          <a:xfrm>
            <a:off x="7781544" y="4023360"/>
            <a:ext cx="1554480" cy="265176"/>
          </a:xfrm>
          <a:prstGeom prst="rect">
            <a:avLst/>
          </a:prstGeom>
          <a:noFill/>
        </p:spPr>
        <p:txBody>
          <a:bodyPr wrap="square" lIns="0" tIns="0" rIns="0" bIns="0" anchor="t">
            <a:noAutofit/>
          </a:bodyPr>
          <a:lstStyle/>
          <a:p>
            <a:pPr algn="l">
              <a:lnSpc>
                <a:spcPct val="110000"/>
              </a:lnSpc>
              <a:spcBef>
                <a:spcPts val="0"/>
              </a:spcBef>
              <a:spcAft>
                <a:spcPts val="0"/>
              </a:spcAft>
            </a:pPr>
            <a:r>
              <a:rPr sz="1650" b="1">
                <a:solidFill>
                  <a:srgbClr val="22263B"/>
                </a:solidFill>
                <a:latin typeface="Arial"/>
              </a:rPr>
              <a:t>total base fare</a:t>
            </a:r>
          </a:p>
        </p:txBody>
      </p:sp>
      <p:sp>
        <p:nvSpPr>
          <p:cNvPr id="50" name="Rounded Rectangle 49"/>
          <p:cNvSpPr/>
          <p:nvPr/>
        </p:nvSpPr>
        <p:spPr>
          <a:xfrm>
            <a:off x="9692640" y="3364992"/>
            <a:ext cx="1892807" cy="1133856"/>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857232" y="3520440"/>
            <a:ext cx="1563624" cy="448056"/>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7450DF"/>
                </a:solidFill>
                <a:latin typeface="Arial"/>
              </a:rPr>
              <a:t>170</a:t>
            </a:r>
          </a:p>
        </p:txBody>
      </p:sp>
      <p:sp>
        <p:nvSpPr>
          <p:cNvPr id="52" name="TextBox 51"/>
          <p:cNvSpPr txBox="1"/>
          <p:nvPr/>
        </p:nvSpPr>
        <p:spPr>
          <a:xfrm>
            <a:off x="9857232" y="4023360"/>
            <a:ext cx="1563624" cy="265176"/>
          </a:xfrm>
          <a:prstGeom prst="rect">
            <a:avLst/>
          </a:prstGeom>
          <a:noFill/>
        </p:spPr>
        <p:txBody>
          <a:bodyPr wrap="square" lIns="0" tIns="0" rIns="0" bIns="0" anchor="t">
            <a:noAutofit/>
          </a:bodyPr>
          <a:lstStyle/>
          <a:p>
            <a:pPr algn="l">
              <a:lnSpc>
                <a:spcPct val="110000"/>
              </a:lnSpc>
              <a:spcBef>
                <a:spcPts val="0"/>
              </a:spcBef>
              <a:spcAft>
                <a:spcPts val="0"/>
              </a:spcAft>
            </a:pPr>
            <a:r>
              <a:rPr sz="1650" b="1">
                <a:solidFill>
                  <a:srgbClr val="22263B"/>
                </a:solidFill>
                <a:latin typeface="Arial"/>
              </a:rPr>
              <a:t>travel minutes</a:t>
            </a:r>
          </a:p>
        </p:txBody>
      </p:sp>
      <p:sp>
        <p:nvSpPr>
          <p:cNvPr id="53" name="Rounded Rectangle 52"/>
          <p:cNvSpPr/>
          <p:nvPr/>
        </p:nvSpPr>
        <p:spPr>
          <a:xfrm>
            <a:off x="7616952" y="4681728"/>
            <a:ext cx="3968496" cy="1005840"/>
          </a:xfrm>
          <a:prstGeom prst="roundRect">
            <a:avLst>
              <a:gd name="adj" fmla="val 14000"/>
            </a:avLst>
          </a:prstGeom>
          <a:solidFill>
            <a:srgbClr val="FB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763256" y="4782312"/>
            <a:ext cx="3675887" cy="256032"/>
          </a:xfrm>
          <a:prstGeom prst="rect">
            <a:avLst/>
          </a:prstGeom>
          <a:noFill/>
        </p:spPr>
        <p:txBody>
          <a:bodyPr wrap="square" lIns="0" tIns="0" rIns="0" bIns="0" anchor="t">
            <a:noAutofit/>
          </a:bodyPr>
          <a:lstStyle/>
          <a:p>
            <a:pPr algn="l">
              <a:lnSpc>
                <a:spcPct val="110000"/>
              </a:lnSpc>
              <a:spcBef>
                <a:spcPts val="0"/>
              </a:spcBef>
              <a:spcAft>
                <a:spcPts val="0"/>
              </a:spcAft>
            </a:pPr>
            <a:r>
              <a:rPr sz="1750" b="1">
                <a:solidFill>
                  <a:srgbClr val="B97D38"/>
                </a:solidFill>
                <a:latin typeface="Arial"/>
              </a:rPr>
              <a:t>Not “cheapest next edge”</a:t>
            </a:r>
          </a:p>
        </p:txBody>
      </p:sp>
      <p:sp>
        <p:nvSpPr>
          <p:cNvPr id="55" name="TextBox 54"/>
          <p:cNvSpPr txBox="1"/>
          <p:nvPr/>
        </p:nvSpPr>
        <p:spPr>
          <a:xfrm>
            <a:off x="7763256" y="5166360"/>
            <a:ext cx="3675887" cy="448056"/>
          </a:xfrm>
          <a:prstGeom prst="rect">
            <a:avLst/>
          </a:prstGeom>
          <a:noFill/>
        </p:spPr>
        <p:txBody>
          <a:bodyPr wrap="square" lIns="0" tIns="0" rIns="0" bIns="0" anchor="t">
            <a:noAutofit/>
          </a:bodyPr>
          <a:lstStyle/>
          <a:p>
            <a:pPr algn="l">
              <a:lnSpc>
                <a:spcPct val="110000"/>
              </a:lnSpc>
              <a:spcBef>
                <a:spcPts val="0"/>
              </a:spcBef>
              <a:spcAft>
                <a:spcPts val="0"/>
              </a:spcAft>
            </a:pPr>
            <a:r>
              <a:rPr sz="1600" b="0">
                <a:solidFill>
                  <a:srgbClr val="50576D"/>
                </a:solidFill>
                <a:latin typeface="Arial"/>
              </a:rPr>
              <a:t>Compare cumulative costs; reject negative weights.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ALGORITHM 03 / DYNAMIC PROGRAMMING</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Dynamic programming: bound the legs</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Reuse the previous layer to minimise cost with at most H edges.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dynamic_route uses previous/current dictionaries; the lab compares ≤4 edges, while tests vary H.</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algorithms.py: dynamic_route • test_algorithms.py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10 / 35</a:t>
            </a:r>
          </a:p>
        </p:txBody>
      </p:sp>
      <p:sp>
        <p:nvSpPr>
          <p:cNvPr id="20" name="Rounded Rectangle 19"/>
          <p:cNvSpPr/>
          <p:nvPr/>
        </p:nvSpPr>
        <p:spPr>
          <a:xfrm>
            <a:off x="585216" y="2066543"/>
            <a:ext cx="2615184" cy="1536192"/>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808" y="2203703"/>
            <a:ext cx="2286000" cy="365760"/>
          </a:xfrm>
          <a:prstGeom prst="rect">
            <a:avLst/>
          </a:prstGeom>
          <a:noFill/>
        </p:spPr>
        <p:txBody>
          <a:bodyPr wrap="square" lIns="0" tIns="0" rIns="0" bIns="0" anchor="t">
            <a:noAutofit/>
          </a:bodyPr>
          <a:lstStyle/>
          <a:p>
            <a:pPr algn="l">
              <a:lnSpc>
                <a:spcPct val="110000"/>
              </a:lnSpc>
              <a:spcBef>
                <a:spcPts val="0"/>
              </a:spcBef>
              <a:spcAft>
                <a:spcPts val="0"/>
              </a:spcAft>
            </a:pPr>
            <a:r>
              <a:rPr sz="2400" b="1">
                <a:solidFill>
                  <a:srgbClr val="7450DF"/>
                </a:solidFill>
                <a:latin typeface="Arial"/>
              </a:rPr>
              <a:t>H = 0</a:t>
            </a:r>
          </a:p>
        </p:txBody>
      </p:sp>
      <p:sp>
        <p:nvSpPr>
          <p:cNvPr id="22" name="TextBox 21"/>
          <p:cNvSpPr txBox="1"/>
          <p:nvPr/>
        </p:nvSpPr>
        <p:spPr>
          <a:xfrm>
            <a:off x="749808" y="2651760"/>
            <a:ext cx="2286000" cy="896112"/>
          </a:xfrm>
          <a:prstGeom prst="rect">
            <a:avLst/>
          </a:prstGeom>
          <a:noFill/>
        </p:spPr>
        <p:txBody>
          <a:bodyPr wrap="square" lIns="0" tIns="0" rIns="0" bIns="0" anchor="t">
            <a:noAutofit/>
          </a:bodyPr>
          <a:lstStyle/>
          <a:p>
            <a:pPr algn="l">
              <a:lnSpc>
                <a:spcPct val="110000"/>
              </a:lnSpc>
              <a:spcBef>
                <a:spcPts val="0"/>
              </a:spcBef>
              <a:spcAft>
                <a:spcPts val="0"/>
              </a:spcAft>
            </a:pPr>
            <a:r>
              <a:rPr sz="2200" b="0">
                <a:solidFill>
                  <a:srgbClr val="50576D"/>
                </a:solidFill>
                <a:latin typeface="Arial"/>
              </a:rPr>
              <a:t>A : 0</a:t>
            </a:r>
          </a:p>
        </p:txBody>
      </p:sp>
      <p:cxnSp>
        <p:nvCxnSpPr>
          <p:cNvPr id="23" name="Connector 22"/>
          <p:cNvCxnSpPr/>
          <p:nvPr/>
        </p:nvCxnSpPr>
        <p:spPr>
          <a:xfrm>
            <a:off x="2999232" y="2871216"/>
            <a:ext cx="301752"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3383280" y="2066543"/>
            <a:ext cx="2615184" cy="1536192"/>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547872" y="2203703"/>
            <a:ext cx="2286000" cy="365760"/>
          </a:xfrm>
          <a:prstGeom prst="rect">
            <a:avLst/>
          </a:prstGeom>
          <a:noFill/>
        </p:spPr>
        <p:txBody>
          <a:bodyPr wrap="square" lIns="0" tIns="0" rIns="0" bIns="0" anchor="t">
            <a:noAutofit/>
          </a:bodyPr>
          <a:lstStyle/>
          <a:p>
            <a:pPr algn="l">
              <a:lnSpc>
                <a:spcPct val="110000"/>
              </a:lnSpc>
              <a:spcBef>
                <a:spcPts val="0"/>
              </a:spcBef>
              <a:spcAft>
                <a:spcPts val="0"/>
              </a:spcAft>
            </a:pPr>
            <a:r>
              <a:rPr sz="2400" b="1">
                <a:solidFill>
                  <a:srgbClr val="7450DF"/>
                </a:solidFill>
                <a:latin typeface="Arial"/>
              </a:rPr>
              <a:t>H = 1</a:t>
            </a:r>
          </a:p>
        </p:txBody>
      </p:sp>
      <p:sp>
        <p:nvSpPr>
          <p:cNvPr id="26" name="TextBox 25"/>
          <p:cNvSpPr txBox="1"/>
          <p:nvPr/>
        </p:nvSpPr>
        <p:spPr>
          <a:xfrm>
            <a:off x="3547872" y="2651760"/>
            <a:ext cx="2286000" cy="896112"/>
          </a:xfrm>
          <a:prstGeom prst="rect">
            <a:avLst/>
          </a:prstGeom>
          <a:noFill/>
        </p:spPr>
        <p:txBody>
          <a:bodyPr wrap="square" lIns="0" tIns="0" rIns="0" bIns="0" anchor="t">
            <a:noAutofit/>
          </a:bodyPr>
          <a:lstStyle/>
          <a:p>
            <a:pPr algn="l">
              <a:lnSpc>
                <a:spcPct val="110000"/>
              </a:lnSpc>
              <a:spcBef>
                <a:spcPts val="0"/>
              </a:spcBef>
              <a:spcAft>
                <a:spcPts val="0"/>
              </a:spcAft>
            </a:pPr>
            <a:r>
              <a:rPr sz="2200" b="0">
                <a:solidFill>
                  <a:srgbClr val="50576D"/>
                </a:solidFill>
                <a:latin typeface="Arial"/>
              </a:rPr>
              <a:t>B : 100</a:t>
            </a:r>
          </a:p>
          <a:p>
            <a:pPr algn="l">
              <a:lnSpc>
                <a:spcPct val="110000"/>
              </a:lnSpc>
              <a:spcBef>
                <a:spcPts val="0"/>
              </a:spcBef>
              <a:spcAft>
                <a:spcPts val="0"/>
              </a:spcAft>
            </a:pPr>
            <a:r>
              <a:rPr sz="2200" b="0">
                <a:solidFill>
                  <a:srgbClr val="50576D"/>
                </a:solidFill>
                <a:latin typeface="Arial"/>
              </a:rPr>
              <a:t>C : 250</a:t>
            </a:r>
          </a:p>
        </p:txBody>
      </p:sp>
      <p:cxnSp>
        <p:nvCxnSpPr>
          <p:cNvPr id="27" name="Connector 26"/>
          <p:cNvCxnSpPr/>
          <p:nvPr/>
        </p:nvCxnSpPr>
        <p:spPr>
          <a:xfrm>
            <a:off x="5797296" y="2871216"/>
            <a:ext cx="301752"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181344" y="2066543"/>
            <a:ext cx="2615184" cy="1536192"/>
          </a:xfrm>
          <a:prstGeom prst="roundRect">
            <a:avLst>
              <a:gd name="adj" fmla="val 14000"/>
            </a:avLst>
          </a:prstGeom>
          <a:solidFill>
            <a:srgbClr val="FBF1E5"/>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45936" y="2203703"/>
            <a:ext cx="2286000" cy="365760"/>
          </a:xfrm>
          <a:prstGeom prst="rect">
            <a:avLst/>
          </a:prstGeom>
          <a:noFill/>
        </p:spPr>
        <p:txBody>
          <a:bodyPr wrap="square" lIns="0" tIns="0" rIns="0" bIns="0" anchor="t">
            <a:noAutofit/>
          </a:bodyPr>
          <a:lstStyle/>
          <a:p>
            <a:pPr algn="l">
              <a:lnSpc>
                <a:spcPct val="110000"/>
              </a:lnSpc>
              <a:spcBef>
                <a:spcPts val="0"/>
              </a:spcBef>
              <a:spcAft>
                <a:spcPts val="0"/>
              </a:spcAft>
            </a:pPr>
            <a:r>
              <a:rPr sz="2400" b="1">
                <a:solidFill>
                  <a:srgbClr val="B97D38"/>
                </a:solidFill>
                <a:latin typeface="Arial"/>
              </a:rPr>
              <a:t>H = 2</a:t>
            </a:r>
          </a:p>
        </p:txBody>
      </p:sp>
      <p:sp>
        <p:nvSpPr>
          <p:cNvPr id="30" name="TextBox 29"/>
          <p:cNvSpPr txBox="1"/>
          <p:nvPr/>
        </p:nvSpPr>
        <p:spPr>
          <a:xfrm>
            <a:off x="6345936" y="2651760"/>
            <a:ext cx="2286000" cy="896112"/>
          </a:xfrm>
          <a:prstGeom prst="rect">
            <a:avLst/>
          </a:prstGeom>
          <a:noFill/>
        </p:spPr>
        <p:txBody>
          <a:bodyPr wrap="square" lIns="0" tIns="0" rIns="0" bIns="0" anchor="t">
            <a:noAutofit/>
          </a:bodyPr>
          <a:lstStyle/>
          <a:p>
            <a:pPr algn="l">
              <a:lnSpc>
                <a:spcPct val="110000"/>
              </a:lnSpc>
              <a:spcBef>
                <a:spcPts val="0"/>
              </a:spcBef>
              <a:spcAft>
                <a:spcPts val="0"/>
              </a:spcAft>
            </a:pPr>
            <a:r>
              <a:rPr sz="2200" b="0">
                <a:solidFill>
                  <a:srgbClr val="50576D"/>
                </a:solidFill>
                <a:latin typeface="Arial"/>
              </a:rPr>
              <a:t>C : 200</a:t>
            </a:r>
          </a:p>
          <a:p>
            <a:pPr algn="l">
              <a:lnSpc>
                <a:spcPct val="110000"/>
              </a:lnSpc>
              <a:spcBef>
                <a:spcPts val="0"/>
              </a:spcBef>
              <a:spcAft>
                <a:spcPts val="0"/>
              </a:spcAft>
            </a:pPr>
            <a:r>
              <a:rPr sz="2200" b="0">
                <a:solidFill>
                  <a:srgbClr val="50576D"/>
                </a:solidFill>
                <a:latin typeface="Arial"/>
              </a:rPr>
              <a:t>D : 350</a:t>
            </a:r>
          </a:p>
        </p:txBody>
      </p:sp>
      <p:cxnSp>
        <p:nvCxnSpPr>
          <p:cNvPr id="31" name="Connector 30"/>
          <p:cNvCxnSpPr/>
          <p:nvPr/>
        </p:nvCxnSpPr>
        <p:spPr>
          <a:xfrm>
            <a:off x="8595360" y="2871216"/>
            <a:ext cx="301752"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979408" y="2066543"/>
            <a:ext cx="2615184" cy="1536192"/>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144000" y="2203703"/>
            <a:ext cx="2286000" cy="365760"/>
          </a:xfrm>
          <a:prstGeom prst="rect">
            <a:avLst/>
          </a:prstGeom>
          <a:noFill/>
        </p:spPr>
        <p:txBody>
          <a:bodyPr wrap="square" lIns="0" tIns="0" rIns="0" bIns="0" anchor="t">
            <a:noAutofit/>
          </a:bodyPr>
          <a:lstStyle/>
          <a:p>
            <a:pPr algn="l">
              <a:lnSpc>
                <a:spcPct val="110000"/>
              </a:lnSpc>
              <a:spcBef>
                <a:spcPts val="0"/>
              </a:spcBef>
              <a:spcAft>
                <a:spcPts val="0"/>
              </a:spcAft>
            </a:pPr>
            <a:r>
              <a:rPr sz="2400" b="1">
                <a:solidFill>
                  <a:srgbClr val="389778"/>
                </a:solidFill>
                <a:latin typeface="Arial"/>
              </a:rPr>
              <a:t>H = 3</a:t>
            </a:r>
          </a:p>
        </p:txBody>
      </p:sp>
      <p:sp>
        <p:nvSpPr>
          <p:cNvPr id="34" name="TextBox 33"/>
          <p:cNvSpPr txBox="1"/>
          <p:nvPr/>
        </p:nvSpPr>
        <p:spPr>
          <a:xfrm>
            <a:off x="9144000" y="2651760"/>
            <a:ext cx="2286000" cy="896112"/>
          </a:xfrm>
          <a:prstGeom prst="rect">
            <a:avLst/>
          </a:prstGeom>
          <a:noFill/>
        </p:spPr>
        <p:txBody>
          <a:bodyPr wrap="square" lIns="0" tIns="0" rIns="0" bIns="0" anchor="t">
            <a:noAutofit/>
          </a:bodyPr>
          <a:lstStyle/>
          <a:p>
            <a:pPr algn="l">
              <a:lnSpc>
                <a:spcPct val="110000"/>
              </a:lnSpc>
              <a:spcBef>
                <a:spcPts val="0"/>
              </a:spcBef>
              <a:spcAft>
                <a:spcPts val="0"/>
              </a:spcAft>
            </a:pPr>
            <a:r>
              <a:rPr sz="2200" b="0">
                <a:solidFill>
                  <a:srgbClr val="50576D"/>
                </a:solidFill>
                <a:latin typeface="Arial"/>
              </a:rPr>
              <a:t>D : 300</a:t>
            </a:r>
          </a:p>
        </p:txBody>
      </p:sp>
      <p:sp>
        <p:nvSpPr>
          <p:cNvPr id="35" name="Rounded Rectangle 34"/>
          <p:cNvSpPr/>
          <p:nvPr/>
        </p:nvSpPr>
        <p:spPr>
          <a:xfrm>
            <a:off x="603504" y="3950208"/>
            <a:ext cx="5330952" cy="1527048"/>
          </a:xfrm>
          <a:prstGeom prst="roundRect">
            <a:avLst>
              <a:gd name="adj" fmla="val 14000"/>
            </a:avLst>
          </a:prstGeom>
          <a:solidFill>
            <a:srgbClr val="FB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95528" y="4133087"/>
            <a:ext cx="4946904" cy="329184"/>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B97D38"/>
                </a:solidFill>
                <a:latin typeface="Arial"/>
              </a:rPr>
              <a:t>At most 2 edges</a:t>
            </a:r>
          </a:p>
        </p:txBody>
      </p:sp>
      <p:sp>
        <p:nvSpPr>
          <p:cNvPr id="37" name="Oval 36"/>
          <p:cNvSpPr/>
          <p:nvPr/>
        </p:nvSpPr>
        <p:spPr>
          <a:xfrm>
            <a:off x="960120" y="4663440"/>
            <a:ext cx="502920" cy="502920"/>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0120" y="4700016"/>
            <a:ext cx="502920" cy="457200"/>
          </a:xfrm>
          <a:prstGeom prst="rect">
            <a:avLst/>
          </a:prstGeom>
          <a:noFill/>
        </p:spPr>
        <p:txBody>
          <a:bodyPr wrap="square" lIns="0" tIns="0" rIns="0" bIns="0" anchor="ctr">
            <a:noAutofit/>
          </a:bodyPr>
          <a:lstStyle/>
          <a:p>
            <a:pPr algn="ctr">
              <a:lnSpc>
                <a:spcPct val="110000"/>
              </a:lnSpc>
              <a:spcBef>
                <a:spcPts val="0"/>
              </a:spcBef>
              <a:spcAft>
                <a:spcPts val="0"/>
              </a:spcAft>
            </a:pPr>
            <a:r>
              <a:rPr sz="1800" b="1">
                <a:solidFill>
                  <a:srgbClr val="FFFFFF"/>
                </a:solidFill>
                <a:latin typeface="Arial"/>
              </a:rPr>
              <a:t>A</a:t>
            </a:r>
          </a:p>
        </p:txBody>
      </p:sp>
      <p:cxnSp>
        <p:nvCxnSpPr>
          <p:cNvPr id="39" name="Connector 38"/>
          <p:cNvCxnSpPr/>
          <p:nvPr/>
        </p:nvCxnSpPr>
        <p:spPr>
          <a:xfrm>
            <a:off x="1508759" y="4914900"/>
            <a:ext cx="457201"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2029967" y="4663440"/>
            <a:ext cx="502920" cy="502920"/>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029967" y="4700016"/>
            <a:ext cx="502920" cy="457200"/>
          </a:xfrm>
          <a:prstGeom prst="rect">
            <a:avLst/>
          </a:prstGeom>
          <a:noFill/>
        </p:spPr>
        <p:txBody>
          <a:bodyPr wrap="square" lIns="0" tIns="0" rIns="0" bIns="0" anchor="ctr">
            <a:noAutofit/>
          </a:bodyPr>
          <a:lstStyle/>
          <a:p>
            <a:pPr algn="ctr">
              <a:lnSpc>
                <a:spcPct val="110000"/>
              </a:lnSpc>
              <a:spcBef>
                <a:spcPts val="0"/>
              </a:spcBef>
              <a:spcAft>
                <a:spcPts val="0"/>
              </a:spcAft>
            </a:pPr>
            <a:r>
              <a:rPr sz="1800" b="1">
                <a:solidFill>
                  <a:srgbClr val="FFFFFF"/>
                </a:solidFill>
                <a:latin typeface="Arial"/>
              </a:rPr>
              <a:t>C</a:t>
            </a:r>
          </a:p>
        </p:txBody>
      </p:sp>
      <p:cxnSp>
        <p:nvCxnSpPr>
          <p:cNvPr id="42" name="Connector 41"/>
          <p:cNvCxnSpPr/>
          <p:nvPr/>
        </p:nvCxnSpPr>
        <p:spPr>
          <a:xfrm>
            <a:off x="2578607" y="4914900"/>
            <a:ext cx="457201"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3099815" y="4663440"/>
            <a:ext cx="502920" cy="502920"/>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099815" y="4700016"/>
            <a:ext cx="502920" cy="457200"/>
          </a:xfrm>
          <a:prstGeom prst="rect">
            <a:avLst/>
          </a:prstGeom>
          <a:noFill/>
        </p:spPr>
        <p:txBody>
          <a:bodyPr wrap="square" lIns="0" tIns="0" rIns="0" bIns="0" anchor="ctr">
            <a:noAutofit/>
          </a:bodyPr>
          <a:lstStyle/>
          <a:p>
            <a:pPr algn="ctr">
              <a:lnSpc>
                <a:spcPct val="110000"/>
              </a:lnSpc>
              <a:spcBef>
                <a:spcPts val="0"/>
              </a:spcBef>
              <a:spcAft>
                <a:spcPts val="0"/>
              </a:spcAft>
            </a:pPr>
            <a:r>
              <a:rPr sz="1800" b="1">
                <a:solidFill>
                  <a:srgbClr val="FFFFFF"/>
                </a:solidFill>
                <a:latin typeface="Arial"/>
              </a:rPr>
              <a:t>D</a:t>
            </a:r>
          </a:p>
        </p:txBody>
      </p:sp>
      <p:sp>
        <p:nvSpPr>
          <p:cNvPr id="45" name="TextBox 44"/>
          <p:cNvSpPr txBox="1"/>
          <p:nvPr/>
        </p:nvSpPr>
        <p:spPr>
          <a:xfrm>
            <a:off x="4334256" y="4681728"/>
            <a:ext cx="1197864" cy="274320"/>
          </a:xfrm>
          <a:prstGeom prst="rect">
            <a:avLst/>
          </a:prstGeom>
          <a:noFill/>
        </p:spPr>
        <p:txBody>
          <a:bodyPr wrap="square" lIns="0" tIns="0" rIns="0" bIns="0" anchor="t">
            <a:noAutofit/>
          </a:bodyPr>
          <a:lstStyle/>
          <a:p>
            <a:pPr algn="l">
              <a:lnSpc>
                <a:spcPct val="110000"/>
              </a:lnSpc>
              <a:spcBef>
                <a:spcPts val="0"/>
              </a:spcBef>
              <a:spcAft>
                <a:spcPts val="0"/>
              </a:spcAft>
            </a:pPr>
            <a:r>
              <a:rPr sz="2200" b="1">
                <a:solidFill>
                  <a:srgbClr val="B97D38"/>
                </a:solidFill>
                <a:latin typeface="Arial"/>
              </a:rPr>
              <a:t>fare 350</a:t>
            </a:r>
          </a:p>
        </p:txBody>
      </p:sp>
      <p:sp>
        <p:nvSpPr>
          <p:cNvPr id="46" name="Rounded Rectangle 45"/>
          <p:cNvSpPr/>
          <p:nvPr/>
        </p:nvSpPr>
        <p:spPr>
          <a:xfrm>
            <a:off x="6144768" y="3950208"/>
            <a:ext cx="5330952" cy="1527048"/>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336792" y="4133087"/>
            <a:ext cx="4946904" cy="329184"/>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389778"/>
                </a:solidFill>
                <a:latin typeface="Arial"/>
              </a:rPr>
              <a:t>At most 3 edges</a:t>
            </a:r>
          </a:p>
        </p:txBody>
      </p:sp>
      <p:sp>
        <p:nvSpPr>
          <p:cNvPr id="48" name="Oval 47"/>
          <p:cNvSpPr/>
          <p:nvPr/>
        </p:nvSpPr>
        <p:spPr>
          <a:xfrm>
            <a:off x="6419088" y="4663440"/>
            <a:ext cx="502920" cy="502920"/>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419088" y="4700016"/>
            <a:ext cx="502920" cy="457200"/>
          </a:xfrm>
          <a:prstGeom prst="rect">
            <a:avLst/>
          </a:prstGeom>
          <a:noFill/>
        </p:spPr>
        <p:txBody>
          <a:bodyPr wrap="square" lIns="0" tIns="0" rIns="0" bIns="0" anchor="ctr">
            <a:noAutofit/>
          </a:bodyPr>
          <a:lstStyle/>
          <a:p>
            <a:pPr algn="ctr">
              <a:lnSpc>
                <a:spcPct val="110000"/>
              </a:lnSpc>
              <a:spcBef>
                <a:spcPts val="0"/>
              </a:spcBef>
              <a:spcAft>
                <a:spcPts val="0"/>
              </a:spcAft>
            </a:pPr>
            <a:r>
              <a:rPr sz="1800" b="1">
                <a:solidFill>
                  <a:srgbClr val="FFFFFF"/>
                </a:solidFill>
                <a:latin typeface="Arial"/>
              </a:rPr>
              <a:t>A</a:t>
            </a:r>
          </a:p>
        </p:txBody>
      </p:sp>
      <p:cxnSp>
        <p:nvCxnSpPr>
          <p:cNvPr id="50" name="Connector 49"/>
          <p:cNvCxnSpPr/>
          <p:nvPr/>
        </p:nvCxnSpPr>
        <p:spPr>
          <a:xfrm>
            <a:off x="6967727" y="4914900"/>
            <a:ext cx="274320"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7306055" y="4663440"/>
            <a:ext cx="502920" cy="502920"/>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306055" y="4700016"/>
            <a:ext cx="502920" cy="457200"/>
          </a:xfrm>
          <a:prstGeom prst="rect">
            <a:avLst/>
          </a:prstGeom>
          <a:noFill/>
        </p:spPr>
        <p:txBody>
          <a:bodyPr wrap="square" lIns="0" tIns="0" rIns="0" bIns="0" anchor="ctr">
            <a:noAutofit/>
          </a:bodyPr>
          <a:lstStyle/>
          <a:p>
            <a:pPr algn="ctr">
              <a:lnSpc>
                <a:spcPct val="110000"/>
              </a:lnSpc>
              <a:spcBef>
                <a:spcPts val="0"/>
              </a:spcBef>
              <a:spcAft>
                <a:spcPts val="0"/>
              </a:spcAft>
            </a:pPr>
            <a:r>
              <a:rPr sz="1800" b="1">
                <a:solidFill>
                  <a:srgbClr val="FFFFFF"/>
                </a:solidFill>
                <a:latin typeface="Arial"/>
              </a:rPr>
              <a:t>B</a:t>
            </a:r>
          </a:p>
        </p:txBody>
      </p:sp>
      <p:cxnSp>
        <p:nvCxnSpPr>
          <p:cNvPr id="53" name="Connector 52"/>
          <p:cNvCxnSpPr/>
          <p:nvPr/>
        </p:nvCxnSpPr>
        <p:spPr>
          <a:xfrm>
            <a:off x="7854696" y="4914900"/>
            <a:ext cx="274319"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8193023" y="4663440"/>
            <a:ext cx="502920" cy="502920"/>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193023" y="4700016"/>
            <a:ext cx="502920" cy="457200"/>
          </a:xfrm>
          <a:prstGeom prst="rect">
            <a:avLst/>
          </a:prstGeom>
          <a:noFill/>
        </p:spPr>
        <p:txBody>
          <a:bodyPr wrap="square" lIns="0" tIns="0" rIns="0" bIns="0" anchor="ctr">
            <a:noAutofit/>
          </a:bodyPr>
          <a:lstStyle/>
          <a:p>
            <a:pPr algn="ctr">
              <a:lnSpc>
                <a:spcPct val="110000"/>
              </a:lnSpc>
              <a:spcBef>
                <a:spcPts val="0"/>
              </a:spcBef>
              <a:spcAft>
                <a:spcPts val="0"/>
              </a:spcAft>
            </a:pPr>
            <a:r>
              <a:rPr sz="1800" b="1">
                <a:solidFill>
                  <a:srgbClr val="FFFFFF"/>
                </a:solidFill>
                <a:latin typeface="Arial"/>
              </a:rPr>
              <a:t>C</a:t>
            </a:r>
          </a:p>
        </p:txBody>
      </p:sp>
      <p:cxnSp>
        <p:nvCxnSpPr>
          <p:cNvPr id="56" name="Connector 55"/>
          <p:cNvCxnSpPr/>
          <p:nvPr/>
        </p:nvCxnSpPr>
        <p:spPr>
          <a:xfrm>
            <a:off x="8741664" y="4914900"/>
            <a:ext cx="274320"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9079992" y="4663440"/>
            <a:ext cx="502920" cy="502920"/>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079992" y="4700016"/>
            <a:ext cx="502920" cy="457200"/>
          </a:xfrm>
          <a:prstGeom prst="rect">
            <a:avLst/>
          </a:prstGeom>
          <a:noFill/>
        </p:spPr>
        <p:txBody>
          <a:bodyPr wrap="square" lIns="0" tIns="0" rIns="0" bIns="0" anchor="ctr">
            <a:noAutofit/>
          </a:bodyPr>
          <a:lstStyle/>
          <a:p>
            <a:pPr algn="ctr">
              <a:lnSpc>
                <a:spcPct val="110000"/>
              </a:lnSpc>
              <a:spcBef>
                <a:spcPts val="0"/>
              </a:spcBef>
              <a:spcAft>
                <a:spcPts val="0"/>
              </a:spcAft>
            </a:pPr>
            <a:r>
              <a:rPr sz="1800" b="1">
                <a:solidFill>
                  <a:srgbClr val="FFFFFF"/>
                </a:solidFill>
                <a:latin typeface="Arial"/>
              </a:rPr>
              <a:t>D</a:t>
            </a:r>
          </a:p>
        </p:txBody>
      </p:sp>
      <p:sp>
        <p:nvSpPr>
          <p:cNvPr id="59" name="TextBox 58"/>
          <p:cNvSpPr txBox="1"/>
          <p:nvPr/>
        </p:nvSpPr>
        <p:spPr>
          <a:xfrm>
            <a:off x="10104120" y="4681728"/>
            <a:ext cx="1097280" cy="274320"/>
          </a:xfrm>
          <a:prstGeom prst="rect">
            <a:avLst/>
          </a:prstGeom>
          <a:noFill/>
        </p:spPr>
        <p:txBody>
          <a:bodyPr wrap="square" lIns="0" tIns="0" rIns="0" bIns="0" anchor="t">
            <a:noAutofit/>
          </a:bodyPr>
          <a:lstStyle/>
          <a:p>
            <a:pPr algn="l">
              <a:lnSpc>
                <a:spcPct val="110000"/>
              </a:lnSpc>
              <a:spcBef>
                <a:spcPts val="0"/>
              </a:spcBef>
              <a:spcAft>
                <a:spcPts val="0"/>
              </a:spcAft>
            </a:pPr>
            <a:r>
              <a:rPr sz="2200" b="1">
                <a:solidFill>
                  <a:srgbClr val="389778"/>
                </a:solidFill>
                <a:latin typeface="Arial"/>
              </a:rPr>
              <a:t>fare 300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ALGORITHM 04 / BACKTRACKING</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Backtracking: find seats together</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Explore row candidates, prune infeasible prefixes, then use a deterministic fallback.</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allocate_seats searches six-seat rows for a 1–6 person group; together/window remain preferences.</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algorithms.py: allocate_seats • test_together_row_backtracking</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11 / 35</a:t>
            </a:r>
          </a:p>
        </p:txBody>
      </p:sp>
      <p:sp>
        <p:nvSpPr>
          <p:cNvPr id="20" name="TextBox 19"/>
          <p:cNvSpPr txBox="1"/>
          <p:nvPr/>
        </p:nvSpPr>
        <p:spPr>
          <a:xfrm>
            <a:off x="667512" y="2020824"/>
            <a:ext cx="7315200" cy="329184"/>
          </a:xfrm>
          <a:prstGeom prst="rect">
            <a:avLst/>
          </a:prstGeom>
          <a:noFill/>
        </p:spPr>
        <p:txBody>
          <a:bodyPr wrap="square" lIns="0" tIns="0" rIns="0" bIns="0" anchor="t">
            <a:noAutofit/>
          </a:bodyPr>
          <a:lstStyle/>
          <a:p>
            <a:pPr algn="l">
              <a:lnSpc>
                <a:spcPct val="110000"/>
              </a:lnSpc>
              <a:spcBef>
                <a:spcPts val="0"/>
              </a:spcBef>
              <a:spcAft>
                <a:spcPts val="0"/>
              </a:spcAft>
            </a:pPr>
            <a:r>
              <a:rPr sz="2000" b="1">
                <a:solidFill>
                  <a:srgbClr val="22263B"/>
                </a:solidFill>
                <a:latin typeface="Arial"/>
              </a:rPr>
              <a:t>Example: available {1, 3, 4, 5, 6}; group size = 3</a:t>
            </a:r>
          </a:p>
        </p:txBody>
      </p:sp>
      <p:sp>
        <p:nvSpPr>
          <p:cNvPr id="21" name="Rounded Rectangle 20"/>
          <p:cNvSpPr/>
          <p:nvPr/>
        </p:nvSpPr>
        <p:spPr>
          <a:xfrm>
            <a:off x="694944" y="2816352"/>
            <a:ext cx="877824" cy="969264"/>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94944" y="3054096"/>
            <a:ext cx="877824" cy="310896"/>
          </a:xfrm>
          <a:prstGeom prst="rect">
            <a:avLst/>
          </a:prstGeom>
          <a:noFill/>
        </p:spPr>
        <p:txBody>
          <a:bodyPr wrap="square" lIns="0" tIns="0" rIns="0" bIns="0" anchor="t">
            <a:noAutofit/>
          </a:bodyPr>
          <a:lstStyle/>
          <a:p>
            <a:pPr algn="ctr">
              <a:lnSpc>
                <a:spcPct val="110000"/>
              </a:lnSpc>
              <a:spcBef>
                <a:spcPts val="0"/>
              </a:spcBef>
              <a:spcAft>
                <a:spcPts val="0"/>
              </a:spcAft>
            </a:pPr>
            <a:r>
              <a:rPr sz="2500" b="1">
                <a:solidFill>
                  <a:srgbClr val="7F869A"/>
                </a:solidFill>
                <a:latin typeface="Arial"/>
              </a:rPr>
              <a:t>1</a:t>
            </a:r>
          </a:p>
        </p:txBody>
      </p:sp>
      <p:sp>
        <p:nvSpPr>
          <p:cNvPr id="23" name="TextBox 22"/>
          <p:cNvSpPr txBox="1"/>
          <p:nvPr/>
        </p:nvSpPr>
        <p:spPr>
          <a:xfrm>
            <a:off x="694944" y="3959352"/>
            <a:ext cx="877824" cy="237744"/>
          </a:xfrm>
          <a:prstGeom prst="rect">
            <a:avLst/>
          </a:prstGeom>
          <a:noFill/>
        </p:spPr>
        <p:txBody>
          <a:bodyPr wrap="square" lIns="0" tIns="0" rIns="0" bIns="0" anchor="t">
            <a:noAutofit/>
          </a:bodyPr>
          <a:lstStyle/>
          <a:p>
            <a:pPr algn="ctr">
              <a:lnSpc>
                <a:spcPct val="110000"/>
              </a:lnSpc>
              <a:spcBef>
                <a:spcPts val="0"/>
              </a:spcBef>
              <a:spcAft>
                <a:spcPts val="0"/>
              </a:spcAft>
            </a:pPr>
            <a:r>
              <a:rPr sz="1300" b="0">
                <a:solidFill>
                  <a:srgbClr val="7F869A"/>
                </a:solidFill>
                <a:latin typeface="Arial"/>
              </a:rPr>
              <a:t>free</a:t>
            </a:r>
          </a:p>
        </p:txBody>
      </p:sp>
      <p:sp>
        <p:nvSpPr>
          <p:cNvPr id="24" name="Rounded Rectangle 23"/>
          <p:cNvSpPr/>
          <p:nvPr/>
        </p:nvSpPr>
        <p:spPr>
          <a:xfrm>
            <a:off x="1746504" y="2816352"/>
            <a:ext cx="877824" cy="969264"/>
          </a:xfrm>
          <a:prstGeom prst="roundRect">
            <a:avLst>
              <a:gd name="adj" fmla="val 14000"/>
            </a:avLst>
          </a:prstGeom>
          <a:solidFill>
            <a:srgbClr val="EAEA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746504" y="3054096"/>
            <a:ext cx="877824" cy="310896"/>
          </a:xfrm>
          <a:prstGeom prst="rect">
            <a:avLst/>
          </a:prstGeom>
          <a:noFill/>
        </p:spPr>
        <p:txBody>
          <a:bodyPr wrap="square" lIns="0" tIns="0" rIns="0" bIns="0" anchor="t">
            <a:noAutofit/>
          </a:bodyPr>
          <a:lstStyle/>
          <a:p>
            <a:pPr algn="ctr">
              <a:lnSpc>
                <a:spcPct val="110000"/>
              </a:lnSpc>
              <a:spcBef>
                <a:spcPts val="0"/>
              </a:spcBef>
              <a:spcAft>
                <a:spcPts val="0"/>
              </a:spcAft>
            </a:pPr>
            <a:r>
              <a:rPr sz="2500" b="1">
                <a:solidFill>
                  <a:srgbClr val="7F869A"/>
                </a:solidFill>
                <a:latin typeface="Arial"/>
              </a:rPr>
              <a:t>2</a:t>
            </a:r>
          </a:p>
        </p:txBody>
      </p:sp>
      <p:sp>
        <p:nvSpPr>
          <p:cNvPr id="26" name="TextBox 25"/>
          <p:cNvSpPr txBox="1"/>
          <p:nvPr/>
        </p:nvSpPr>
        <p:spPr>
          <a:xfrm>
            <a:off x="1746504" y="3959352"/>
            <a:ext cx="877824" cy="237744"/>
          </a:xfrm>
          <a:prstGeom prst="rect">
            <a:avLst/>
          </a:prstGeom>
          <a:noFill/>
        </p:spPr>
        <p:txBody>
          <a:bodyPr wrap="square" lIns="0" tIns="0" rIns="0" bIns="0" anchor="t">
            <a:noAutofit/>
          </a:bodyPr>
          <a:lstStyle/>
          <a:p>
            <a:pPr algn="ctr">
              <a:lnSpc>
                <a:spcPct val="110000"/>
              </a:lnSpc>
              <a:spcBef>
                <a:spcPts val="0"/>
              </a:spcBef>
              <a:spcAft>
                <a:spcPts val="0"/>
              </a:spcAft>
            </a:pPr>
            <a:r>
              <a:rPr sz="1300" b="0">
                <a:solidFill>
                  <a:srgbClr val="7F869A"/>
                </a:solidFill>
                <a:latin typeface="Arial"/>
              </a:rPr>
              <a:t>taken</a:t>
            </a:r>
          </a:p>
        </p:txBody>
      </p:sp>
      <p:sp>
        <p:nvSpPr>
          <p:cNvPr id="27" name="Rounded Rectangle 26"/>
          <p:cNvSpPr/>
          <p:nvPr/>
        </p:nvSpPr>
        <p:spPr>
          <a:xfrm>
            <a:off x="2798063" y="2816352"/>
            <a:ext cx="877824" cy="969264"/>
          </a:xfrm>
          <a:prstGeom prst="roundRect">
            <a:avLst>
              <a:gd name="adj" fmla="val 14000"/>
            </a:avLst>
          </a:prstGeom>
          <a:solidFill>
            <a:srgbClr val="EAF5F0"/>
          </a:solidFill>
          <a:ln w="12700">
            <a:solidFill>
              <a:srgbClr val="3897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98063" y="3054096"/>
            <a:ext cx="877824" cy="310896"/>
          </a:xfrm>
          <a:prstGeom prst="rect">
            <a:avLst/>
          </a:prstGeom>
          <a:noFill/>
        </p:spPr>
        <p:txBody>
          <a:bodyPr wrap="square" lIns="0" tIns="0" rIns="0" bIns="0" anchor="t">
            <a:noAutofit/>
          </a:bodyPr>
          <a:lstStyle/>
          <a:p>
            <a:pPr algn="ctr">
              <a:lnSpc>
                <a:spcPct val="110000"/>
              </a:lnSpc>
              <a:spcBef>
                <a:spcPts val="0"/>
              </a:spcBef>
              <a:spcAft>
                <a:spcPts val="0"/>
              </a:spcAft>
            </a:pPr>
            <a:r>
              <a:rPr sz="2500" b="1">
                <a:solidFill>
                  <a:srgbClr val="389778"/>
                </a:solidFill>
                <a:latin typeface="Arial"/>
              </a:rPr>
              <a:t>3</a:t>
            </a:r>
          </a:p>
        </p:txBody>
      </p:sp>
      <p:sp>
        <p:nvSpPr>
          <p:cNvPr id="29" name="TextBox 28"/>
          <p:cNvSpPr txBox="1"/>
          <p:nvPr/>
        </p:nvSpPr>
        <p:spPr>
          <a:xfrm>
            <a:off x="2798063" y="3959352"/>
            <a:ext cx="877824" cy="237744"/>
          </a:xfrm>
          <a:prstGeom prst="rect">
            <a:avLst/>
          </a:prstGeom>
          <a:noFill/>
        </p:spPr>
        <p:txBody>
          <a:bodyPr wrap="square" lIns="0" tIns="0" rIns="0" bIns="0" anchor="t">
            <a:noAutofit/>
          </a:bodyPr>
          <a:lstStyle/>
          <a:p>
            <a:pPr algn="ctr">
              <a:lnSpc>
                <a:spcPct val="110000"/>
              </a:lnSpc>
              <a:spcBef>
                <a:spcPts val="0"/>
              </a:spcBef>
              <a:spcAft>
                <a:spcPts val="0"/>
              </a:spcAft>
            </a:pPr>
            <a:r>
              <a:rPr sz="1300" b="0">
                <a:solidFill>
                  <a:srgbClr val="7F869A"/>
                </a:solidFill>
                <a:latin typeface="Arial"/>
              </a:rPr>
              <a:t>chosen</a:t>
            </a:r>
          </a:p>
        </p:txBody>
      </p:sp>
      <p:sp>
        <p:nvSpPr>
          <p:cNvPr id="30" name="Rounded Rectangle 29"/>
          <p:cNvSpPr/>
          <p:nvPr/>
        </p:nvSpPr>
        <p:spPr>
          <a:xfrm>
            <a:off x="3849624" y="2816352"/>
            <a:ext cx="877824" cy="969264"/>
          </a:xfrm>
          <a:prstGeom prst="roundRect">
            <a:avLst>
              <a:gd name="adj" fmla="val 14000"/>
            </a:avLst>
          </a:prstGeom>
          <a:solidFill>
            <a:srgbClr val="EAF5F0"/>
          </a:solidFill>
          <a:ln w="12700">
            <a:solidFill>
              <a:srgbClr val="3897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849624" y="3054096"/>
            <a:ext cx="877824" cy="310896"/>
          </a:xfrm>
          <a:prstGeom prst="rect">
            <a:avLst/>
          </a:prstGeom>
          <a:noFill/>
        </p:spPr>
        <p:txBody>
          <a:bodyPr wrap="square" lIns="0" tIns="0" rIns="0" bIns="0" anchor="t">
            <a:noAutofit/>
          </a:bodyPr>
          <a:lstStyle/>
          <a:p>
            <a:pPr algn="ctr">
              <a:lnSpc>
                <a:spcPct val="110000"/>
              </a:lnSpc>
              <a:spcBef>
                <a:spcPts val="0"/>
              </a:spcBef>
              <a:spcAft>
                <a:spcPts val="0"/>
              </a:spcAft>
            </a:pPr>
            <a:r>
              <a:rPr sz="2500" b="1">
                <a:solidFill>
                  <a:srgbClr val="389778"/>
                </a:solidFill>
                <a:latin typeface="Arial"/>
              </a:rPr>
              <a:t>4</a:t>
            </a:r>
          </a:p>
        </p:txBody>
      </p:sp>
      <p:sp>
        <p:nvSpPr>
          <p:cNvPr id="32" name="TextBox 31"/>
          <p:cNvSpPr txBox="1"/>
          <p:nvPr/>
        </p:nvSpPr>
        <p:spPr>
          <a:xfrm>
            <a:off x="3849624" y="3959352"/>
            <a:ext cx="877824" cy="237744"/>
          </a:xfrm>
          <a:prstGeom prst="rect">
            <a:avLst/>
          </a:prstGeom>
          <a:noFill/>
        </p:spPr>
        <p:txBody>
          <a:bodyPr wrap="square" lIns="0" tIns="0" rIns="0" bIns="0" anchor="t">
            <a:noAutofit/>
          </a:bodyPr>
          <a:lstStyle/>
          <a:p>
            <a:pPr algn="ctr">
              <a:lnSpc>
                <a:spcPct val="110000"/>
              </a:lnSpc>
              <a:spcBef>
                <a:spcPts val="0"/>
              </a:spcBef>
              <a:spcAft>
                <a:spcPts val="0"/>
              </a:spcAft>
            </a:pPr>
            <a:r>
              <a:rPr sz="1300" b="0">
                <a:solidFill>
                  <a:srgbClr val="7F869A"/>
                </a:solidFill>
                <a:latin typeface="Arial"/>
              </a:rPr>
              <a:t>chosen</a:t>
            </a:r>
          </a:p>
        </p:txBody>
      </p:sp>
      <p:sp>
        <p:nvSpPr>
          <p:cNvPr id="33" name="Rounded Rectangle 32"/>
          <p:cNvSpPr/>
          <p:nvPr/>
        </p:nvSpPr>
        <p:spPr>
          <a:xfrm>
            <a:off x="4901183" y="2816352"/>
            <a:ext cx="877824" cy="969264"/>
          </a:xfrm>
          <a:prstGeom prst="roundRect">
            <a:avLst>
              <a:gd name="adj" fmla="val 14000"/>
            </a:avLst>
          </a:prstGeom>
          <a:solidFill>
            <a:srgbClr val="EAF5F0"/>
          </a:solidFill>
          <a:ln w="12700">
            <a:solidFill>
              <a:srgbClr val="3897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901183" y="3054096"/>
            <a:ext cx="877824" cy="310896"/>
          </a:xfrm>
          <a:prstGeom prst="rect">
            <a:avLst/>
          </a:prstGeom>
          <a:noFill/>
        </p:spPr>
        <p:txBody>
          <a:bodyPr wrap="square" lIns="0" tIns="0" rIns="0" bIns="0" anchor="t">
            <a:noAutofit/>
          </a:bodyPr>
          <a:lstStyle/>
          <a:p>
            <a:pPr algn="ctr">
              <a:lnSpc>
                <a:spcPct val="110000"/>
              </a:lnSpc>
              <a:spcBef>
                <a:spcPts val="0"/>
              </a:spcBef>
              <a:spcAft>
                <a:spcPts val="0"/>
              </a:spcAft>
            </a:pPr>
            <a:r>
              <a:rPr sz="2500" b="1">
                <a:solidFill>
                  <a:srgbClr val="389778"/>
                </a:solidFill>
                <a:latin typeface="Arial"/>
              </a:rPr>
              <a:t>5</a:t>
            </a:r>
          </a:p>
        </p:txBody>
      </p:sp>
      <p:sp>
        <p:nvSpPr>
          <p:cNvPr id="35" name="TextBox 34"/>
          <p:cNvSpPr txBox="1"/>
          <p:nvPr/>
        </p:nvSpPr>
        <p:spPr>
          <a:xfrm>
            <a:off x="4901183" y="3959352"/>
            <a:ext cx="877824" cy="237744"/>
          </a:xfrm>
          <a:prstGeom prst="rect">
            <a:avLst/>
          </a:prstGeom>
          <a:noFill/>
        </p:spPr>
        <p:txBody>
          <a:bodyPr wrap="square" lIns="0" tIns="0" rIns="0" bIns="0" anchor="t">
            <a:noAutofit/>
          </a:bodyPr>
          <a:lstStyle/>
          <a:p>
            <a:pPr algn="ctr">
              <a:lnSpc>
                <a:spcPct val="110000"/>
              </a:lnSpc>
              <a:spcBef>
                <a:spcPts val="0"/>
              </a:spcBef>
              <a:spcAft>
                <a:spcPts val="0"/>
              </a:spcAft>
            </a:pPr>
            <a:r>
              <a:rPr sz="1300" b="0">
                <a:solidFill>
                  <a:srgbClr val="7F869A"/>
                </a:solidFill>
                <a:latin typeface="Arial"/>
              </a:rPr>
              <a:t>chosen</a:t>
            </a:r>
          </a:p>
        </p:txBody>
      </p:sp>
      <p:sp>
        <p:nvSpPr>
          <p:cNvPr id="36" name="Rounded Rectangle 35"/>
          <p:cNvSpPr/>
          <p:nvPr/>
        </p:nvSpPr>
        <p:spPr>
          <a:xfrm>
            <a:off x="5952744" y="2816352"/>
            <a:ext cx="877824" cy="969264"/>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952744" y="3054096"/>
            <a:ext cx="877824" cy="310896"/>
          </a:xfrm>
          <a:prstGeom prst="rect">
            <a:avLst/>
          </a:prstGeom>
          <a:noFill/>
        </p:spPr>
        <p:txBody>
          <a:bodyPr wrap="square" lIns="0" tIns="0" rIns="0" bIns="0" anchor="t">
            <a:noAutofit/>
          </a:bodyPr>
          <a:lstStyle/>
          <a:p>
            <a:pPr algn="ctr">
              <a:lnSpc>
                <a:spcPct val="110000"/>
              </a:lnSpc>
              <a:spcBef>
                <a:spcPts val="0"/>
              </a:spcBef>
              <a:spcAft>
                <a:spcPts val="0"/>
              </a:spcAft>
            </a:pPr>
            <a:r>
              <a:rPr sz="2500" b="1">
                <a:solidFill>
                  <a:srgbClr val="7F869A"/>
                </a:solidFill>
                <a:latin typeface="Arial"/>
              </a:rPr>
              <a:t>6</a:t>
            </a:r>
          </a:p>
        </p:txBody>
      </p:sp>
      <p:sp>
        <p:nvSpPr>
          <p:cNvPr id="38" name="TextBox 37"/>
          <p:cNvSpPr txBox="1"/>
          <p:nvPr/>
        </p:nvSpPr>
        <p:spPr>
          <a:xfrm>
            <a:off x="5952744" y="3959352"/>
            <a:ext cx="877824" cy="237744"/>
          </a:xfrm>
          <a:prstGeom prst="rect">
            <a:avLst/>
          </a:prstGeom>
          <a:noFill/>
        </p:spPr>
        <p:txBody>
          <a:bodyPr wrap="square" lIns="0" tIns="0" rIns="0" bIns="0" anchor="t">
            <a:noAutofit/>
          </a:bodyPr>
          <a:lstStyle/>
          <a:p>
            <a:pPr algn="ctr">
              <a:lnSpc>
                <a:spcPct val="110000"/>
              </a:lnSpc>
              <a:spcBef>
                <a:spcPts val="0"/>
              </a:spcBef>
              <a:spcAft>
                <a:spcPts val="0"/>
              </a:spcAft>
            </a:pPr>
            <a:r>
              <a:rPr sz="1300" b="0">
                <a:solidFill>
                  <a:srgbClr val="7F869A"/>
                </a:solidFill>
                <a:latin typeface="Arial"/>
              </a:rPr>
              <a:t>free</a:t>
            </a:r>
          </a:p>
        </p:txBody>
      </p:sp>
      <p:cxnSp>
        <p:nvCxnSpPr>
          <p:cNvPr id="39" name="Connector 38"/>
          <p:cNvCxnSpPr/>
          <p:nvPr/>
        </p:nvCxnSpPr>
        <p:spPr>
          <a:xfrm>
            <a:off x="1133856" y="4443984"/>
            <a:ext cx="1042416" cy="0"/>
          </a:xfrm>
          <a:prstGeom prst="line">
            <a:avLst/>
          </a:prstGeom>
          <a:ln w="22860">
            <a:solidFill>
              <a:srgbClr val="BD5A65"/>
            </a:solidFill>
            <a:tailEnd type="triangle" w="sm" len="sm"/>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13816" y="4663440"/>
            <a:ext cx="2468880" cy="502920"/>
          </a:xfrm>
          <a:prstGeom prst="rect">
            <a:avLst/>
          </a:prstGeom>
          <a:noFill/>
        </p:spPr>
        <p:txBody>
          <a:bodyPr wrap="square" lIns="0" tIns="0" rIns="0" bIns="0" anchor="t">
            <a:noAutofit/>
          </a:bodyPr>
          <a:lstStyle/>
          <a:p>
            <a:pPr algn="ctr">
              <a:lnSpc>
                <a:spcPct val="110000"/>
              </a:lnSpc>
              <a:spcBef>
                <a:spcPts val="0"/>
              </a:spcBef>
              <a:spcAft>
                <a:spcPts val="0"/>
              </a:spcAft>
            </a:pPr>
            <a:r>
              <a:rPr sz="1750" b="1">
                <a:solidFill>
                  <a:srgbClr val="BD5A65"/>
                </a:solidFill>
                <a:latin typeface="Arial"/>
              </a:rPr>
              <a:t>1 → 2 fails</a:t>
            </a:r>
          </a:p>
          <a:p>
            <a:pPr algn="ctr">
              <a:lnSpc>
                <a:spcPct val="110000"/>
              </a:lnSpc>
              <a:spcBef>
                <a:spcPts val="0"/>
              </a:spcBef>
              <a:spcAft>
                <a:spcPts val="0"/>
              </a:spcAft>
            </a:pPr>
            <a:r>
              <a:rPr sz="1750" b="1">
                <a:solidFill>
                  <a:srgbClr val="BD5A65"/>
                </a:solidFill>
                <a:latin typeface="Arial"/>
              </a:rPr>
              <a:t>Backtrack</a:t>
            </a:r>
          </a:p>
        </p:txBody>
      </p:sp>
      <p:cxnSp>
        <p:nvCxnSpPr>
          <p:cNvPr id="41" name="Connector 40"/>
          <p:cNvCxnSpPr/>
          <p:nvPr/>
        </p:nvCxnSpPr>
        <p:spPr>
          <a:xfrm>
            <a:off x="3264408" y="4443984"/>
            <a:ext cx="2103120" cy="0"/>
          </a:xfrm>
          <a:prstGeom prst="line">
            <a:avLst/>
          </a:prstGeom>
          <a:ln w="2286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163824" y="4663440"/>
            <a:ext cx="3392424" cy="493776"/>
          </a:xfrm>
          <a:prstGeom prst="rect">
            <a:avLst/>
          </a:prstGeom>
          <a:noFill/>
        </p:spPr>
        <p:txBody>
          <a:bodyPr wrap="square" lIns="0" tIns="0" rIns="0" bIns="0" anchor="t">
            <a:noAutofit/>
          </a:bodyPr>
          <a:lstStyle/>
          <a:p>
            <a:pPr algn="ctr">
              <a:lnSpc>
                <a:spcPct val="110000"/>
              </a:lnSpc>
              <a:spcBef>
                <a:spcPts val="0"/>
              </a:spcBef>
              <a:spcAft>
                <a:spcPts val="0"/>
              </a:spcAft>
            </a:pPr>
            <a:r>
              <a:rPr sz="1750" b="1">
                <a:solidFill>
                  <a:srgbClr val="389778"/>
                </a:solidFill>
                <a:latin typeface="Arial"/>
              </a:rPr>
              <a:t>3 → 4 → 5 succeeds</a:t>
            </a:r>
          </a:p>
          <a:p>
            <a:pPr algn="ctr">
              <a:lnSpc>
                <a:spcPct val="110000"/>
              </a:lnSpc>
              <a:spcBef>
                <a:spcPts val="0"/>
              </a:spcBef>
              <a:spcAft>
                <a:spcPts val="0"/>
              </a:spcAft>
            </a:pPr>
            <a:r>
              <a:rPr sz="1750" b="1">
                <a:solidFill>
                  <a:srgbClr val="389778"/>
                </a:solidFill>
                <a:latin typeface="Arial"/>
              </a:rPr>
              <a:t>Return unique free seats</a:t>
            </a:r>
          </a:p>
        </p:txBody>
      </p:sp>
      <p:sp>
        <p:nvSpPr>
          <p:cNvPr id="43" name="Rounded Rectangle 42"/>
          <p:cNvSpPr/>
          <p:nvPr/>
        </p:nvSpPr>
        <p:spPr>
          <a:xfrm>
            <a:off x="7635240" y="2048256"/>
            <a:ext cx="3931920" cy="1097280"/>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799831" y="2185416"/>
            <a:ext cx="3602736" cy="365760"/>
          </a:xfrm>
          <a:prstGeom prst="rect">
            <a:avLst/>
          </a:prstGeom>
          <a:noFill/>
        </p:spPr>
        <p:txBody>
          <a:bodyPr wrap="square" lIns="0" tIns="0" rIns="0" bIns="0" anchor="t">
            <a:noAutofit/>
          </a:bodyPr>
          <a:lstStyle/>
          <a:p>
            <a:pPr algn="l">
              <a:lnSpc>
                <a:spcPct val="110000"/>
              </a:lnSpc>
              <a:spcBef>
                <a:spcPts val="0"/>
              </a:spcBef>
              <a:spcAft>
                <a:spcPts val="0"/>
              </a:spcAft>
            </a:pPr>
            <a:r>
              <a:rPr sz="2050" b="1">
                <a:solidFill>
                  <a:srgbClr val="22263B"/>
                </a:solidFill>
                <a:latin typeface="Arial"/>
              </a:rPr>
              <a:t>Bound the hard search</a:t>
            </a:r>
          </a:p>
        </p:txBody>
      </p:sp>
      <p:sp>
        <p:nvSpPr>
          <p:cNvPr id="45" name="TextBox 44"/>
          <p:cNvSpPr txBox="1"/>
          <p:nvPr/>
        </p:nvSpPr>
        <p:spPr>
          <a:xfrm>
            <a:off x="7799831" y="2633472"/>
            <a:ext cx="3602736" cy="457200"/>
          </a:xfrm>
          <a:prstGeom prst="rect">
            <a:avLst/>
          </a:prstGeom>
          <a:noFill/>
        </p:spPr>
        <p:txBody>
          <a:bodyPr wrap="square" lIns="0" tIns="0" rIns="0" bIns="0" anchor="t">
            <a:noAutofit/>
          </a:bodyPr>
          <a:lstStyle/>
          <a:p>
            <a:pPr algn="l">
              <a:lnSpc>
                <a:spcPct val="110000"/>
              </a:lnSpc>
              <a:spcBef>
                <a:spcPts val="0"/>
              </a:spcBef>
              <a:spcAft>
                <a:spcPts val="0"/>
              </a:spcAft>
            </a:pPr>
            <a:r>
              <a:rPr sz="2000" b="0">
                <a:solidFill>
                  <a:srgbClr val="50576D"/>
                </a:solidFill>
                <a:latin typeface="Arial"/>
              </a:rPr>
              <a:t>Fixed row width = 6</a:t>
            </a:r>
          </a:p>
        </p:txBody>
      </p:sp>
      <p:sp>
        <p:nvSpPr>
          <p:cNvPr id="46" name="Rounded Rectangle 45"/>
          <p:cNvSpPr/>
          <p:nvPr/>
        </p:nvSpPr>
        <p:spPr>
          <a:xfrm>
            <a:off x="7635240" y="3374136"/>
            <a:ext cx="3931920" cy="1060704"/>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799831" y="3511296"/>
            <a:ext cx="3602736" cy="365760"/>
          </a:xfrm>
          <a:prstGeom prst="rect">
            <a:avLst/>
          </a:prstGeom>
          <a:noFill/>
        </p:spPr>
        <p:txBody>
          <a:bodyPr wrap="square" lIns="0" tIns="0" rIns="0" bIns="0" anchor="t">
            <a:noAutofit/>
          </a:bodyPr>
          <a:lstStyle/>
          <a:p>
            <a:pPr algn="l">
              <a:lnSpc>
                <a:spcPct val="110000"/>
              </a:lnSpc>
              <a:spcBef>
                <a:spcPts val="0"/>
              </a:spcBef>
              <a:spcAft>
                <a:spcPts val="0"/>
              </a:spcAft>
            </a:pPr>
            <a:r>
              <a:rPr sz="2050" b="1">
                <a:solidFill>
                  <a:srgbClr val="389778"/>
                </a:solidFill>
                <a:latin typeface="Arial"/>
              </a:rPr>
              <a:t>If no row group fits</a:t>
            </a:r>
          </a:p>
        </p:txBody>
      </p:sp>
      <p:sp>
        <p:nvSpPr>
          <p:cNvPr id="48" name="TextBox 47"/>
          <p:cNvSpPr txBox="1"/>
          <p:nvPr/>
        </p:nvSpPr>
        <p:spPr>
          <a:xfrm>
            <a:off x="7799831" y="3959352"/>
            <a:ext cx="3602736" cy="420623"/>
          </a:xfrm>
          <a:prstGeom prst="rect">
            <a:avLst/>
          </a:prstGeom>
          <a:noFill/>
        </p:spPr>
        <p:txBody>
          <a:bodyPr wrap="square" lIns="0" tIns="0" rIns="0" bIns="0" anchor="t">
            <a:noAutofit/>
          </a:bodyPr>
          <a:lstStyle/>
          <a:p>
            <a:pPr algn="l">
              <a:lnSpc>
                <a:spcPct val="110000"/>
              </a:lnSpc>
              <a:spcBef>
                <a:spcPts val="0"/>
              </a:spcBef>
              <a:spcAft>
                <a:spcPts val="0"/>
              </a:spcAft>
            </a:pPr>
            <a:r>
              <a:rPr sz="1850" b="0">
                <a:solidFill>
                  <a:srgbClr val="50576D"/>
                </a:solidFill>
                <a:latin typeface="Arial"/>
              </a:rPr>
              <a:t>Choose earliest free seats</a:t>
            </a:r>
          </a:p>
        </p:txBody>
      </p:sp>
      <p:sp>
        <p:nvSpPr>
          <p:cNvPr id="49" name="Rounded Rectangle 48"/>
          <p:cNvSpPr/>
          <p:nvPr/>
        </p:nvSpPr>
        <p:spPr>
          <a:xfrm>
            <a:off x="7635240" y="4636008"/>
            <a:ext cx="3931920" cy="996696"/>
          </a:xfrm>
          <a:prstGeom prst="roundRect">
            <a:avLst>
              <a:gd name="adj" fmla="val 14000"/>
            </a:avLst>
          </a:prstGeom>
          <a:solidFill>
            <a:srgbClr val="FB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781544" y="4736592"/>
            <a:ext cx="3639312" cy="256032"/>
          </a:xfrm>
          <a:prstGeom prst="rect">
            <a:avLst/>
          </a:prstGeom>
          <a:noFill/>
        </p:spPr>
        <p:txBody>
          <a:bodyPr wrap="square" lIns="0" tIns="0" rIns="0" bIns="0" anchor="t">
            <a:noAutofit/>
          </a:bodyPr>
          <a:lstStyle/>
          <a:p>
            <a:pPr algn="l">
              <a:lnSpc>
                <a:spcPct val="110000"/>
              </a:lnSpc>
              <a:spcBef>
                <a:spcPts val="0"/>
              </a:spcBef>
              <a:spcAft>
                <a:spcPts val="0"/>
              </a:spcAft>
            </a:pPr>
            <a:r>
              <a:rPr sz="1750" b="1">
                <a:solidFill>
                  <a:srgbClr val="B97D38"/>
                </a:solidFill>
                <a:latin typeface="Arial"/>
              </a:rPr>
              <a:t>Availability is the invariant</a:t>
            </a:r>
          </a:p>
        </p:txBody>
      </p:sp>
      <p:sp>
        <p:nvSpPr>
          <p:cNvPr id="51" name="TextBox 50"/>
          <p:cNvSpPr txBox="1"/>
          <p:nvPr/>
        </p:nvSpPr>
        <p:spPr>
          <a:xfrm>
            <a:off x="7781544" y="5120640"/>
            <a:ext cx="3639312" cy="438912"/>
          </a:xfrm>
          <a:prstGeom prst="rect">
            <a:avLst/>
          </a:prstGeom>
          <a:noFill/>
        </p:spPr>
        <p:txBody>
          <a:bodyPr wrap="square" lIns="0" tIns="0" rIns="0" bIns="0" anchor="t">
            <a:noAutofit/>
          </a:bodyPr>
          <a:lstStyle/>
          <a:p>
            <a:pPr algn="l">
              <a:lnSpc>
                <a:spcPct val="110000"/>
              </a:lnSpc>
              <a:spcBef>
                <a:spcPts val="0"/>
              </a:spcBef>
              <a:spcAft>
                <a:spcPts val="0"/>
              </a:spcAft>
            </a:pPr>
            <a:r>
              <a:rPr sz="1580" b="0">
                <a:solidFill>
                  <a:srgbClr val="50576D"/>
                </a:solidFill>
                <a:latin typeface="Arial"/>
              </a:rPr>
              <a:t>Together is a preference—not a promise.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ALGORITHM 05 / BRANCH-AND-BOUND</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Branch &amp; bound: fastest within a budget</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Search simple paths; reject over-budget branches and prune by an admissible remaining-time bound.</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branch_bound_route minimises minutes under a fare budget; a 20,000-state cap raises an explicit error.</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algorithms.py: branch_bound_route • budgeted path tests</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12 / 35</a:t>
            </a:r>
          </a:p>
        </p:txBody>
      </p:sp>
      <p:sp>
        <p:nvSpPr>
          <p:cNvPr id="20" name="Rounded Rectangle 19"/>
          <p:cNvSpPr/>
          <p:nvPr/>
        </p:nvSpPr>
        <p:spPr>
          <a:xfrm>
            <a:off x="603504" y="1975104"/>
            <a:ext cx="2496312" cy="384048"/>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 y="2025396"/>
            <a:ext cx="2331720" cy="320040"/>
          </a:xfrm>
          <a:prstGeom prst="rect">
            <a:avLst/>
          </a:prstGeom>
          <a:noFill/>
        </p:spPr>
        <p:txBody>
          <a:bodyPr wrap="square" lIns="0" tIns="0" rIns="0" bIns="0" anchor="t">
            <a:noAutofit/>
          </a:bodyPr>
          <a:lstStyle/>
          <a:p>
            <a:pPr algn="ctr">
              <a:lnSpc>
                <a:spcPct val="110000"/>
              </a:lnSpc>
              <a:spcBef>
                <a:spcPts val="0"/>
              </a:spcBef>
              <a:spcAft>
                <a:spcPts val="0"/>
              </a:spcAft>
            </a:pPr>
            <a:r>
              <a:rPr sz="1600" b="1">
                <a:solidFill>
                  <a:srgbClr val="FFFFFF"/>
                </a:solidFill>
                <a:latin typeface="Arial"/>
              </a:rPr>
              <a:t>FARE BUDGET = 350</a:t>
            </a:r>
          </a:p>
        </p:txBody>
      </p:sp>
      <p:cxnSp>
        <p:nvCxnSpPr>
          <p:cNvPr id="22" name="Connector 21"/>
          <p:cNvCxnSpPr/>
          <p:nvPr/>
        </p:nvCxnSpPr>
        <p:spPr>
          <a:xfrm flipH="1">
            <a:off x="1709928" y="2889504"/>
            <a:ext cx="1124712" cy="768096"/>
          </a:xfrm>
          <a:prstGeom prst="line">
            <a:avLst/>
          </a:prstGeom>
          <a:ln w="3175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834640" y="2889504"/>
            <a:ext cx="1892808" cy="768096"/>
          </a:xfrm>
          <a:prstGeom prst="line">
            <a:avLst/>
          </a:prstGeom>
          <a:ln w="26670">
            <a:solidFill>
              <a:srgbClr val="BD5A65"/>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2496312" y="2249424"/>
            <a:ext cx="676656" cy="676656"/>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496312" y="2286000"/>
            <a:ext cx="676656" cy="630936"/>
          </a:xfrm>
          <a:prstGeom prst="rect">
            <a:avLst/>
          </a:prstGeom>
          <a:noFill/>
        </p:spPr>
        <p:txBody>
          <a:bodyPr wrap="square" lIns="0" tIns="0" rIns="0" bIns="0" anchor="ctr">
            <a:noAutofit/>
          </a:bodyPr>
          <a:lstStyle/>
          <a:p>
            <a:pPr algn="ctr">
              <a:lnSpc>
                <a:spcPct val="110000"/>
              </a:lnSpc>
              <a:spcBef>
                <a:spcPts val="0"/>
              </a:spcBef>
              <a:spcAft>
                <a:spcPts val="0"/>
              </a:spcAft>
            </a:pPr>
            <a:r>
              <a:rPr sz="2500" b="1">
                <a:solidFill>
                  <a:srgbClr val="FFFFFF"/>
                </a:solidFill>
                <a:latin typeface="Arial"/>
              </a:rPr>
              <a:t>A</a:t>
            </a:r>
          </a:p>
        </p:txBody>
      </p:sp>
      <p:sp>
        <p:nvSpPr>
          <p:cNvPr id="26" name="Rounded Rectangle 25"/>
          <p:cNvSpPr/>
          <p:nvPr/>
        </p:nvSpPr>
        <p:spPr>
          <a:xfrm>
            <a:off x="704088" y="3675887"/>
            <a:ext cx="2880360" cy="1481328"/>
          </a:xfrm>
          <a:prstGeom prst="roundRect">
            <a:avLst>
              <a:gd name="adj" fmla="val 14000"/>
            </a:avLst>
          </a:prstGeom>
          <a:solidFill>
            <a:srgbClr val="EAF5F0"/>
          </a:solidFill>
          <a:ln w="12700">
            <a:solidFill>
              <a:srgbClr val="3897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86968" y="3858768"/>
            <a:ext cx="2514600" cy="320040"/>
          </a:xfrm>
          <a:prstGeom prst="rect">
            <a:avLst/>
          </a:prstGeom>
          <a:noFill/>
        </p:spPr>
        <p:txBody>
          <a:bodyPr wrap="square" lIns="0" tIns="0" rIns="0" bIns="0" anchor="t">
            <a:noAutofit/>
          </a:bodyPr>
          <a:lstStyle/>
          <a:p>
            <a:pPr algn="l">
              <a:lnSpc>
                <a:spcPct val="110000"/>
              </a:lnSpc>
              <a:spcBef>
                <a:spcPts val="0"/>
              </a:spcBef>
              <a:spcAft>
                <a:spcPts val="0"/>
              </a:spcAft>
            </a:pPr>
            <a:r>
              <a:rPr sz="2500" b="1">
                <a:solidFill>
                  <a:srgbClr val="389778"/>
                </a:solidFill>
                <a:latin typeface="Arial"/>
              </a:rPr>
              <a:t>A → C → D</a:t>
            </a:r>
          </a:p>
        </p:txBody>
      </p:sp>
      <p:sp>
        <p:nvSpPr>
          <p:cNvPr id="28" name="TextBox 27"/>
          <p:cNvSpPr txBox="1"/>
          <p:nvPr/>
        </p:nvSpPr>
        <p:spPr>
          <a:xfrm>
            <a:off x="886968" y="4343400"/>
            <a:ext cx="2514600" cy="603504"/>
          </a:xfrm>
          <a:prstGeom prst="rect">
            <a:avLst/>
          </a:prstGeom>
          <a:noFill/>
        </p:spPr>
        <p:txBody>
          <a:bodyPr wrap="square" lIns="0" tIns="0" rIns="0" bIns="0" anchor="t">
            <a:noAutofit/>
          </a:bodyPr>
          <a:lstStyle/>
          <a:p>
            <a:pPr algn="l">
              <a:lnSpc>
                <a:spcPct val="110000"/>
              </a:lnSpc>
              <a:spcBef>
                <a:spcPts val="0"/>
              </a:spcBef>
              <a:spcAft>
                <a:spcPts val="0"/>
              </a:spcAft>
            </a:pPr>
            <a:r>
              <a:rPr sz="1880" b="0">
                <a:solidFill>
                  <a:srgbClr val="50576D"/>
                </a:solidFill>
                <a:latin typeface="Arial"/>
              </a:rPr>
              <a:t>fare 350</a:t>
            </a:r>
          </a:p>
          <a:p>
            <a:pPr algn="l">
              <a:lnSpc>
                <a:spcPct val="110000"/>
              </a:lnSpc>
              <a:spcBef>
                <a:spcPts val="0"/>
              </a:spcBef>
              <a:spcAft>
                <a:spcPts val="0"/>
              </a:spcAft>
            </a:pPr>
            <a:r>
              <a:rPr sz="1880" b="0">
                <a:solidFill>
                  <a:srgbClr val="50576D"/>
                </a:solidFill>
                <a:latin typeface="Arial"/>
              </a:rPr>
              <a:t>70 minutes: incumbent</a:t>
            </a:r>
          </a:p>
        </p:txBody>
      </p:sp>
      <p:sp>
        <p:nvSpPr>
          <p:cNvPr id="29" name="Rounded Rectangle 28"/>
          <p:cNvSpPr/>
          <p:nvPr/>
        </p:nvSpPr>
        <p:spPr>
          <a:xfrm>
            <a:off x="4005072" y="3675887"/>
            <a:ext cx="2743200" cy="1481328"/>
          </a:xfrm>
          <a:prstGeom prst="roundRect">
            <a:avLst>
              <a:gd name="adj" fmla="val 14000"/>
            </a:avLst>
          </a:prstGeom>
          <a:solidFill>
            <a:srgbClr val="FBEFF0"/>
          </a:solidFill>
          <a:ln w="12700">
            <a:solidFill>
              <a:srgbClr val="BD5A6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78808" y="3858768"/>
            <a:ext cx="2395728" cy="320040"/>
          </a:xfrm>
          <a:prstGeom prst="rect">
            <a:avLst/>
          </a:prstGeom>
          <a:noFill/>
        </p:spPr>
        <p:txBody>
          <a:bodyPr wrap="square" lIns="0" tIns="0" rIns="0" bIns="0" anchor="t">
            <a:noAutofit/>
          </a:bodyPr>
          <a:lstStyle/>
          <a:p>
            <a:pPr algn="l">
              <a:lnSpc>
                <a:spcPct val="110000"/>
              </a:lnSpc>
              <a:spcBef>
                <a:spcPts val="0"/>
              </a:spcBef>
              <a:spcAft>
                <a:spcPts val="0"/>
              </a:spcAft>
            </a:pPr>
            <a:r>
              <a:rPr sz="2500" b="1">
                <a:solidFill>
                  <a:srgbClr val="BD5A65"/>
                </a:solidFill>
                <a:latin typeface="Arial"/>
              </a:rPr>
              <a:t>A → B → …</a:t>
            </a:r>
          </a:p>
        </p:txBody>
      </p:sp>
      <p:sp>
        <p:nvSpPr>
          <p:cNvPr id="31" name="TextBox 30"/>
          <p:cNvSpPr txBox="1"/>
          <p:nvPr/>
        </p:nvSpPr>
        <p:spPr>
          <a:xfrm>
            <a:off x="4178808" y="4343400"/>
            <a:ext cx="2395728" cy="603504"/>
          </a:xfrm>
          <a:prstGeom prst="rect">
            <a:avLst/>
          </a:prstGeom>
          <a:noFill/>
        </p:spPr>
        <p:txBody>
          <a:bodyPr wrap="square" lIns="0" tIns="0" rIns="0" bIns="0" anchor="t">
            <a:noAutofit/>
          </a:bodyPr>
          <a:lstStyle/>
          <a:p>
            <a:pPr algn="l">
              <a:lnSpc>
                <a:spcPct val="110000"/>
              </a:lnSpc>
              <a:spcBef>
                <a:spcPts val="0"/>
              </a:spcBef>
              <a:spcAft>
                <a:spcPts val="0"/>
              </a:spcAft>
            </a:pPr>
            <a:r>
              <a:rPr sz="1820" b="0">
                <a:solidFill>
                  <a:srgbClr val="50576D"/>
                </a:solidFill>
                <a:latin typeface="Arial"/>
              </a:rPr>
              <a:t>90 + 20 ≥ 70</a:t>
            </a:r>
          </a:p>
          <a:p>
            <a:pPr algn="l">
              <a:lnSpc>
                <a:spcPct val="110000"/>
              </a:lnSpc>
              <a:spcBef>
                <a:spcPts val="0"/>
              </a:spcBef>
              <a:spcAft>
                <a:spcPts val="0"/>
              </a:spcAft>
            </a:pPr>
            <a:r>
              <a:rPr sz="1820" b="0">
                <a:solidFill>
                  <a:srgbClr val="50576D"/>
                </a:solidFill>
                <a:latin typeface="Arial"/>
              </a:rPr>
              <a:t>Cannot beat incumbent</a:t>
            </a:r>
          </a:p>
        </p:txBody>
      </p:sp>
      <p:sp>
        <p:nvSpPr>
          <p:cNvPr id="32" name="TextBox 31"/>
          <p:cNvSpPr txBox="1"/>
          <p:nvPr/>
        </p:nvSpPr>
        <p:spPr>
          <a:xfrm>
            <a:off x="768096" y="5413248"/>
            <a:ext cx="5907024" cy="256032"/>
          </a:xfrm>
          <a:prstGeom prst="rect">
            <a:avLst/>
          </a:prstGeom>
          <a:noFill/>
        </p:spPr>
        <p:txBody>
          <a:bodyPr wrap="square" lIns="0" tIns="0" rIns="0" bIns="0" anchor="t">
            <a:noAutofit/>
          </a:bodyPr>
          <a:lstStyle/>
          <a:p>
            <a:pPr algn="l">
              <a:lnSpc>
                <a:spcPct val="110000"/>
              </a:lnSpc>
              <a:spcBef>
                <a:spcPts val="0"/>
              </a:spcBef>
              <a:spcAft>
                <a:spcPts val="0"/>
              </a:spcAft>
            </a:pPr>
            <a:r>
              <a:rPr sz="1510" b="1">
                <a:solidFill>
                  <a:srgbClr val="7F869A"/>
                </a:solidFill>
                <a:latin typeface="Arial"/>
              </a:rPr>
              <a:t>Lower bound helps typical cases; worst-case growth still matters.</a:t>
            </a:r>
          </a:p>
        </p:txBody>
      </p:sp>
      <p:sp>
        <p:nvSpPr>
          <p:cNvPr id="33" name="Rounded Rectangle 32"/>
          <p:cNvSpPr/>
          <p:nvPr/>
        </p:nvSpPr>
        <p:spPr>
          <a:xfrm>
            <a:off x="7470648" y="1975104"/>
            <a:ext cx="4105656" cy="127101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635240" y="2112264"/>
            <a:ext cx="3776472" cy="365760"/>
          </a:xfrm>
          <a:prstGeom prst="rect">
            <a:avLst/>
          </a:prstGeom>
          <a:noFill/>
        </p:spPr>
        <p:txBody>
          <a:bodyPr wrap="square" lIns="0" tIns="0" rIns="0" bIns="0" anchor="t">
            <a:noAutofit/>
          </a:bodyPr>
          <a:lstStyle/>
          <a:p>
            <a:pPr algn="l">
              <a:lnSpc>
                <a:spcPct val="110000"/>
              </a:lnSpc>
              <a:spcBef>
                <a:spcPts val="0"/>
              </a:spcBef>
              <a:spcAft>
                <a:spcPts val="0"/>
              </a:spcAft>
            </a:pPr>
            <a:r>
              <a:rPr sz="2010" b="1">
                <a:solidFill>
                  <a:srgbClr val="22263B"/>
                </a:solidFill>
                <a:latin typeface="Arial"/>
              </a:rPr>
              <a:t>Lower the budget to 300</a:t>
            </a:r>
          </a:p>
        </p:txBody>
      </p:sp>
      <p:sp>
        <p:nvSpPr>
          <p:cNvPr id="35" name="TextBox 34"/>
          <p:cNvSpPr txBox="1"/>
          <p:nvPr/>
        </p:nvSpPr>
        <p:spPr>
          <a:xfrm>
            <a:off x="7635240" y="2560320"/>
            <a:ext cx="3776472" cy="630936"/>
          </a:xfrm>
          <a:prstGeom prst="rect">
            <a:avLst/>
          </a:prstGeom>
          <a:noFill/>
        </p:spPr>
        <p:txBody>
          <a:bodyPr wrap="square" lIns="0" tIns="0" rIns="0" bIns="0" anchor="t">
            <a:noAutofit/>
          </a:bodyPr>
          <a:lstStyle/>
          <a:p>
            <a:pPr algn="l">
              <a:lnSpc>
                <a:spcPct val="110000"/>
              </a:lnSpc>
              <a:spcBef>
                <a:spcPts val="0"/>
              </a:spcBef>
              <a:spcAft>
                <a:spcPts val="0"/>
              </a:spcAft>
            </a:pPr>
            <a:r>
              <a:rPr sz="1839" b="0">
                <a:solidFill>
                  <a:srgbClr val="50576D"/>
                </a:solidFill>
                <a:latin typeface="Arial"/>
              </a:rPr>
              <a:t>A → B → C → D</a:t>
            </a:r>
          </a:p>
          <a:p>
            <a:pPr algn="l">
              <a:lnSpc>
                <a:spcPct val="110000"/>
              </a:lnSpc>
              <a:spcBef>
                <a:spcPts val="0"/>
              </a:spcBef>
              <a:spcAft>
                <a:spcPts val="0"/>
              </a:spcAft>
            </a:pPr>
            <a:r>
              <a:rPr sz="1839" b="0">
                <a:solidFill>
                  <a:srgbClr val="50576D"/>
                </a:solidFill>
                <a:latin typeface="Arial"/>
              </a:rPr>
              <a:t>fare 300 • 170 minutes</a:t>
            </a:r>
          </a:p>
        </p:txBody>
      </p:sp>
      <p:sp>
        <p:nvSpPr>
          <p:cNvPr id="36" name="Rounded Rectangle 35"/>
          <p:cNvSpPr/>
          <p:nvPr/>
        </p:nvSpPr>
        <p:spPr>
          <a:xfrm>
            <a:off x="7470648" y="3520440"/>
            <a:ext cx="4105656" cy="1024128"/>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635240" y="3657600"/>
            <a:ext cx="3776472" cy="365760"/>
          </a:xfrm>
          <a:prstGeom prst="rect">
            <a:avLst/>
          </a:prstGeom>
          <a:noFill/>
        </p:spPr>
        <p:txBody>
          <a:bodyPr wrap="square" lIns="0" tIns="0" rIns="0" bIns="0" anchor="t">
            <a:noAutofit/>
          </a:bodyPr>
          <a:lstStyle/>
          <a:p>
            <a:pPr algn="l">
              <a:lnSpc>
                <a:spcPct val="110000"/>
              </a:lnSpc>
              <a:spcBef>
                <a:spcPts val="0"/>
              </a:spcBef>
              <a:spcAft>
                <a:spcPts val="0"/>
              </a:spcAft>
            </a:pPr>
            <a:r>
              <a:rPr sz="2010" b="1">
                <a:solidFill>
                  <a:srgbClr val="22263B"/>
                </a:solidFill>
                <a:latin typeface="Arial"/>
              </a:rPr>
              <a:t>Reject cycles</a:t>
            </a:r>
          </a:p>
        </p:txBody>
      </p:sp>
      <p:sp>
        <p:nvSpPr>
          <p:cNvPr id="38" name="TextBox 37"/>
          <p:cNvSpPr txBox="1"/>
          <p:nvPr/>
        </p:nvSpPr>
        <p:spPr>
          <a:xfrm>
            <a:off x="7635240" y="4105656"/>
            <a:ext cx="3776472" cy="384048"/>
          </a:xfrm>
          <a:prstGeom prst="rect">
            <a:avLst/>
          </a:prstGeom>
          <a:noFill/>
        </p:spPr>
        <p:txBody>
          <a:bodyPr wrap="square" lIns="0" tIns="0" rIns="0" bIns="0" anchor="t">
            <a:noAutofit/>
          </a:bodyPr>
          <a:lstStyle/>
          <a:p>
            <a:pPr algn="l">
              <a:lnSpc>
                <a:spcPct val="110000"/>
              </a:lnSpc>
              <a:spcBef>
                <a:spcPts val="0"/>
              </a:spcBef>
              <a:spcAft>
                <a:spcPts val="0"/>
              </a:spcAft>
            </a:pPr>
            <a:r>
              <a:rPr sz="1780" b="0">
                <a:solidFill>
                  <a:srgbClr val="50576D"/>
                </a:solidFill>
                <a:latin typeface="Arial"/>
              </a:rPr>
              <a:t>Only simple paths are explored</a:t>
            </a:r>
          </a:p>
        </p:txBody>
      </p:sp>
      <p:sp>
        <p:nvSpPr>
          <p:cNvPr id="39" name="Rounded Rectangle 38"/>
          <p:cNvSpPr/>
          <p:nvPr/>
        </p:nvSpPr>
        <p:spPr>
          <a:xfrm>
            <a:off x="7470648" y="4745736"/>
            <a:ext cx="4105656" cy="923544"/>
          </a:xfrm>
          <a:prstGeom prst="roundRect">
            <a:avLst>
              <a:gd name="adj" fmla="val 14000"/>
            </a:avLst>
          </a:prstGeom>
          <a:solidFill>
            <a:srgbClr val="FB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616952" y="4846320"/>
            <a:ext cx="3813048" cy="256032"/>
          </a:xfrm>
          <a:prstGeom prst="rect">
            <a:avLst/>
          </a:prstGeom>
          <a:noFill/>
        </p:spPr>
        <p:txBody>
          <a:bodyPr wrap="square" lIns="0" tIns="0" rIns="0" bIns="0" anchor="t">
            <a:noAutofit/>
          </a:bodyPr>
          <a:lstStyle/>
          <a:p>
            <a:pPr algn="l">
              <a:lnSpc>
                <a:spcPct val="110000"/>
              </a:lnSpc>
              <a:spcBef>
                <a:spcPts val="0"/>
              </a:spcBef>
              <a:spcAft>
                <a:spcPts val="0"/>
              </a:spcAft>
            </a:pPr>
            <a:r>
              <a:rPr sz="1770" b="1">
                <a:solidFill>
                  <a:srgbClr val="B97D38"/>
                </a:solidFill>
                <a:latin typeface="Arial"/>
              </a:rPr>
              <a:t>Safety cap ≠ optimum</a:t>
            </a:r>
          </a:p>
        </p:txBody>
      </p:sp>
      <p:sp>
        <p:nvSpPr>
          <p:cNvPr id="41" name="TextBox 40"/>
          <p:cNvSpPr txBox="1"/>
          <p:nvPr/>
        </p:nvSpPr>
        <p:spPr>
          <a:xfrm>
            <a:off x="7616952" y="5230368"/>
            <a:ext cx="3813048" cy="365760"/>
          </a:xfrm>
          <a:prstGeom prst="rect">
            <a:avLst/>
          </a:prstGeom>
          <a:noFill/>
        </p:spPr>
        <p:txBody>
          <a:bodyPr wrap="square" lIns="0" tIns="0" rIns="0" bIns="0" anchor="t">
            <a:noAutofit/>
          </a:bodyPr>
          <a:lstStyle/>
          <a:p>
            <a:pPr algn="l">
              <a:lnSpc>
                <a:spcPct val="110000"/>
              </a:lnSpc>
              <a:spcBef>
                <a:spcPts val="0"/>
              </a:spcBef>
              <a:spcAft>
                <a:spcPts val="0"/>
              </a:spcAft>
            </a:pPr>
            <a:r>
              <a:rPr sz="1620" b="0">
                <a:solidFill>
                  <a:srgbClr val="50576D"/>
                </a:solidFill>
                <a:latin typeface="Arial"/>
              </a:rPr>
              <a:t>20,000 states → error if exceeded.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ALGORITHM ANALYSIS / TIME AND SPACE</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Complexity: analyse the actual code</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Distinguish worst-case bounds, expected hashing and amortized resizing from measured latency.</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Path-tuple copies count: DP stores full paths, and branch recursion retains several copied prefixes.</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ALGORITHMS.md • algorithms.py • benchmark.py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13 / 35</a:t>
            </a:r>
          </a:p>
        </p:txBody>
      </p:sp>
      <p:sp>
        <p:nvSpPr>
          <p:cNvPr id="20" name="Rectangle 19"/>
          <p:cNvSpPr/>
          <p:nvPr/>
        </p:nvSpPr>
        <p:spPr>
          <a:xfrm>
            <a:off x="612648" y="1975104"/>
            <a:ext cx="2414016" cy="411480"/>
          </a:xfrm>
          <a:prstGeom prst="rect">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2089404"/>
            <a:ext cx="2176272" cy="182880"/>
          </a:xfrm>
          <a:prstGeom prst="rect">
            <a:avLst/>
          </a:prstGeom>
          <a:noFill/>
        </p:spPr>
        <p:txBody>
          <a:bodyPr wrap="square" lIns="0" tIns="0" rIns="0" bIns="0" anchor="t">
            <a:noAutofit/>
          </a:bodyPr>
          <a:lstStyle/>
          <a:p>
            <a:pPr algn="l">
              <a:lnSpc>
                <a:spcPct val="110000"/>
              </a:lnSpc>
              <a:spcBef>
                <a:spcPts val="0"/>
              </a:spcBef>
              <a:spcAft>
                <a:spcPts val="0"/>
              </a:spcAft>
            </a:pPr>
            <a:r>
              <a:rPr sz="1250" b="1">
                <a:solidFill>
                  <a:srgbClr val="FFFFFF"/>
                </a:solidFill>
                <a:latin typeface="Arial"/>
              </a:rPr>
              <a:t>ROUTINE</a:t>
            </a:r>
          </a:p>
        </p:txBody>
      </p:sp>
      <p:sp>
        <p:nvSpPr>
          <p:cNvPr id="22" name="Rectangle 21"/>
          <p:cNvSpPr/>
          <p:nvPr/>
        </p:nvSpPr>
        <p:spPr>
          <a:xfrm>
            <a:off x="3026664" y="1975104"/>
            <a:ext cx="5586984" cy="411480"/>
          </a:xfrm>
          <a:prstGeom prst="rect">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145536" y="2089404"/>
            <a:ext cx="5349240" cy="182880"/>
          </a:xfrm>
          <a:prstGeom prst="rect">
            <a:avLst/>
          </a:prstGeom>
          <a:noFill/>
        </p:spPr>
        <p:txBody>
          <a:bodyPr wrap="square" lIns="0" tIns="0" rIns="0" bIns="0" anchor="t">
            <a:noAutofit/>
          </a:bodyPr>
          <a:lstStyle/>
          <a:p>
            <a:pPr algn="l">
              <a:lnSpc>
                <a:spcPct val="110000"/>
              </a:lnSpc>
              <a:spcBef>
                <a:spcPts val="0"/>
              </a:spcBef>
              <a:spcAft>
                <a:spcPts val="0"/>
              </a:spcAft>
            </a:pPr>
            <a:r>
              <a:rPr sz="1250" b="1">
                <a:solidFill>
                  <a:srgbClr val="FFFFFF"/>
                </a:solidFill>
                <a:latin typeface="Arial"/>
              </a:rPr>
              <a:t>TIME / QUALIFICATION</a:t>
            </a:r>
          </a:p>
        </p:txBody>
      </p:sp>
      <p:sp>
        <p:nvSpPr>
          <p:cNvPr id="24" name="Rectangle 23"/>
          <p:cNvSpPr/>
          <p:nvPr/>
        </p:nvSpPr>
        <p:spPr>
          <a:xfrm>
            <a:off x="8613648" y="1975104"/>
            <a:ext cx="2935224" cy="411480"/>
          </a:xfrm>
          <a:prstGeom prst="rect">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732520" y="2089404"/>
            <a:ext cx="2697480" cy="182880"/>
          </a:xfrm>
          <a:prstGeom prst="rect">
            <a:avLst/>
          </a:prstGeom>
          <a:noFill/>
        </p:spPr>
        <p:txBody>
          <a:bodyPr wrap="square" lIns="0" tIns="0" rIns="0" bIns="0" anchor="t">
            <a:noAutofit/>
          </a:bodyPr>
          <a:lstStyle/>
          <a:p>
            <a:pPr algn="l">
              <a:lnSpc>
                <a:spcPct val="110000"/>
              </a:lnSpc>
              <a:spcBef>
                <a:spcPts val="0"/>
              </a:spcBef>
              <a:spcAft>
                <a:spcPts val="0"/>
              </a:spcAft>
            </a:pPr>
            <a:r>
              <a:rPr sz="1250" b="1">
                <a:solidFill>
                  <a:srgbClr val="FFFFFF"/>
                </a:solidFill>
                <a:latin typeface="Arial"/>
              </a:rPr>
              <a:t>AUXILIARY SPACE</a:t>
            </a:r>
          </a:p>
        </p:txBody>
      </p:sp>
      <p:sp>
        <p:nvSpPr>
          <p:cNvPr id="26" name="Rectangle 25"/>
          <p:cNvSpPr/>
          <p:nvPr/>
        </p:nvSpPr>
        <p:spPr>
          <a:xfrm>
            <a:off x="612648" y="2386584"/>
            <a:ext cx="2414016" cy="521207"/>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1520" y="2505456"/>
            <a:ext cx="2176272" cy="347472"/>
          </a:xfrm>
          <a:prstGeom prst="rect">
            <a:avLst/>
          </a:prstGeom>
          <a:noFill/>
        </p:spPr>
        <p:txBody>
          <a:bodyPr wrap="square" lIns="0" tIns="0" rIns="0" bIns="0" anchor="t">
            <a:noAutofit/>
          </a:bodyPr>
          <a:lstStyle/>
          <a:p>
            <a:pPr algn="l">
              <a:lnSpc>
                <a:spcPct val="110000"/>
              </a:lnSpc>
              <a:spcBef>
                <a:spcPts val="0"/>
              </a:spcBef>
              <a:spcAft>
                <a:spcPts val="0"/>
              </a:spcAft>
            </a:pPr>
            <a:r>
              <a:rPr sz="1600" b="1">
                <a:solidFill>
                  <a:srgbClr val="7450DF"/>
                </a:solidFill>
                <a:latin typeface="Arial"/>
              </a:rPr>
              <a:t>Merge sort</a:t>
            </a:r>
          </a:p>
        </p:txBody>
      </p:sp>
      <p:sp>
        <p:nvSpPr>
          <p:cNvPr id="28" name="Rectangle 27"/>
          <p:cNvSpPr/>
          <p:nvPr/>
        </p:nvSpPr>
        <p:spPr>
          <a:xfrm>
            <a:off x="3026664" y="2386584"/>
            <a:ext cx="5586984" cy="521207"/>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145536" y="2505456"/>
            <a:ext cx="5349240" cy="347472"/>
          </a:xfrm>
          <a:prstGeom prst="rect">
            <a:avLst/>
          </a:prstGeom>
          <a:noFill/>
        </p:spPr>
        <p:txBody>
          <a:bodyPr wrap="square" lIns="0" tIns="0" rIns="0" bIns="0" anchor="t">
            <a:noAutofit/>
          </a:bodyPr>
          <a:lstStyle/>
          <a:p>
            <a:pPr algn="l">
              <a:lnSpc>
                <a:spcPct val="110000"/>
              </a:lnSpc>
              <a:spcBef>
                <a:spcPts val="0"/>
              </a:spcBef>
              <a:spcAft>
                <a:spcPts val="0"/>
              </a:spcAft>
            </a:pPr>
            <a:r>
              <a:rPr sz="1600" b="0">
                <a:solidFill>
                  <a:srgbClr val="50576D"/>
                </a:solidFill>
                <a:latin typeface="Arial"/>
              </a:rPr>
              <a:t>n log n</a:t>
            </a:r>
          </a:p>
        </p:txBody>
      </p:sp>
      <p:sp>
        <p:nvSpPr>
          <p:cNvPr id="30" name="Rectangle 29"/>
          <p:cNvSpPr/>
          <p:nvPr/>
        </p:nvSpPr>
        <p:spPr>
          <a:xfrm>
            <a:off x="8613648" y="2386584"/>
            <a:ext cx="2935224" cy="521207"/>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732520" y="2505456"/>
            <a:ext cx="2697480" cy="347472"/>
          </a:xfrm>
          <a:prstGeom prst="rect">
            <a:avLst/>
          </a:prstGeom>
          <a:noFill/>
        </p:spPr>
        <p:txBody>
          <a:bodyPr wrap="square" lIns="0" tIns="0" rIns="0" bIns="0" anchor="t">
            <a:noAutofit/>
          </a:bodyPr>
          <a:lstStyle/>
          <a:p>
            <a:pPr algn="l">
              <a:lnSpc>
                <a:spcPct val="110000"/>
              </a:lnSpc>
              <a:spcBef>
                <a:spcPts val="0"/>
              </a:spcBef>
              <a:spcAft>
                <a:spcPts val="0"/>
              </a:spcAft>
            </a:pPr>
            <a:r>
              <a:rPr sz="1600" b="0">
                <a:solidFill>
                  <a:srgbClr val="50576D"/>
                </a:solidFill>
                <a:latin typeface="Arial"/>
              </a:rPr>
              <a:t>n peak + log n stack</a:t>
            </a:r>
          </a:p>
        </p:txBody>
      </p:sp>
      <p:sp>
        <p:nvSpPr>
          <p:cNvPr id="32" name="Rectangle 31"/>
          <p:cNvSpPr/>
          <p:nvPr/>
        </p:nvSpPr>
        <p:spPr>
          <a:xfrm>
            <a:off x="612648" y="2907791"/>
            <a:ext cx="2414016" cy="521207"/>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 y="3026663"/>
            <a:ext cx="2176272" cy="347472"/>
          </a:xfrm>
          <a:prstGeom prst="rect">
            <a:avLst/>
          </a:prstGeom>
          <a:noFill/>
        </p:spPr>
        <p:txBody>
          <a:bodyPr wrap="square" lIns="0" tIns="0" rIns="0" bIns="0" anchor="t">
            <a:noAutofit/>
          </a:bodyPr>
          <a:lstStyle/>
          <a:p>
            <a:pPr algn="l">
              <a:lnSpc>
                <a:spcPct val="110000"/>
              </a:lnSpc>
              <a:spcBef>
                <a:spcPts val="0"/>
              </a:spcBef>
              <a:spcAft>
                <a:spcPts val="0"/>
              </a:spcAft>
            </a:pPr>
            <a:r>
              <a:rPr sz="1600" b="1">
                <a:solidFill>
                  <a:srgbClr val="7450DF"/>
                </a:solidFill>
                <a:latin typeface="Arial"/>
              </a:rPr>
              <a:t>Dijkstra</a:t>
            </a:r>
          </a:p>
        </p:txBody>
      </p:sp>
      <p:sp>
        <p:nvSpPr>
          <p:cNvPr id="34" name="Rectangle 33"/>
          <p:cNvSpPr/>
          <p:nvPr/>
        </p:nvSpPr>
        <p:spPr>
          <a:xfrm>
            <a:off x="3026664" y="2907791"/>
            <a:ext cx="5586984" cy="521207"/>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145536" y="3026663"/>
            <a:ext cx="5349240" cy="347472"/>
          </a:xfrm>
          <a:prstGeom prst="rect">
            <a:avLst/>
          </a:prstGeom>
          <a:noFill/>
        </p:spPr>
        <p:txBody>
          <a:bodyPr wrap="square" lIns="0" tIns="0" rIns="0" bIns="0" anchor="t">
            <a:noAutofit/>
          </a:bodyPr>
          <a:lstStyle/>
          <a:p>
            <a:pPr algn="l">
              <a:lnSpc>
                <a:spcPct val="110000"/>
              </a:lnSpc>
              <a:spcBef>
                <a:spcPts val="0"/>
              </a:spcBef>
              <a:spcAft>
                <a:spcPts val="0"/>
              </a:spcAft>
            </a:pPr>
            <a:r>
              <a:rPr sz="1600" b="0">
                <a:solidFill>
                  <a:srgbClr val="50576D"/>
                </a:solidFill>
                <a:latin typeface="Arial"/>
              </a:rPr>
              <a:t>(V+E) log(V+E); lazy heap</a:t>
            </a:r>
          </a:p>
        </p:txBody>
      </p:sp>
      <p:sp>
        <p:nvSpPr>
          <p:cNvPr id="36" name="Rectangle 35"/>
          <p:cNvSpPr/>
          <p:nvPr/>
        </p:nvSpPr>
        <p:spPr>
          <a:xfrm>
            <a:off x="8613648" y="2907791"/>
            <a:ext cx="2935224" cy="521207"/>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732520" y="3026663"/>
            <a:ext cx="2697480" cy="347472"/>
          </a:xfrm>
          <a:prstGeom prst="rect">
            <a:avLst/>
          </a:prstGeom>
          <a:noFill/>
        </p:spPr>
        <p:txBody>
          <a:bodyPr wrap="square" lIns="0" tIns="0" rIns="0" bIns="0" anchor="t">
            <a:noAutofit/>
          </a:bodyPr>
          <a:lstStyle/>
          <a:p>
            <a:pPr algn="l">
              <a:lnSpc>
                <a:spcPct val="110000"/>
              </a:lnSpc>
              <a:spcBef>
                <a:spcPts val="0"/>
              </a:spcBef>
              <a:spcAft>
                <a:spcPts val="0"/>
              </a:spcAft>
            </a:pPr>
            <a:r>
              <a:rPr sz="1600" b="0">
                <a:solidFill>
                  <a:srgbClr val="50576D"/>
                </a:solidFill>
                <a:latin typeface="Arial"/>
              </a:rPr>
              <a:t>V+E</a:t>
            </a:r>
          </a:p>
        </p:txBody>
      </p:sp>
      <p:sp>
        <p:nvSpPr>
          <p:cNvPr id="38" name="Rectangle 37"/>
          <p:cNvSpPr/>
          <p:nvPr/>
        </p:nvSpPr>
        <p:spPr>
          <a:xfrm>
            <a:off x="612648" y="3429000"/>
            <a:ext cx="2414016" cy="521207"/>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31520" y="3547872"/>
            <a:ext cx="2176272" cy="347472"/>
          </a:xfrm>
          <a:prstGeom prst="rect">
            <a:avLst/>
          </a:prstGeom>
          <a:noFill/>
        </p:spPr>
        <p:txBody>
          <a:bodyPr wrap="square" lIns="0" tIns="0" rIns="0" bIns="0" anchor="t">
            <a:noAutofit/>
          </a:bodyPr>
          <a:lstStyle/>
          <a:p>
            <a:pPr algn="l">
              <a:lnSpc>
                <a:spcPct val="110000"/>
              </a:lnSpc>
              <a:spcBef>
                <a:spcPts val="0"/>
              </a:spcBef>
              <a:spcAft>
                <a:spcPts val="0"/>
              </a:spcAft>
            </a:pPr>
            <a:r>
              <a:rPr sz="1600" b="1">
                <a:solidFill>
                  <a:srgbClr val="7450DF"/>
                </a:solidFill>
                <a:latin typeface="Arial"/>
              </a:rPr>
              <a:t>Bounded DP</a:t>
            </a:r>
          </a:p>
        </p:txBody>
      </p:sp>
      <p:sp>
        <p:nvSpPr>
          <p:cNvPr id="40" name="Rectangle 39"/>
          <p:cNvSpPr/>
          <p:nvPr/>
        </p:nvSpPr>
        <p:spPr>
          <a:xfrm>
            <a:off x="3026664" y="3429000"/>
            <a:ext cx="5586984" cy="521207"/>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145536" y="3547872"/>
            <a:ext cx="5349240" cy="347472"/>
          </a:xfrm>
          <a:prstGeom prst="rect">
            <a:avLst/>
          </a:prstGeom>
          <a:noFill/>
        </p:spPr>
        <p:txBody>
          <a:bodyPr wrap="square" lIns="0" tIns="0" rIns="0" bIns="0" anchor="t">
            <a:noAutofit/>
          </a:bodyPr>
          <a:lstStyle/>
          <a:p>
            <a:pPr algn="l">
              <a:lnSpc>
                <a:spcPct val="110000"/>
              </a:lnSpc>
              <a:spcBef>
                <a:spcPts val="0"/>
              </a:spcBef>
              <a:spcAft>
                <a:spcPts val="0"/>
              </a:spcAft>
            </a:pPr>
            <a:r>
              <a:rPr sz="1600" b="0">
                <a:solidFill>
                  <a:srgbClr val="50576D"/>
                </a:solidFill>
                <a:latin typeface="Arial"/>
              </a:rPr>
              <a:t>H(V+E) + up to H²E path-copy work</a:t>
            </a:r>
          </a:p>
        </p:txBody>
      </p:sp>
      <p:sp>
        <p:nvSpPr>
          <p:cNvPr id="42" name="Rectangle 41"/>
          <p:cNvSpPr/>
          <p:nvPr/>
        </p:nvSpPr>
        <p:spPr>
          <a:xfrm>
            <a:off x="8613648" y="3429000"/>
            <a:ext cx="2935224" cy="521207"/>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732520" y="3547872"/>
            <a:ext cx="2697480" cy="347472"/>
          </a:xfrm>
          <a:prstGeom prst="rect">
            <a:avLst/>
          </a:prstGeom>
          <a:noFill/>
        </p:spPr>
        <p:txBody>
          <a:bodyPr wrap="square" lIns="0" tIns="0" rIns="0" bIns="0" anchor="t">
            <a:noAutofit/>
          </a:bodyPr>
          <a:lstStyle/>
          <a:p>
            <a:pPr algn="l">
              <a:lnSpc>
                <a:spcPct val="110000"/>
              </a:lnSpc>
              <a:spcBef>
                <a:spcPts val="0"/>
              </a:spcBef>
              <a:spcAft>
                <a:spcPts val="0"/>
              </a:spcAft>
            </a:pPr>
            <a:r>
              <a:rPr sz="1600" b="0">
                <a:solidFill>
                  <a:srgbClr val="50576D"/>
                </a:solidFill>
                <a:latin typeface="Arial"/>
              </a:rPr>
              <a:t>HV stored paths</a:t>
            </a:r>
          </a:p>
        </p:txBody>
      </p:sp>
      <p:sp>
        <p:nvSpPr>
          <p:cNvPr id="44" name="Rectangle 43"/>
          <p:cNvSpPr/>
          <p:nvPr/>
        </p:nvSpPr>
        <p:spPr>
          <a:xfrm>
            <a:off x="612648" y="3950208"/>
            <a:ext cx="2414016" cy="521207"/>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31520" y="4069080"/>
            <a:ext cx="2176272" cy="347472"/>
          </a:xfrm>
          <a:prstGeom prst="rect">
            <a:avLst/>
          </a:prstGeom>
          <a:noFill/>
        </p:spPr>
        <p:txBody>
          <a:bodyPr wrap="square" lIns="0" tIns="0" rIns="0" bIns="0" anchor="t">
            <a:noAutofit/>
          </a:bodyPr>
          <a:lstStyle/>
          <a:p>
            <a:pPr algn="l">
              <a:lnSpc>
                <a:spcPct val="110000"/>
              </a:lnSpc>
              <a:spcBef>
                <a:spcPts val="0"/>
              </a:spcBef>
              <a:spcAft>
                <a:spcPts val="0"/>
              </a:spcAft>
            </a:pPr>
            <a:r>
              <a:rPr sz="1600" b="1">
                <a:solidFill>
                  <a:srgbClr val="7450DF"/>
                </a:solidFill>
                <a:latin typeface="Arial"/>
              </a:rPr>
              <a:t>Seat backtracking</a:t>
            </a:r>
          </a:p>
        </p:txBody>
      </p:sp>
      <p:sp>
        <p:nvSpPr>
          <p:cNvPr id="46" name="Rectangle 45"/>
          <p:cNvSpPr/>
          <p:nvPr/>
        </p:nvSpPr>
        <p:spPr>
          <a:xfrm>
            <a:off x="3026664" y="3950208"/>
            <a:ext cx="5586984" cy="521207"/>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145536" y="4069080"/>
            <a:ext cx="5349240" cy="347472"/>
          </a:xfrm>
          <a:prstGeom prst="rect">
            <a:avLst/>
          </a:prstGeom>
          <a:noFill/>
        </p:spPr>
        <p:txBody>
          <a:bodyPr wrap="square" lIns="0" tIns="0" rIns="0" bIns="0" anchor="t">
            <a:noAutofit/>
          </a:bodyPr>
          <a:lstStyle/>
          <a:p>
            <a:pPr algn="l">
              <a:lnSpc>
                <a:spcPct val="110000"/>
              </a:lnSpc>
              <a:spcBef>
                <a:spcPts val="0"/>
              </a:spcBef>
              <a:spcAft>
                <a:spcPts val="0"/>
              </a:spcAft>
            </a:pPr>
            <a:r>
              <a:rPr sz="1600" b="0">
                <a:solidFill>
                  <a:srgbClr val="50576D"/>
                </a:solidFill>
                <a:latin typeface="Arial"/>
              </a:rPr>
              <a:t>n log n + n·64; fixed 6-seat rows</a:t>
            </a:r>
          </a:p>
        </p:txBody>
      </p:sp>
      <p:sp>
        <p:nvSpPr>
          <p:cNvPr id="48" name="Rectangle 47"/>
          <p:cNvSpPr/>
          <p:nvPr/>
        </p:nvSpPr>
        <p:spPr>
          <a:xfrm>
            <a:off x="8613648" y="3950208"/>
            <a:ext cx="2935224" cy="521207"/>
          </a:xfrm>
          <a:prstGeom prst="rect">
            <a:avLst/>
          </a:prstGeom>
          <a:solidFill>
            <a:srgbClr val="FB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732520" y="4069080"/>
            <a:ext cx="2697480" cy="347472"/>
          </a:xfrm>
          <a:prstGeom prst="rect">
            <a:avLst/>
          </a:prstGeom>
          <a:noFill/>
        </p:spPr>
        <p:txBody>
          <a:bodyPr wrap="square" lIns="0" tIns="0" rIns="0" bIns="0" anchor="t">
            <a:noAutofit/>
          </a:bodyPr>
          <a:lstStyle/>
          <a:p>
            <a:pPr algn="l">
              <a:lnSpc>
                <a:spcPct val="110000"/>
              </a:lnSpc>
              <a:spcBef>
                <a:spcPts val="0"/>
              </a:spcBef>
              <a:spcAft>
                <a:spcPts val="0"/>
              </a:spcAft>
            </a:pPr>
            <a:r>
              <a:rPr sz="1600" b="0">
                <a:solidFill>
                  <a:srgbClr val="50576D"/>
                </a:solidFill>
                <a:latin typeface="Arial"/>
              </a:rPr>
              <a:t>n; depth ≤6</a:t>
            </a:r>
          </a:p>
        </p:txBody>
      </p:sp>
      <p:sp>
        <p:nvSpPr>
          <p:cNvPr id="50" name="Rectangle 49"/>
          <p:cNvSpPr/>
          <p:nvPr/>
        </p:nvSpPr>
        <p:spPr>
          <a:xfrm>
            <a:off x="612648" y="4471416"/>
            <a:ext cx="2414016" cy="521207"/>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31520" y="4590288"/>
            <a:ext cx="2176272" cy="347472"/>
          </a:xfrm>
          <a:prstGeom prst="rect">
            <a:avLst/>
          </a:prstGeom>
          <a:noFill/>
        </p:spPr>
        <p:txBody>
          <a:bodyPr wrap="square" lIns="0" tIns="0" rIns="0" bIns="0" anchor="t">
            <a:noAutofit/>
          </a:bodyPr>
          <a:lstStyle/>
          <a:p>
            <a:pPr algn="l">
              <a:lnSpc>
                <a:spcPct val="110000"/>
              </a:lnSpc>
              <a:spcBef>
                <a:spcPts val="0"/>
              </a:spcBef>
              <a:spcAft>
                <a:spcPts val="0"/>
              </a:spcAft>
            </a:pPr>
            <a:r>
              <a:rPr sz="1600" b="1">
                <a:solidFill>
                  <a:srgbClr val="7450DF"/>
                </a:solidFill>
                <a:latin typeface="Arial"/>
              </a:rPr>
              <a:t>Branch &amp; bound</a:t>
            </a:r>
          </a:p>
        </p:txBody>
      </p:sp>
      <p:sp>
        <p:nvSpPr>
          <p:cNvPr id="52" name="Rectangle 51"/>
          <p:cNvSpPr/>
          <p:nvPr/>
        </p:nvSpPr>
        <p:spPr>
          <a:xfrm>
            <a:off x="3026664" y="4471416"/>
            <a:ext cx="5586984" cy="521207"/>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145536" y="4590288"/>
            <a:ext cx="5349240" cy="347472"/>
          </a:xfrm>
          <a:prstGeom prst="rect">
            <a:avLst/>
          </a:prstGeom>
          <a:noFill/>
        </p:spPr>
        <p:txBody>
          <a:bodyPr wrap="square" lIns="0" tIns="0" rIns="0" bIns="0" anchor="t">
            <a:noAutofit/>
          </a:bodyPr>
          <a:lstStyle/>
          <a:p>
            <a:pPr algn="l">
              <a:lnSpc>
                <a:spcPct val="110000"/>
              </a:lnSpc>
              <a:spcBef>
                <a:spcPts val="0"/>
              </a:spcBef>
              <a:spcAft>
                <a:spcPts val="0"/>
              </a:spcAft>
            </a:pPr>
            <a:r>
              <a:rPr sz="1600" b="0">
                <a:solidFill>
                  <a:srgbClr val="50576D"/>
                </a:solidFill>
                <a:latin typeface="Arial"/>
              </a:rPr>
              <a:t>Exponential/factorial; VE bound prep</a:t>
            </a:r>
          </a:p>
        </p:txBody>
      </p:sp>
      <p:sp>
        <p:nvSpPr>
          <p:cNvPr id="54" name="Rectangle 53"/>
          <p:cNvSpPr/>
          <p:nvPr/>
        </p:nvSpPr>
        <p:spPr>
          <a:xfrm>
            <a:off x="8613648" y="4471416"/>
            <a:ext cx="2935224" cy="521207"/>
          </a:xfrm>
          <a:prstGeom prst="rect">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732520" y="4590288"/>
            <a:ext cx="2697480" cy="347472"/>
          </a:xfrm>
          <a:prstGeom prst="rect">
            <a:avLst/>
          </a:prstGeom>
          <a:noFill/>
        </p:spPr>
        <p:txBody>
          <a:bodyPr wrap="square" lIns="0" tIns="0" rIns="0" bIns="0" anchor="t">
            <a:noAutofit/>
          </a:bodyPr>
          <a:lstStyle/>
          <a:p>
            <a:pPr algn="l">
              <a:lnSpc>
                <a:spcPct val="110000"/>
              </a:lnSpc>
              <a:spcBef>
                <a:spcPts val="0"/>
              </a:spcBef>
              <a:spcAft>
                <a:spcPts val="0"/>
              </a:spcAft>
            </a:pPr>
            <a:r>
              <a:rPr sz="1600" b="0">
                <a:solidFill>
                  <a:srgbClr val="50576D"/>
                </a:solidFill>
                <a:latin typeface="Arial"/>
              </a:rPr>
              <a:t>V² copied prefixes + E</a:t>
            </a:r>
          </a:p>
        </p:txBody>
      </p:sp>
      <p:sp>
        <p:nvSpPr>
          <p:cNvPr id="56" name="Rounded Rectangle 55"/>
          <p:cNvSpPr/>
          <p:nvPr/>
        </p:nvSpPr>
        <p:spPr>
          <a:xfrm>
            <a:off x="612648" y="5212080"/>
            <a:ext cx="5394960" cy="530352"/>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49808" y="5321808"/>
            <a:ext cx="1216152" cy="192024"/>
          </a:xfrm>
          <a:prstGeom prst="rect">
            <a:avLst/>
          </a:prstGeom>
          <a:noFill/>
        </p:spPr>
        <p:txBody>
          <a:bodyPr wrap="square" lIns="0" tIns="0" rIns="0" bIns="0" anchor="t">
            <a:noAutofit/>
          </a:bodyPr>
          <a:lstStyle/>
          <a:p>
            <a:pPr algn="l">
              <a:lnSpc>
                <a:spcPct val="110000"/>
              </a:lnSpc>
              <a:spcBef>
                <a:spcPts val="0"/>
              </a:spcBef>
              <a:spcAft>
                <a:spcPts val="0"/>
              </a:spcAft>
            </a:pPr>
            <a:r>
              <a:rPr sz="1130" b="1">
                <a:solidFill>
                  <a:srgbClr val="389778"/>
                </a:solidFill>
                <a:latin typeface="Arial"/>
              </a:rPr>
              <a:t>EXPECTED</a:t>
            </a:r>
          </a:p>
        </p:txBody>
      </p:sp>
      <p:sp>
        <p:nvSpPr>
          <p:cNvPr id="58" name="TextBox 57"/>
          <p:cNvSpPr txBox="1"/>
          <p:nvPr/>
        </p:nvSpPr>
        <p:spPr>
          <a:xfrm>
            <a:off x="1965960" y="5321808"/>
            <a:ext cx="3877056" cy="329184"/>
          </a:xfrm>
          <a:prstGeom prst="rect">
            <a:avLst/>
          </a:prstGeom>
          <a:noFill/>
        </p:spPr>
        <p:txBody>
          <a:bodyPr wrap="square" lIns="0" tIns="0" rIns="0" bIns="0" anchor="t">
            <a:noAutofit/>
          </a:bodyPr>
          <a:lstStyle/>
          <a:p>
            <a:pPr algn="l">
              <a:lnSpc>
                <a:spcPct val="110000"/>
              </a:lnSpc>
              <a:spcBef>
                <a:spcPts val="0"/>
              </a:spcBef>
              <a:spcAft>
                <a:spcPts val="0"/>
              </a:spcAft>
            </a:pPr>
            <a:r>
              <a:rPr sz="1480" b="0">
                <a:solidFill>
                  <a:srgbClr val="50576D"/>
                </a:solidFill>
                <a:latin typeface="Arial"/>
              </a:rPr>
              <a:t>Set/dict lookup: O(1) expected, not guaranteed.</a:t>
            </a:r>
          </a:p>
        </p:txBody>
      </p:sp>
      <p:sp>
        <p:nvSpPr>
          <p:cNvPr id="59" name="Rounded Rectangle 58"/>
          <p:cNvSpPr/>
          <p:nvPr/>
        </p:nvSpPr>
        <p:spPr>
          <a:xfrm>
            <a:off x="6291072" y="5212080"/>
            <a:ext cx="5266944" cy="530352"/>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428232" y="5321808"/>
            <a:ext cx="1216152" cy="192024"/>
          </a:xfrm>
          <a:prstGeom prst="rect">
            <a:avLst/>
          </a:prstGeom>
          <a:noFill/>
        </p:spPr>
        <p:txBody>
          <a:bodyPr wrap="square" lIns="0" tIns="0" rIns="0" bIns="0" anchor="t">
            <a:noAutofit/>
          </a:bodyPr>
          <a:lstStyle/>
          <a:p>
            <a:pPr algn="l">
              <a:lnSpc>
                <a:spcPct val="110000"/>
              </a:lnSpc>
              <a:spcBef>
                <a:spcPts val="0"/>
              </a:spcBef>
              <a:spcAft>
                <a:spcPts val="0"/>
              </a:spcAft>
            </a:pPr>
            <a:r>
              <a:rPr sz="1130" b="1">
                <a:solidFill>
                  <a:srgbClr val="389778"/>
                </a:solidFill>
                <a:latin typeface="Arial"/>
              </a:rPr>
              <a:t>AMORTIZED</a:t>
            </a:r>
          </a:p>
        </p:txBody>
      </p:sp>
      <p:sp>
        <p:nvSpPr>
          <p:cNvPr id="61" name="TextBox 60"/>
          <p:cNvSpPr txBox="1"/>
          <p:nvPr/>
        </p:nvSpPr>
        <p:spPr>
          <a:xfrm>
            <a:off x="7644383" y="5321808"/>
            <a:ext cx="3749039" cy="329184"/>
          </a:xfrm>
          <a:prstGeom prst="rect">
            <a:avLst/>
          </a:prstGeom>
          <a:noFill/>
        </p:spPr>
        <p:txBody>
          <a:bodyPr wrap="square" lIns="0" tIns="0" rIns="0" bIns="0" anchor="t">
            <a:noAutofit/>
          </a:bodyPr>
          <a:lstStyle/>
          <a:p>
            <a:pPr algn="l">
              <a:lnSpc>
                <a:spcPct val="110000"/>
              </a:lnSpc>
              <a:spcBef>
                <a:spcPts val="0"/>
              </a:spcBef>
              <a:spcAft>
                <a:spcPts val="0"/>
              </a:spcAft>
            </a:pPr>
            <a:r>
              <a:rPr sz="1480" b="0">
                <a:solidFill>
                  <a:srgbClr val="50576D"/>
                </a:solidFill>
                <a:latin typeface="Arial"/>
              </a:rPr>
              <a:t>List append: O(1) averaged across resize costs.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PYTHON / DATA STRUCTURES</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Data structures: choose for the operation</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Use ordered sequences, membership sets, priority heaps, FIFO queues and immutable values purposefully.</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Free seats use sets; Dijkstra uses heapq; waitlist traversal uses deque; PostgreSQL keys enforce ownership.</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algorithms.py • services.py • models.py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14 / 35</a:t>
            </a:r>
          </a:p>
        </p:txBody>
      </p:sp>
      <p:sp>
        <p:nvSpPr>
          <p:cNvPr id="20" name="Rounded Rectangle 19"/>
          <p:cNvSpPr/>
          <p:nvPr/>
        </p:nvSpPr>
        <p:spPr>
          <a:xfrm>
            <a:off x="585216" y="2002536"/>
            <a:ext cx="3547872" cy="1618488"/>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0664" y="2148840"/>
            <a:ext cx="3236976" cy="310896"/>
          </a:xfrm>
          <a:prstGeom prst="rect">
            <a:avLst/>
          </a:prstGeom>
          <a:noFill/>
        </p:spPr>
        <p:txBody>
          <a:bodyPr wrap="square" lIns="0" tIns="0" rIns="0" bIns="0" anchor="t">
            <a:noAutofit/>
          </a:bodyPr>
          <a:lstStyle/>
          <a:p>
            <a:pPr algn="l">
              <a:lnSpc>
                <a:spcPct val="110000"/>
              </a:lnSpc>
              <a:spcBef>
                <a:spcPts val="0"/>
              </a:spcBef>
              <a:spcAft>
                <a:spcPts val="0"/>
              </a:spcAft>
            </a:pPr>
            <a:r>
              <a:rPr sz="2300" b="1">
                <a:solidFill>
                  <a:srgbClr val="7450DF"/>
                </a:solidFill>
                <a:latin typeface="Arial"/>
              </a:rPr>
              <a:t>List</a:t>
            </a:r>
          </a:p>
        </p:txBody>
      </p:sp>
      <p:sp>
        <p:nvSpPr>
          <p:cNvPr id="22" name="TextBox 21"/>
          <p:cNvSpPr txBox="1"/>
          <p:nvPr/>
        </p:nvSpPr>
        <p:spPr>
          <a:xfrm>
            <a:off x="740664" y="2670048"/>
            <a:ext cx="3236976" cy="466344"/>
          </a:xfrm>
          <a:prstGeom prst="rect">
            <a:avLst/>
          </a:prstGeom>
          <a:noFill/>
        </p:spPr>
        <p:txBody>
          <a:bodyPr wrap="square" lIns="0" tIns="0" rIns="0" bIns="0" anchor="t">
            <a:noAutofit/>
          </a:bodyPr>
          <a:lstStyle/>
          <a:p>
            <a:pPr algn="l">
              <a:lnSpc>
                <a:spcPct val="110000"/>
              </a:lnSpc>
              <a:spcBef>
                <a:spcPts val="0"/>
              </a:spcBef>
              <a:spcAft>
                <a:spcPts val="0"/>
              </a:spcAft>
            </a:pPr>
            <a:r>
              <a:rPr sz="1800" b="0">
                <a:solidFill>
                  <a:srgbClr val="50576D"/>
                </a:solidFill>
                <a:latin typeface="Arial"/>
              </a:rPr>
              <a:t>Ordered passengers / results</a:t>
            </a:r>
          </a:p>
        </p:txBody>
      </p:sp>
      <p:sp>
        <p:nvSpPr>
          <p:cNvPr id="23" name="Rounded Rectangle 22"/>
          <p:cNvSpPr/>
          <p:nvPr/>
        </p:nvSpPr>
        <p:spPr>
          <a:xfrm>
            <a:off x="731520" y="3182112"/>
            <a:ext cx="3255264" cy="292608"/>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3816" y="3232404"/>
            <a:ext cx="3090672" cy="228600"/>
          </a:xfrm>
          <a:prstGeom prst="rect">
            <a:avLst/>
          </a:prstGeom>
          <a:noFill/>
        </p:spPr>
        <p:txBody>
          <a:bodyPr wrap="square" lIns="0" tIns="0" rIns="0" bIns="0" anchor="t">
            <a:noAutofit/>
          </a:bodyPr>
          <a:lstStyle/>
          <a:p>
            <a:pPr algn="ctr">
              <a:lnSpc>
                <a:spcPct val="110000"/>
              </a:lnSpc>
              <a:spcBef>
                <a:spcPts val="0"/>
              </a:spcBef>
              <a:spcAft>
                <a:spcPts val="0"/>
              </a:spcAft>
            </a:pPr>
            <a:r>
              <a:rPr sz="1240" b="1">
                <a:solidFill>
                  <a:srgbClr val="7450DF"/>
                </a:solidFill>
                <a:latin typeface="Arial"/>
              </a:rPr>
              <a:t>[p1, p2, …]</a:t>
            </a:r>
          </a:p>
        </p:txBody>
      </p:sp>
      <p:sp>
        <p:nvSpPr>
          <p:cNvPr id="25" name="Rounded Rectangle 24"/>
          <p:cNvSpPr/>
          <p:nvPr/>
        </p:nvSpPr>
        <p:spPr>
          <a:xfrm>
            <a:off x="4334255" y="2002536"/>
            <a:ext cx="3547872" cy="1618488"/>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489703" y="2148840"/>
            <a:ext cx="3236976" cy="310896"/>
          </a:xfrm>
          <a:prstGeom prst="rect">
            <a:avLst/>
          </a:prstGeom>
          <a:noFill/>
        </p:spPr>
        <p:txBody>
          <a:bodyPr wrap="square" lIns="0" tIns="0" rIns="0" bIns="0" anchor="t">
            <a:noAutofit/>
          </a:bodyPr>
          <a:lstStyle/>
          <a:p>
            <a:pPr algn="l">
              <a:lnSpc>
                <a:spcPct val="110000"/>
              </a:lnSpc>
              <a:spcBef>
                <a:spcPts val="0"/>
              </a:spcBef>
              <a:spcAft>
                <a:spcPts val="0"/>
              </a:spcAft>
            </a:pPr>
            <a:r>
              <a:rPr sz="2300" b="1">
                <a:solidFill>
                  <a:srgbClr val="7450DF"/>
                </a:solidFill>
                <a:latin typeface="Arial"/>
              </a:rPr>
              <a:t>Set + dict</a:t>
            </a:r>
          </a:p>
        </p:txBody>
      </p:sp>
      <p:sp>
        <p:nvSpPr>
          <p:cNvPr id="27" name="TextBox 26"/>
          <p:cNvSpPr txBox="1"/>
          <p:nvPr/>
        </p:nvSpPr>
        <p:spPr>
          <a:xfrm>
            <a:off x="4489703" y="2670048"/>
            <a:ext cx="3236976" cy="466344"/>
          </a:xfrm>
          <a:prstGeom prst="rect">
            <a:avLst/>
          </a:prstGeom>
          <a:noFill/>
        </p:spPr>
        <p:txBody>
          <a:bodyPr wrap="square" lIns="0" tIns="0" rIns="0" bIns="0" anchor="t">
            <a:noAutofit/>
          </a:bodyPr>
          <a:lstStyle/>
          <a:p>
            <a:pPr algn="l">
              <a:lnSpc>
                <a:spcPct val="110000"/>
              </a:lnSpc>
              <a:spcBef>
                <a:spcPts val="0"/>
              </a:spcBef>
              <a:spcAft>
                <a:spcPts val="0"/>
              </a:spcAft>
            </a:pPr>
            <a:r>
              <a:rPr sz="1800" b="0">
                <a:solidFill>
                  <a:srgbClr val="50576D"/>
                </a:solidFill>
                <a:latin typeface="Arial"/>
              </a:rPr>
              <a:t>Free-seat membership / distances</a:t>
            </a:r>
          </a:p>
        </p:txBody>
      </p:sp>
      <p:sp>
        <p:nvSpPr>
          <p:cNvPr id="28" name="Rounded Rectangle 27"/>
          <p:cNvSpPr/>
          <p:nvPr/>
        </p:nvSpPr>
        <p:spPr>
          <a:xfrm>
            <a:off x="4480559" y="3182112"/>
            <a:ext cx="3255264" cy="292608"/>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62855" y="3232404"/>
            <a:ext cx="3090672" cy="228600"/>
          </a:xfrm>
          <a:prstGeom prst="rect">
            <a:avLst/>
          </a:prstGeom>
          <a:noFill/>
        </p:spPr>
        <p:txBody>
          <a:bodyPr wrap="square" lIns="0" tIns="0" rIns="0" bIns="0" anchor="t">
            <a:noAutofit/>
          </a:bodyPr>
          <a:lstStyle/>
          <a:p>
            <a:pPr algn="ctr">
              <a:lnSpc>
                <a:spcPct val="110000"/>
              </a:lnSpc>
              <a:spcBef>
                <a:spcPts val="0"/>
              </a:spcBef>
              <a:spcAft>
                <a:spcPts val="0"/>
              </a:spcAft>
            </a:pPr>
            <a:r>
              <a:rPr sz="1240" b="1">
                <a:solidFill>
                  <a:srgbClr val="7450DF"/>
                </a:solidFill>
                <a:latin typeface="Arial"/>
              </a:rPr>
              <a:t>{1, 3, 4}   best[A]=0</a:t>
            </a:r>
          </a:p>
        </p:txBody>
      </p:sp>
      <p:sp>
        <p:nvSpPr>
          <p:cNvPr id="30" name="Rounded Rectangle 29"/>
          <p:cNvSpPr/>
          <p:nvPr/>
        </p:nvSpPr>
        <p:spPr>
          <a:xfrm>
            <a:off x="8083296" y="2002536"/>
            <a:ext cx="3547872" cy="1618488"/>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38744" y="2148840"/>
            <a:ext cx="3236976" cy="310896"/>
          </a:xfrm>
          <a:prstGeom prst="rect">
            <a:avLst/>
          </a:prstGeom>
          <a:noFill/>
        </p:spPr>
        <p:txBody>
          <a:bodyPr wrap="square" lIns="0" tIns="0" rIns="0" bIns="0" anchor="t">
            <a:noAutofit/>
          </a:bodyPr>
          <a:lstStyle/>
          <a:p>
            <a:pPr algn="l">
              <a:lnSpc>
                <a:spcPct val="110000"/>
              </a:lnSpc>
              <a:spcBef>
                <a:spcPts val="0"/>
              </a:spcBef>
              <a:spcAft>
                <a:spcPts val="0"/>
              </a:spcAft>
            </a:pPr>
            <a:r>
              <a:rPr sz="2300" b="1">
                <a:solidFill>
                  <a:srgbClr val="7450DF"/>
                </a:solidFill>
                <a:latin typeface="Arial"/>
              </a:rPr>
              <a:t>Heap</a:t>
            </a:r>
          </a:p>
        </p:txBody>
      </p:sp>
      <p:sp>
        <p:nvSpPr>
          <p:cNvPr id="32" name="TextBox 31"/>
          <p:cNvSpPr txBox="1"/>
          <p:nvPr/>
        </p:nvSpPr>
        <p:spPr>
          <a:xfrm>
            <a:off x="8238744" y="2670048"/>
            <a:ext cx="3236976" cy="466344"/>
          </a:xfrm>
          <a:prstGeom prst="rect">
            <a:avLst/>
          </a:prstGeom>
          <a:noFill/>
        </p:spPr>
        <p:txBody>
          <a:bodyPr wrap="square" lIns="0" tIns="0" rIns="0" bIns="0" anchor="t">
            <a:noAutofit/>
          </a:bodyPr>
          <a:lstStyle/>
          <a:p>
            <a:pPr algn="l">
              <a:lnSpc>
                <a:spcPct val="110000"/>
              </a:lnSpc>
              <a:spcBef>
                <a:spcPts val="0"/>
              </a:spcBef>
              <a:spcAft>
                <a:spcPts val="0"/>
              </a:spcAft>
            </a:pPr>
            <a:r>
              <a:rPr sz="1800" b="0">
                <a:solidFill>
                  <a:srgbClr val="50576D"/>
                </a:solidFill>
                <a:latin typeface="Arial"/>
              </a:rPr>
              <a:t>Lowest-cost route frontier</a:t>
            </a:r>
          </a:p>
        </p:txBody>
      </p:sp>
      <p:sp>
        <p:nvSpPr>
          <p:cNvPr id="33" name="Rounded Rectangle 32"/>
          <p:cNvSpPr/>
          <p:nvPr/>
        </p:nvSpPr>
        <p:spPr>
          <a:xfrm>
            <a:off x="8229600" y="3182112"/>
            <a:ext cx="3255264" cy="292608"/>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311896" y="3232404"/>
            <a:ext cx="3090672" cy="228600"/>
          </a:xfrm>
          <a:prstGeom prst="rect">
            <a:avLst/>
          </a:prstGeom>
          <a:noFill/>
        </p:spPr>
        <p:txBody>
          <a:bodyPr wrap="square" lIns="0" tIns="0" rIns="0" bIns="0" anchor="t">
            <a:noAutofit/>
          </a:bodyPr>
          <a:lstStyle/>
          <a:p>
            <a:pPr algn="ctr">
              <a:lnSpc>
                <a:spcPct val="110000"/>
              </a:lnSpc>
              <a:spcBef>
                <a:spcPts val="0"/>
              </a:spcBef>
              <a:spcAft>
                <a:spcPts val="0"/>
              </a:spcAft>
            </a:pPr>
            <a:r>
              <a:rPr sz="1240" b="1">
                <a:solidFill>
                  <a:srgbClr val="7450DF"/>
                </a:solidFill>
                <a:latin typeface="Arial"/>
              </a:rPr>
              <a:t>100 → 200 → 300</a:t>
            </a:r>
          </a:p>
        </p:txBody>
      </p:sp>
      <p:sp>
        <p:nvSpPr>
          <p:cNvPr id="35" name="Rounded Rectangle 34"/>
          <p:cNvSpPr/>
          <p:nvPr/>
        </p:nvSpPr>
        <p:spPr>
          <a:xfrm>
            <a:off x="585216" y="3849624"/>
            <a:ext cx="3547872" cy="1618488"/>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40664" y="3995928"/>
            <a:ext cx="3236976" cy="310896"/>
          </a:xfrm>
          <a:prstGeom prst="rect">
            <a:avLst/>
          </a:prstGeom>
          <a:noFill/>
        </p:spPr>
        <p:txBody>
          <a:bodyPr wrap="square" lIns="0" tIns="0" rIns="0" bIns="0" anchor="t">
            <a:noAutofit/>
          </a:bodyPr>
          <a:lstStyle/>
          <a:p>
            <a:pPr algn="l">
              <a:lnSpc>
                <a:spcPct val="110000"/>
              </a:lnSpc>
              <a:spcBef>
                <a:spcPts val="0"/>
              </a:spcBef>
              <a:spcAft>
                <a:spcPts val="0"/>
              </a:spcAft>
            </a:pPr>
            <a:r>
              <a:rPr sz="2300" b="1">
                <a:solidFill>
                  <a:srgbClr val="389778"/>
                </a:solidFill>
                <a:latin typeface="Arial"/>
              </a:rPr>
              <a:t>Deque</a:t>
            </a:r>
          </a:p>
        </p:txBody>
      </p:sp>
      <p:sp>
        <p:nvSpPr>
          <p:cNvPr id="37" name="TextBox 36"/>
          <p:cNvSpPr txBox="1"/>
          <p:nvPr/>
        </p:nvSpPr>
        <p:spPr>
          <a:xfrm>
            <a:off x="740664" y="4517136"/>
            <a:ext cx="3236976" cy="466344"/>
          </a:xfrm>
          <a:prstGeom prst="rect">
            <a:avLst/>
          </a:prstGeom>
          <a:noFill/>
        </p:spPr>
        <p:txBody>
          <a:bodyPr wrap="square" lIns="0" tIns="0" rIns="0" bIns="0" anchor="t">
            <a:noAutofit/>
          </a:bodyPr>
          <a:lstStyle/>
          <a:p>
            <a:pPr algn="l">
              <a:lnSpc>
                <a:spcPct val="110000"/>
              </a:lnSpc>
              <a:spcBef>
                <a:spcPts val="0"/>
              </a:spcBef>
              <a:spcAft>
                <a:spcPts val="0"/>
              </a:spcAft>
            </a:pPr>
            <a:r>
              <a:rPr sz="1800" b="0">
                <a:solidFill>
                  <a:srgbClr val="50576D"/>
                </a:solidFill>
                <a:latin typeface="Arial"/>
              </a:rPr>
              <a:t>Oldest waitlist group first</a:t>
            </a:r>
          </a:p>
        </p:txBody>
      </p:sp>
      <p:sp>
        <p:nvSpPr>
          <p:cNvPr id="38" name="Rounded Rectangle 37"/>
          <p:cNvSpPr/>
          <p:nvPr/>
        </p:nvSpPr>
        <p:spPr>
          <a:xfrm>
            <a:off x="731520" y="5029200"/>
            <a:ext cx="3255264" cy="292608"/>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13816" y="5079492"/>
            <a:ext cx="3090672" cy="228600"/>
          </a:xfrm>
          <a:prstGeom prst="rect">
            <a:avLst/>
          </a:prstGeom>
          <a:noFill/>
        </p:spPr>
        <p:txBody>
          <a:bodyPr wrap="square" lIns="0" tIns="0" rIns="0" bIns="0" anchor="t">
            <a:noAutofit/>
          </a:bodyPr>
          <a:lstStyle/>
          <a:p>
            <a:pPr algn="ctr">
              <a:lnSpc>
                <a:spcPct val="110000"/>
              </a:lnSpc>
              <a:spcBef>
                <a:spcPts val="0"/>
              </a:spcBef>
              <a:spcAft>
                <a:spcPts val="0"/>
              </a:spcAft>
            </a:pPr>
            <a:r>
              <a:rPr sz="1240" b="1">
                <a:solidFill>
                  <a:srgbClr val="389778"/>
                </a:solidFill>
                <a:latin typeface="Arial"/>
              </a:rPr>
              <a:t>head → group → group</a:t>
            </a:r>
          </a:p>
        </p:txBody>
      </p:sp>
      <p:sp>
        <p:nvSpPr>
          <p:cNvPr id="40" name="Rounded Rectangle 39"/>
          <p:cNvSpPr/>
          <p:nvPr/>
        </p:nvSpPr>
        <p:spPr>
          <a:xfrm>
            <a:off x="4334255" y="3849624"/>
            <a:ext cx="3547872" cy="1618488"/>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89703" y="3995928"/>
            <a:ext cx="3236976" cy="310896"/>
          </a:xfrm>
          <a:prstGeom prst="rect">
            <a:avLst/>
          </a:prstGeom>
          <a:noFill/>
        </p:spPr>
        <p:txBody>
          <a:bodyPr wrap="square" lIns="0" tIns="0" rIns="0" bIns="0" anchor="t">
            <a:noAutofit/>
          </a:bodyPr>
          <a:lstStyle/>
          <a:p>
            <a:pPr algn="l">
              <a:lnSpc>
                <a:spcPct val="110000"/>
              </a:lnSpc>
              <a:spcBef>
                <a:spcPts val="0"/>
              </a:spcBef>
              <a:spcAft>
                <a:spcPts val="0"/>
              </a:spcAft>
            </a:pPr>
            <a:r>
              <a:rPr sz="2300" b="1">
                <a:solidFill>
                  <a:srgbClr val="389778"/>
                </a:solidFill>
                <a:latin typeface="Arial"/>
              </a:rPr>
              <a:t>Frozen values</a:t>
            </a:r>
          </a:p>
        </p:txBody>
      </p:sp>
      <p:sp>
        <p:nvSpPr>
          <p:cNvPr id="42" name="TextBox 41"/>
          <p:cNvSpPr txBox="1"/>
          <p:nvPr/>
        </p:nvSpPr>
        <p:spPr>
          <a:xfrm>
            <a:off x="4489703" y="4517136"/>
            <a:ext cx="3236976" cy="466344"/>
          </a:xfrm>
          <a:prstGeom prst="rect">
            <a:avLst/>
          </a:prstGeom>
          <a:noFill/>
        </p:spPr>
        <p:txBody>
          <a:bodyPr wrap="square" lIns="0" tIns="0" rIns="0" bIns="0" anchor="t">
            <a:noAutofit/>
          </a:bodyPr>
          <a:lstStyle/>
          <a:p>
            <a:pPr algn="l">
              <a:lnSpc>
                <a:spcPct val="110000"/>
              </a:lnSpc>
              <a:spcBef>
                <a:spcPts val="0"/>
              </a:spcBef>
              <a:spcAft>
                <a:spcPts val="0"/>
              </a:spcAft>
            </a:pPr>
            <a:r>
              <a:rPr sz="1800" b="0">
                <a:solidFill>
                  <a:srgbClr val="50576D"/>
                </a:solidFill>
                <a:latin typeface="Arial"/>
              </a:rPr>
              <a:t>Edges / paths as value objects</a:t>
            </a:r>
          </a:p>
        </p:txBody>
      </p:sp>
      <p:sp>
        <p:nvSpPr>
          <p:cNvPr id="43" name="Rounded Rectangle 42"/>
          <p:cNvSpPr/>
          <p:nvPr/>
        </p:nvSpPr>
        <p:spPr>
          <a:xfrm>
            <a:off x="4480559" y="5029200"/>
            <a:ext cx="3255264" cy="292608"/>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562855" y="5079492"/>
            <a:ext cx="3090672" cy="228600"/>
          </a:xfrm>
          <a:prstGeom prst="rect">
            <a:avLst/>
          </a:prstGeom>
          <a:noFill/>
        </p:spPr>
        <p:txBody>
          <a:bodyPr wrap="square" lIns="0" tIns="0" rIns="0" bIns="0" anchor="t">
            <a:noAutofit/>
          </a:bodyPr>
          <a:lstStyle/>
          <a:p>
            <a:pPr algn="ctr">
              <a:lnSpc>
                <a:spcPct val="110000"/>
              </a:lnSpc>
              <a:spcBef>
                <a:spcPts val="0"/>
              </a:spcBef>
              <a:spcAft>
                <a:spcPts val="0"/>
              </a:spcAft>
            </a:pPr>
            <a:r>
              <a:rPr sz="1240" b="1">
                <a:solidFill>
                  <a:srgbClr val="389778"/>
                </a:solidFill>
                <a:latin typeface="Arial"/>
              </a:rPr>
              <a:t>Edge  •  RouteResult</a:t>
            </a:r>
          </a:p>
        </p:txBody>
      </p:sp>
      <p:sp>
        <p:nvSpPr>
          <p:cNvPr id="45" name="Rounded Rectangle 44"/>
          <p:cNvSpPr/>
          <p:nvPr/>
        </p:nvSpPr>
        <p:spPr>
          <a:xfrm>
            <a:off x="8083296" y="3849624"/>
            <a:ext cx="3547872" cy="1618488"/>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238744" y="3995928"/>
            <a:ext cx="3236976" cy="310896"/>
          </a:xfrm>
          <a:prstGeom prst="rect">
            <a:avLst/>
          </a:prstGeom>
          <a:noFill/>
        </p:spPr>
        <p:txBody>
          <a:bodyPr wrap="square" lIns="0" tIns="0" rIns="0" bIns="0" anchor="t">
            <a:noAutofit/>
          </a:bodyPr>
          <a:lstStyle/>
          <a:p>
            <a:pPr algn="l">
              <a:lnSpc>
                <a:spcPct val="110000"/>
              </a:lnSpc>
              <a:spcBef>
                <a:spcPts val="0"/>
              </a:spcBef>
              <a:spcAft>
                <a:spcPts val="0"/>
              </a:spcAft>
            </a:pPr>
            <a:r>
              <a:rPr sz="2300" b="1">
                <a:solidFill>
                  <a:srgbClr val="389778"/>
                </a:solidFill>
                <a:latin typeface="Arial"/>
              </a:rPr>
              <a:t>DB key + index</a:t>
            </a:r>
          </a:p>
        </p:txBody>
      </p:sp>
      <p:sp>
        <p:nvSpPr>
          <p:cNvPr id="47" name="TextBox 46"/>
          <p:cNvSpPr txBox="1"/>
          <p:nvPr/>
        </p:nvSpPr>
        <p:spPr>
          <a:xfrm>
            <a:off x="8238744" y="4517136"/>
            <a:ext cx="3236976" cy="466344"/>
          </a:xfrm>
          <a:prstGeom prst="rect">
            <a:avLst/>
          </a:prstGeom>
          <a:noFill/>
        </p:spPr>
        <p:txBody>
          <a:bodyPr wrap="square" lIns="0" tIns="0" rIns="0" bIns="0" anchor="t">
            <a:noAutofit/>
          </a:bodyPr>
          <a:lstStyle/>
          <a:p>
            <a:pPr algn="l">
              <a:lnSpc>
                <a:spcPct val="110000"/>
              </a:lnSpc>
              <a:spcBef>
                <a:spcPts val="0"/>
              </a:spcBef>
              <a:spcAft>
                <a:spcPts val="0"/>
              </a:spcAft>
            </a:pPr>
            <a:r>
              <a:rPr sz="1800" b="0">
                <a:solidFill>
                  <a:srgbClr val="50576D"/>
                </a:solidFill>
                <a:latin typeface="Arial"/>
              </a:rPr>
              <a:t>Cross-process seat identity</a:t>
            </a:r>
          </a:p>
        </p:txBody>
      </p:sp>
      <p:sp>
        <p:nvSpPr>
          <p:cNvPr id="48" name="Rounded Rectangle 47"/>
          <p:cNvSpPr/>
          <p:nvPr/>
        </p:nvSpPr>
        <p:spPr>
          <a:xfrm>
            <a:off x="8229600" y="5029200"/>
            <a:ext cx="3255264" cy="292608"/>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311896" y="5079492"/>
            <a:ext cx="3090672" cy="228600"/>
          </a:xfrm>
          <a:prstGeom prst="rect">
            <a:avLst/>
          </a:prstGeom>
          <a:noFill/>
        </p:spPr>
        <p:txBody>
          <a:bodyPr wrap="square" lIns="0" tIns="0" rIns="0" bIns="0" anchor="t">
            <a:noAutofit/>
          </a:bodyPr>
          <a:lstStyle/>
          <a:p>
            <a:pPr algn="ctr">
              <a:lnSpc>
                <a:spcPct val="110000"/>
              </a:lnSpc>
              <a:spcBef>
                <a:spcPts val="0"/>
              </a:spcBef>
              <a:spcAft>
                <a:spcPts val="0"/>
              </a:spcAft>
            </a:pPr>
            <a:r>
              <a:rPr sz="1240" b="1">
                <a:solidFill>
                  <a:srgbClr val="389778"/>
                </a:solidFill>
                <a:latin typeface="Arial"/>
              </a:rPr>
              <a:t>train + date + class + seat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PYTHON / LANGUAGE CONSTRUCTS</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Pythonic programming: concise, not cryptic</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Use generators, comprehensions, decorators and context managers without hiding side effects.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seat_labels is lazy; timed preserves the callable; Database.transaction commits or rolls back reliably.</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algorithms.py: seat_labels, timed • db.py • services.py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15 / 35</a:t>
            </a:r>
          </a:p>
        </p:txBody>
      </p:sp>
      <p:sp>
        <p:nvSpPr>
          <p:cNvPr id="20" name="Rounded Rectangle 19"/>
          <p:cNvSpPr/>
          <p:nvPr/>
        </p:nvSpPr>
        <p:spPr>
          <a:xfrm>
            <a:off x="585216" y="1993392"/>
            <a:ext cx="5458968" cy="1536192"/>
          </a:xfrm>
          <a:prstGeom prst="roundRect">
            <a:avLst>
              <a:gd name="adj" fmla="val 14000"/>
            </a:avLst>
          </a:prstGeom>
          <a:solidFill>
            <a:srgbClr val="26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0664" y="2112264"/>
            <a:ext cx="5148072" cy="237744"/>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BBA9EF"/>
                </a:solidFill>
                <a:latin typeface="Arial"/>
              </a:rPr>
              <a:t>ITERATOR / GENERATOR</a:t>
            </a:r>
          </a:p>
        </p:txBody>
      </p:sp>
      <p:sp>
        <p:nvSpPr>
          <p:cNvPr id="22" name="TextBox 21"/>
          <p:cNvSpPr txBox="1"/>
          <p:nvPr/>
        </p:nvSpPr>
        <p:spPr>
          <a:xfrm>
            <a:off x="749808" y="2478024"/>
            <a:ext cx="5129783" cy="960119"/>
          </a:xfrm>
          <a:prstGeom prst="rect">
            <a:avLst/>
          </a:prstGeom>
          <a:noFill/>
        </p:spPr>
        <p:txBody>
          <a:bodyPr wrap="square" lIns="0" tIns="0" rIns="0" bIns="0" anchor="t">
            <a:noAutofit/>
          </a:bodyPr>
          <a:lstStyle/>
          <a:p>
            <a:pPr algn="l">
              <a:lnSpc>
                <a:spcPct val="118000"/>
              </a:lnSpc>
              <a:spcBef>
                <a:spcPts val="0"/>
              </a:spcBef>
              <a:spcAft>
                <a:spcPts val="0"/>
              </a:spcAft>
            </a:pPr>
            <a:r>
              <a:rPr sz="1700" b="0">
                <a:solidFill>
                  <a:srgbClr val="F3EDFF"/>
                </a:solidFill>
                <a:latin typeface="Consolas"/>
              </a:rPr>
              <a:t>labels = seat_labels([1, 37])</a:t>
            </a:r>
          </a:p>
          <a:p>
            <a:pPr algn="l">
              <a:lnSpc>
                <a:spcPct val="118000"/>
              </a:lnSpc>
              <a:spcBef>
                <a:spcPts val="0"/>
              </a:spcBef>
              <a:spcAft>
                <a:spcPts val="0"/>
              </a:spcAft>
            </a:pPr>
            <a:r>
              <a:rPr sz="1700" b="0">
                <a:solidFill>
                  <a:srgbClr val="F3EDFF"/>
                </a:solidFill>
                <a:latin typeface="Consolas"/>
              </a:rPr>
              <a:t>next(labels)  # C1-01</a:t>
            </a:r>
          </a:p>
          <a:p>
            <a:pPr algn="l">
              <a:lnSpc>
                <a:spcPct val="118000"/>
              </a:lnSpc>
              <a:spcBef>
                <a:spcPts val="0"/>
              </a:spcBef>
              <a:spcAft>
                <a:spcPts val="0"/>
              </a:spcAft>
            </a:pPr>
            <a:r>
              <a:rPr sz="1700" b="0">
                <a:solidFill>
                  <a:srgbClr val="F3EDFF"/>
                </a:solidFill>
                <a:latin typeface="Consolas"/>
              </a:rPr>
              <a:t>next(labels)  # C2-01</a:t>
            </a:r>
          </a:p>
        </p:txBody>
      </p:sp>
      <p:sp>
        <p:nvSpPr>
          <p:cNvPr id="23" name="Rounded Rectangle 22"/>
          <p:cNvSpPr/>
          <p:nvPr/>
        </p:nvSpPr>
        <p:spPr>
          <a:xfrm>
            <a:off x="6254496" y="1993392"/>
            <a:ext cx="5340096" cy="1536192"/>
          </a:xfrm>
          <a:prstGeom prst="roundRect">
            <a:avLst>
              <a:gd name="adj" fmla="val 14000"/>
            </a:avLst>
          </a:prstGeom>
          <a:solidFill>
            <a:srgbClr val="26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9944" y="2112264"/>
            <a:ext cx="5029200" cy="237744"/>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BBA9EF"/>
                </a:solidFill>
                <a:latin typeface="Arial"/>
              </a:rPr>
              <a:t>COMPREHENSION</a:t>
            </a:r>
          </a:p>
        </p:txBody>
      </p:sp>
      <p:sp>
        <p:nvSpPr>
          <p:cNvPr id="25" name="TextBox 24"/>
          <p:cNvSpPr txBox="1"/>
          <p:nvPr/>
        </p:nvSpPr>
        <p:spPr>
          <a:xfrm>
            <a:off x="6419088" y="2478024"/>
            <a:ext cx="5010912" cy="960119"/>
          </a:xfrm>
          <a:prstGeom prst="rect">
            <a:avLst/>
          </a:prstGeom>
          <a:noFill/>
        </p:spPr>
        <p:txBody>
          <a:bodyPr wrap="square" lIns="0" tIns="0" rIns="0" bIns="0" anchor="t">
            <a:noAutofit/>
          </a:bodyPr>
          <a:lstStyle/>
          <a:p>
            <a:pPr algn="l">
              <a:lnSpc>
                <a:spcPct val="118000"/>
              </a:lnSpc>
              <a:spcBef>
                <a:spcPts val="0"/>
              </a:spcBef>
              <a:spcAft>
                <a:spcPts val="0"/>
              </a:spcAft>
            </a:pPr>
            <a:r>
              <a:rPr sz="1700" b="0">
                <a:solidFill>
                  <a:srgbClr val="F3EDFF"/>
                </a:solidFill>
                <a:latin typeface="Consolas"/>
              </a:rPr>
              <a:t>free = [seat for seat in pool</a:t>
            </a:r>
          </a:p>
          <a:p>
            <a:pPr algn="l">
              <a:lnSpc>
                <a:spcPct val="118000"/>
              </a:lnSpc>
              <a:spcBef>
                <a:spcPts val="0"/>
              </a:spcBef>
              <a:spcAft>
                <a:spcPts val="0"/>
              </a:spcAft>
            </a:pPr>
            <a:r>
              <a:rPr sz="1700" b="0">
                <a:solidFill>
                  <a:srgbClr val="F3EDFF"/>
                </a:solidFill>
                <a:latin typeface="Consolas"/>
              </a:rPr>
              <a:t>        if seat not in taken]</a:t>
            </a:r>
          </a:p>
        </p:txBody>
      </p:sp>
      <p:sp>
        <p:nvSpPr>
          <p:cNvPr id="26" name="Rounded Rectangle 25"/>
          <p:cNvSpPr/>
          <p:nvPr/>
        </p:nvSpPr>
        <p:spPr>
          <a:xfrm>
            <a:off x="585216" y="3749039"/>
            <a:ext cx="5458968" cy="1691640"/>
          </a:xfrm>
          <a:prstGeom prst="roundRect">
            <a:avLst>
              <a:gd name="adj" fmla="val 14000"/>
            </a:avLst>
          </a:prstGeom>
          <a:solidFill>
            <a:srgbClr val="26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40664" y="3867911"/>
            <a:ext cx="5148072" cy="237744"/>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BBA9EF"/>
                </a:solidFill>
                <a:latin typeface="Arial"/>
              </a:rPr>
              <a:t>DECORATOR</a:t>
            </a:r>
          </a:p>
        </p:txBody>
      </p:sp>
      <p:sp>
        <p:nvSpPr>
          <p:cNvPr id="28" name="TextBox 27"/>
          <p:cNvSpPr txBox="1"/>
          <p:nvPr/>
        </p:nvSpPr>
        <p:spPr>
          <a:xfrm>
            <a:off x="749808" y="4233672"/>
            <a:ext cx="5129783" cy="1115568"/>
          </a:xfrm>
          <a:prstGeom prst="rect">
            <a:avLst/>
          </a:prstGeom>
          <a:noFill/>
        </p:spPr>
        <p:txBody>
          <a:bodyPr wrap="square" lIns="0" tIns="0" rIns="0" bIns="0" anchor="t">
            <a:noAutofit/>
          </a:bodyPr>
          <a:lstStyle/>
          <a:p>
            <a:pPr algn="l">
              <a:lnSpc>
                <a:spcPct val="118000"/>
              </a:lnSpc>
              <a:spcBef>
                <a:spcPts val="0"/>
              </a:spcBef>
              <a:spcAft>
                <a:spcPts val="0"/>
              </a:spcAft>
            </a:pPr>
            <a:r>
              <a:rPr sz="1680" b="0">
                <a:solidFill>
                  <a:srgbClr val="F3EDFF"/>
                </a:solidFill>
                <a:latin typeface="Consolas"/>
              </a:rPr>
              <a:t>@timed</a:t>
            </a:r>
          </a:p>
          <a:p>
            <a:pPr algn="l">
              <a:lnSpc>
                <a:spcPct val="118000"/>
              </a:lnSpc>
              <a:spcBef>
                <a:spcPts val="0"/>
              </a:spcBef>
              <a:spcAft>
                <a:spcPts val="0"/>
              </a:spcAft>
            </a:pPr>
            <a:r>
              <a:rPr sz="1680" b="0">
                <a:solidFill>
                  <a:srgbClr val="F3EDFF"/>
                </a:solidFill>
                <a:latin typeface="Consolas"/>
              </a:rPr>
              <a:t>def quote(base, cls, people):</a:t>
            </a:r>
          </a:p>
          <a:p>
            <a:pPr algn="l">
              <a:lnSpc>
                <a:spcPct val="118000"/>
              </a:lnSpc>
              <a:spcBef>
                <a:spcPts val="0"/>
              </a:spcBef>
              <a:spcAft>
                <a:spcPts val="0"/>
              </a:spcAft>
            </a:pPr>
            <a:r>
              <a:rPr sz="1680" b="0">
                <a:solidFill>
                  <a:srgbClr val="F3EDFF"/>
                </a:solidFill>
                <a:latin typeface="Consolas"/>
              </a:rPr>
              <a:t>    return fare_quote(</a:t>
            </a:r>
          </a:p>
          <a:p>
            <a:pPr algn="l">
              <a:lnSpc>
                <a:spcPct val="118000"/>
              </a:lnSpc>
              <a:spcBef>
                <a:spcPts val="0"/>
              </a:spcBef>
              <a:spcAft>
                <a:spcPts val="0"/>
              </a:spcAft>
            </a:pPr>
            <a:r>
              <a:rPr sz="1680" b="0">
                <a:solidFill>
                  <a:srgbClr val="F3EDFF"/>
                </a:solidFill>
                <a:latin typeface="Consolas"/>
              </a:rPr>
              <a:t>        base, cls, people)</a:t>
            </a:r>
          </a:p>
        </p:txBody>
      </p:sp>
      <p:sp>
        <p:nvSpPr>
          <p:cNvPr id="29" name="Rounded Rectangle 28"/>
          <p:cNvSpPr/>
          <p:nvPr/>
        </p:nvSpPr>
        <p:spPr>
          <a:xfrm>
            <a:off x="6254496" y="3749039"/>
            <a:ext cx="5340096" cy="1691640"/>
          </a:xfrm>
          <a:prstGeom prst="roundRect">
            <a:avLst>
              <a:gd name="adj" fmla="val 14000"/>
            </a:avLst>
          </a:prstGeom>
          <a:solidFill>
            <a:srgbClr val="26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9944" y="3867911"/>
            <a:ext cx="5029200" cy="237744"/>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BBA9EF"/>
                </a:solidFill>
                <a:latin typeface="Arial"/>
              </a:rPr>
              <a:t>CONTEXT MANAGER</a:t>
            </a:r>
          </a:p>
        </p:txBody>
      </p:sp>
      <p:sp>
        <p:nvSpPr>
          <p:cNvPr id="31" name="TextBox 30"/>
          <p:cNvSpPr txBox="1"/>
          <p:nvPr/>
        </p:nvSpPr>
        <p:spPr>
          <a:xfrm>
            <a:off x="6419088" y="4233672"/>
            <a:ext cx="5010912" cy="1115568"/>
          </a:xfrm>
          <a:prstGeom prst="rect">
            <a:avLst/>
          </a:prstGeom>
          <a:noFill/>
        </p:spPr>
        <p:txBody>
          <a:bodyPr wrap="square" lIns="0" tIns="0" rIns="0" bIns="0" anchor="t">
            <a:noAutofit/>
          </a:bodyPr>
          <a:lstStyle/>
          <a:p>
            <a:pPr algn="l">
              <a:lnSpc>
                <a:spcPct val="118000"/>
              </a:lnSpc>
              <a:spcBef>
                <a:spcPts val="0"/>
              </a:spcBef>
              <a:spcAft>
                <a:spcPts val="0"/>
              </a:spcAft>
            </a:pPr>
            <a:r>
              <a:rPr sz="1680" b="0">
                <a:solidFill>
                  <a:srgbClr val="F3EDFF"/>
                </a:solidFill>
                <a:latin typeface="Consolas"/>
              </a:rPr>
              <a:t>with db.transaction() as session:</a:t>
            </a:r>
          </a:p>
          <a:p>
            <a:pPr algn="l">
              <a:lnSpc>
                <a:spcPct val="118000"/>
              </a:lnSpc>
              <a:spcBef>
                <a:spcPts val="0"/>
              </a:spcBef>
              <a:spcAft>
                <a:spcPts val="0"/>
              </a:spcAft>
            </a:pPr>
            <a:r>
              <a:rPr sz="1680" b="0">
                <a:solidFill>
                  <a:srgbClr val="F3EDFF"/>
                </a:solidFill>
                <a:latin typeface="Consolas"/>
              </a:rPr>
              <a:t>    session.add(booking)</a:t>
            </a:r>
          </a:p>
          <a:p>
            <a:pPr algn="l">
              <a:lnSpc>
                <a:spcPct val="118000"/>
              </a:lnSpc>
              <a:spcBef>
                <a:spcPts val="0"/>
              </a:spcBef>
              <a:spcAft>
                <a:spcPts val="0"/>
              </a:spcAft>
            </a:pPr>
            <a:r>
              <a:rPr sz="1680" b="0">
                <a:solidFill>
                  <a:srgbClr val="F3EDFF"/>
                </a:solidFill>
                <a:latin typeface="Consolas"/>
              </a:rPr>
              <a:t># success: commit</a:t>
            </a:r>
          </a:p>
          <a:p>
            <a:pPr algn="l">
              <a:lnSpc>
                <a:spcPct val="118000"/>
              </a:lnSpc>
              <a:spcBef>
                <a:spcPts val="0"/>
              </a:spcBef>
              <a:spcAft>
                <a:spcPts val="0"/>
              </a:spcAft>
            </a:pPr>
            <a:r>
              <a:rPr sz="1680" b="0">
                <a:solidFill>
                  <a:srgbClr val="F3EDFF"/>
                </a:solidFill>
                <a:latin typeface="Consolas"/>
              </a:rPr>
              <a:t># exception: rollback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SOFTWARE DESIGN / OOP AND PATTERNS</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OOP: compose replaceable responsibilities</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Define abstract contracts, inherit concrete policies and inject collaborators by composition.</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RailService composes Database, FarePolicy and PaymentGateway; UI/API consume its shared behavior.</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services.py • db.py: Repository[T] • models.py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16 / 35</a:t>
            </a:r>
          </a:p>
        </p:txBody>
      </p:sp>
      <p:cxnSp>
        <p:nvCxnSpPr>
          <p:cNvPr id="20" name="Connector 19"/>
          <p:cNvCxnSpPr/>
          <p:nvPr/>
        </p:nvCxnSpPr>
        <p:spPr>
          <a:xfrm flipH="1">
            <a:off x="1892807" y="2724912"/>
            <a:ext cx="4178809" cy="576072"/>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071616" y="2724912"/>
            <a:ext cx="0" cy="576072"/>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071616" y="2724912"/>
            <a:ext cx="4142232" cy="576072"/>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995928" y="1984248"/>
            <a:ext cx="4151376" cy="740664"/>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169663" y="2180844"/>
            <a:ext cx="3813048" cy="347472"/>
          </a:xfrm>
          <a:prstGeom prst="rect">
            <a:avLst/>
          </a:prstGeom>
          <a:noFill/>
        </p:spPr>
        <p:txBody>
          <a:bodyPr wrap="square" lIns="0" tIns="0" rIns="0" bIns="0" anchor="t">
            <a:noAutofit/>
          </a:bodyPr>
          <a:lstStyle/>
          <a:p>
            <a:pPr algn="ctr">
              <a:lnSpc>
                <a:spcPct val="110000"/>
              </a:lnSpc>
              <a:spcBef>
                <a:spcPts val="0"/>
              </a:spcBef>
              <a:spcAft>
                <a:spcPts val="0"/>
              </a:spcAft>
            </a:pPr>
            <a:r>
              <a:rPr sz="2700" b="1">
                <a:solidFill>
                  <a:srgbClr val="FFFFFF"/>
                </a:solidFill>
                <a:latin typeface="Arial"/>
              </a:rPr>
              <a:t>RailService</a:t>
            </a:r>
          </a:p>
        </p:txBody>
      </p:sp>
      <p:sp>
        <p:nvSpPr>
          <p:cNvPr id="25" name="Rounded Rectangle 24"/>
          <p:cNvSpPr/>
          <p:nvPr/>
        </p:nvSpPr>
        <p:spPr>
          <a:xfrm>
            <a:off x="594360" y="3346704"/>
            <a:ext cx="3493008" cy="108813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58952" y="3483864"/>
            <a:ext cx="3163824" cy="365760"/>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Database</a:t>
            </a:r>
          </a:p>
        </p:txBody>
      </p:sp>
      <p:sp>
        <p:nvSpPr>
          <p:cNvPr id="27" name="TextBox 26"/>
          <p:cNvSpPr txBox="1"/>
          <p:nvPr/>
        </p:nvSpPr>
        <p:spPr>
          <a:xfrm>
            <a:off x="758952" y="3931920"/>
            <a:ext cx="3163824" cy="448056"/>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transaction()</a:t>
            </a:r>
          </a:p>
          <a:p>
            <a:pPr algn="l">
              <a:lnSpc>
                <a:spcPct val="110000"/>
              </a:lnSpc>
              <a:spcBef>
                <a:spcPts val="0"/>
              </a:spcBef>
              <a:spcAft>
                <a:spcPts val="0"/>
              </a:spcAft>
            </a:pPr>
            <a:r>
              <a:rPr sz="1660" b="0">
                <a:solidFill>
                  <a:srgbClr val="50576D"/>
                </a:solidFill>
                <a:latin typeface="Arial"/>
              </a:rPr>
              <a:t>Repository[T]</a:t>
            </a:r>
          </a:p>
        </p:txBody>
      </p:sp>
      <p:sp>
        <p:nvSpPr>
          <p:cNvPr id="28" name="Rounded Rectangle 27"/>
          <p:cNvSpPr/>
          <p:nvPr/>
        </p:nvSpPr>
        <p:spPr>
          <a:xfrm>
            <a:off x="4325112" y="3346704"/>
            <a:ext cx="3493008" cy="108813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89704" y="3483864"/>
            <a:ext cx="3163824" cy="365760"/>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FarePolicy (ABC)</a:t>
            </a:r>
          </a:p>
        </p:txBody>
      </p:sp>
      <p:sp>
        <p:nvSpPr>
          <p:cNvPr id="30" name="TextBox 29"/>
          <p:cNvSpPr txBox="1"/>
          <p:nvPr/>
        </p:nvSpPr>
        <p:spPr>
          <a:xfrm>
            <a:off x="4489704" y="3931920"/>
            <a:ext cx="3163824" cy="448056"/>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quote() contract</a:t>
            </a:r>
          </a:p>
        </p:txBody>
      </p:sp>
      <p:sp>
        <p:nvSpPr>
          <p:cNvPr id="31" name="Rounded Rectangle 30"/>
          <p:cNvSpPr/>
          <p:nvPr/>
        </p:nvSpPr>
        <p:spPr>
          <a:xfrm>
            <a:off x="8119872" y="3346704"/>
            <a:ext cx="3493008" cy="108813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84464" y="3483864"/>
            <a:ext cx="3163824" cy="365760"/>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PaymentGateway</a:t>
            </a:r>
          </a:p>
        </p:txBody>
      </p:sp>
      <p:sp>
        <p:nvSpPr>
          <p:cNvPr id="33" name="TextBox 32"/>
          <p:cNvSpPr txBox="1"/>
          <p:nvPr/>
        </p:nvSpPr>
        <p:spPr>
          <a:xfrm>
            <a:off x="8284464" y="3931920"/>
            <a:ext cx="3163824" cy="448056"/>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Protocol contract</a:t>
            </a:r>
          </a:p>
        </p:txBody>
      </p:sp>
      <p:cxnSp>
        <p:nvCxnSpPr>
          <p:cNvPr id="34" name="Connector 33"/>
          <p:cNvCxnSpPr/>
          <p:nvPr/>
        </p:nvCxnSpPr>
        <p:spPr>
          <a:xfrm>
            <a:off x="6071616" y="4434840"/>
            <a:ext cx="0" cy="27432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866376" y="4434840"/>
            <a:ext cx="0" cy="27432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325112" y="4690872"/>
            <a:ext cx="3493008" cy="914400"/>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89704" y="4828032"/>
            <a:ext cx="3163824" cy="365760"/>
          </a:xfrm>
          <a:prstGeom prst="rect">
            <a:avLst/>
          </a:prstGeom>
          <a:noFill/>
        </p:spPr>
        <p:txBody>
          <a:bodyPr wrap="square" lIns="0" tIns="0" rIns="0" bIns="0" anchor="t">
            <a:noAutofit/>
          </a:bodyPr>
          <a:lstStyle/>
          <a:p>
            <a:pPr algn="l">
              <a:lnSpc>
                <a:spcPct val="110000"/>
              </a:lnSpc>
              <a:spcBef>
                <a:spcPts val="0"/>
              </a:spcBef>
              <a:spcAft>
                <a:spcPts val="0"/>
              </a:spcAft>
            </a:pPr>
            <a:r>
              <a:rPr sz="2030" b="1">
                <a:solidFill>
                  <a:srgbClr val="389778"/>
                </a:solidFill>
                <a:latin typeface="Arial"/>
              </a:rPr>
              <a:t>StandardFare</a:t>
            </a:r>
          </a:p>
        </p:txBody>
      </p:sp>
      <p:sp>
        <p:nvSpPr>
          <p:cNvPr id="38" name="TextBox 37"/>
          <p:cNvSpPr txBox="1"/>
          <p:nvPr/>
        </p:nvSpPr>
        <p:spPr>
          <a:xfrm>
            <a:off x="4489704" y="5276088"/>
            <a:ext cx="3163824" cy="274320"/>
          </a:xfrm>
          <a:prstGeom prst="rect">
            <a:avLst/>
          </a:prstGeom>
          <a:noFill/>
        </p:spPr>
        <p:txBody>
          <a:bodyPr wrap="square" lIns="0" tIns="0" rIns="0" bIns="0" anchor="t">
            <a:noAutofit/>
          </a:bodyPr>
          <a:lstStyle/>
          <a:p>
            <a:pPr algn="l">
              <a:lnSpc>
                <a:spcPct val="110000"/>
              </a:lnSpc>
              <a:spcBef>
                <a:spcPts val="0"/>
              </a:spcBef>
              <a:spcAft>
                <a:spcPts val="0"/>
              </a:spcAft>
            </a:pPr>
            <a:r>
              <a:rPr sz="1630" b="0">
                <a:solidFill>
                  <a:srgbClr val="50576D"/>
                </a:solidFill>
                <a:latin typeface="Arial"/>
              </a:rPr>
              <a:t>Implements the fare strategy</a:t>
            </a:r>
          </a:p>
        </p:txBody>
      </p:sp>
      <p:sp>
        <p:nvSpPr>
          <p:cNvPr id="39" name="Rounded Rectangle 38"/>
          <p:cNvSpPr/>
          <p:nvPr/>
        </p:nvSpPr>
        <p:spPr>
          <a:xfrm>
            <a:off x="8119872" y="4690872"/>
            <a:ext cx="3493008" cy="914400"/>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84464" y="4828032"/>
            <a:ext cx="3163824" cy="365760"/>
          </a:xfrm>
          <a:prstGeom prst="rect">
            <a:avLst/>
          </a:prstGeom>
          <a:noFill/>
        </p:spPr>
        <p:txBody>
          <a:bodyPr wrap="square" lIns="0" tIns="0" rIns="0" bIns="0" anchor="t">
            <a:noAutofit/>
          </a:bodyPr>
          <a:lstStyle/>
          <a:p>
            <a:pPr algn="l">
              <a:lnSpc>
                <a:spcPct val="110000"/>
              </a:lnSpc>
              <a:spcBef>
                <a:spcPts val="0"/>
              </a:spcBef>
              <a:spcAft>
                <a:spcPts val="0"/>
              </a:spcAft>
            </a:pPr>
            <a:r>
              <a:rPr sz="2030" b="1">
                <a:solidFill>
                  <a:srgbClr val="389778"/>
                </a:solidFill>
                <a:latin typeface="Arial"/>
              </a:rPr>
              <a:t>DemoPayment</a:t>
            </a:r>
          </a:p>
        </p:txBody>
      </p:sp>
      <p:sp>
        <p:nvSpPr>
          <p:cNvPr id="41" name="TextBox 40"/>
          <p:cNvSpPr txBox="1"/>
          <p:nvPr/>
        </p:nvSpPr>
        <p:spPr>
          <a:xfrm>
            <a:off x="8284464" y="5276088"/>
            <a:ext cx="3163824" cy="274320"/>
          </a:xfrm>
          <a:prstGeom prst="rect">
            <a:avLst/>
          </a:prstGeom>
          <a:noFill/>
        </p:spPr>
        <p:txBody>
          <a:bodyPr wrap="square" lIns="0" tIns="0" rIns="0" bIns="0" anchor="t">
            <a:noAutofit/>
          </a:bodyPr>
          <a:lstStyle/>
          <a:p>
            <a:pPr algn="l">
              <a:lnSpc>
                <a:spcPct val="110000"/>
              </a:lnSpc>
              <a:spcBef>
                <a:spcPts val="0"/>
              </a:spcBef>
              <a:spcAft>
                <a:spcPts val="0"/>
              </a:spcAft>
            </a:pPr>
            <a:r>
              <a:rPr sz="1630" b="0">
                <a:solidFill>
                  <a:srgbClr val="50576D"/>
                </a:solidFill>
                <a:latin typeface="Arial"/>
              </a:rPr>
              <a:t>Simulates charge / refund</a:t>
            </a:r>
          </a:p>
        </p:txBody>
      </p:sp>
      <p:sp>
        <p:nvSpPr>
          <p:cNvPr id="42" name="TextBox 41"/>
          <p:cNvSpPr txBox="1"/>
          <p:nvPr/>
        </p:nvSpPr>
        <p:spPr>
          <a:xfrm>
            <a:off x="777240" y="4727448"/>
            <a:ext cx="3090672" cy="594360"/>
          </a:xfrm>
          <a:prstGeom prst="rect">
            <a:avLst/>
          </a:prstGeom>
          <a:noFill/>
        </p:spPr>
        <p:txBody>
          <a:bodyPr wrap="square" lIns="0" tIns="0" rIns="0" bIns="0" anchor="t">
            <a:noAutofit/>
          </a:bodyPr>
          <a:lstStyle/>
          <a:p>
            <a:pPr algn="ctr">
              <a:lnSpc>
                <a:spcPct val="110000"/>
              </a:lnSpc>
              <a:spcBef>
                <a:spcPts val="0"/>
              </a:spcBef>
              <a:spcAft>
                <a:spcPts val="0"/>
              </a:spcAft>
            </a:pPr>
            <a:r>
              <a:rPr sz="1970" b="1">
                <a:solidFill>
                  <a:srgbClr val="7450DF"/>
                </a:solidFill>
                <a:latin typeface="Arial"/>
              </a:rPr>
              <a:t>Strategy + composition</a:t>
            </a:r>
          </a:p>
          <a:p>
            <a:pPr algn="ctr">
              <a:lnSpc>
                <a:spcPct val="110000"/>
              </a:lnSpc>
              <a:spcBef>
                <a:spcPts val="0"/>
              </a:spcBef>
              <a:spcAft>
                <a:spcPts val="0"/>
              </a:spcAft>
            </a:pPr>
            <a:r>
              <a:rPr sz="1970" b="1">
                <a:solidFill>
                  <a:srgbClr val="7450DF"/>
                </a:solidFill>
                <a:latin typeface="Arial"/>
              </a:rPr>
              <a:t>+ unit of work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SOFTWARE DESIGN / TYPING AND MAINTAINABILITY</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Types and generics: make contracts visible</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Express reusable types, structural protocols and immutable values; validate runtime inputs separately.</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Mypy checks seven core modules; Pydantic validates passenger and train commands at runtime.</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schemas.py • db.py • algorithms.py • pyproject.toml</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17 / 35</a:t>
            </a:r>
          </a:p>
        </p:txBody>
      </p:sp>
      <p:sp>
        <p:nvSpPr>
          <p:cNvPr id="20" name="Rounded Rectangle 19"/>
          <p:cNvSpPr/>
          <p:nvPr/>
        </p:nvSpPr>
        <p:spPr>
          <a:xfrm>
            <a:off x="603504" y="1993392"/>
            <a:ext cx="5349240" cy="1682496"/>
          </a:xfrm>
          <a:prstGeom prst="roundRect">
            <a:avLst>
              <a:gd name="adj" fmla="val 14000"/>
            </a:avLst>
          </a:prstGeom>
          <a:solidFill>
            <a:srgbClr val="26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58952" y="2112264"/>
            <a:ext cx="5038344" cy="237744"/>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BBA9EF"/>
                </a:solidFill>
                <a:latin typeface="Arial"/>
              </a:rPr>
              <a:t>REUSABLE GENERIC REPOSITORY</a:t>
            </a:r>
          </a:p>
        </p:txBody>
      </p:sp>
      <p:sp>
        <p:nvSpPr>
          <p:cNvPr id="22" name="TextBox 21"/>
          <p:cNvSpPr txBox="1"/>
          <p:nvPr/>
        </p:nvSpPr>
        <p:spPr>
          <a:xfrm>
            <a:off x="768096" y="2478024"/>
            <a:ext cx="5020055" cy="1106424"/>
          </a:xfrm>
          <a:prstGeom prst="rect">
            <a:avLst/>
          </a:prstGeom>
          <a:noFill/>
        </p:spPr>
        <p:txBody>
          <a:bodyPr wrap="square" lIns="0" tIns="0" rIns="0" bIns="0" anchor="t">
            <a:noAutofit/>
          </a:bodyPr>
          <a:lstStyle/>
          <a:p>
            <a:pPr algn="l">
              <a:lnSpc>
                <a:spcPct val="118000"/>
              </a:lnSpc>
              <a:spcBef>
                <a:spcPts val="0"/>
              </a:spcBef>
              <a:spcAft>
                <a:spcPts val="0"/>
              </a:spcAft>
            </a:pPr>
            <a:r>
              <a:rPr sz="1630" b="0">
                <a:solidFill>
                  <a:srgbClr val="F3EDFF"/>
                </a:solidFill>
                <a:latin typeface="Consolas"/>
              </a:rPr>
              <a:t>class Repository(Generic[T]):</a:t>
            </a:r>
          </a:p>
          <a:p>
            <a:pPr algn="l">
              <a:lnSpc>
                <a:spcPct val="118000"/>
              </a:lnSpc>
              <a:spcBef>
                <a:spcPts val="0"/>
              </a:spcBef>
              <a:spcAft>
                <a:spcPts val="0"/>
              </a:spcAft>
            </a:pPr>
            <a:r>
              <a:rPr sz="1630" b="0">
                <a:solidFill>
                  <a:srgbClr val="F3EDFF"/>
                </a:solidFill>
                <a:latin typeface="Consolas"/>
              </a:rPr>
              <a:t>    def add(self, entity: T) -&gt; T: ...</a:t>
            </a:r>
          </a:p>
          <a:p>
            <a:pPr algn="l">
              <a:lnSpc>
                <a:spcPct val="118000"/>
              </a:lnSpc>
              <a:spcBef>
                <a:spcPts val="0"/>
              </a:spcBef>
              <a:spcAft>
                <a:spcPts val="0"/>
              </a:spcAft>
            </a:pPr>
            <a:r>
              <a:rPr sz="1630" b="0">
                <a:solidFill>
                  <a:srgbClr val="F3EDFF"/>
                </a:solidFill>
                <a:latin typeface="Consolas"/>
              </a:rPr>
              <a:t>    def all(self) -&gt; list[T]: ...</a:t>
            </a:r>
          </a:p>
        </p:txBody>
      </p:sp>
      <p:sp>
        <p:nvSpPr>
          <p:cNvPr id="23" name="Rounded Rectangle 22"/>
          <p:cNvSpPr/>
          <p:nvPr/>
        </p:nvSpPr>
        <p:spPr>
          <a:xfrm>
            <a:off x="6163056" y="1993392"/>
            <a:ext cx="5404104" cy="1682496"/>
          </a:xfrm>
          <a:prstGeom prst="roundRect">
            <a:avLst>
              <a:gd name="adj" fmla="val 14000"/>
            </a:avLst>
          </a:prstGeom>
          <a:solidFill>
            <a:srgbClr val="26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18504" y="2112264"/>
            <a:ext cx="5093208" cy="237744"/>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BBA9EF"/>
                </a:solidFill>
                <a:latin typeface="Arial"/>
              </a:rPr>
              <a:t>SIGNATURE-PRESERVING DECORATOR</a:t>
            </a:r>
          </a:p>
        </p:txBody>
      </p:sp>
      <p:sp>
        <p:nvSpPr>
          <p:cNvPr id="25" name="TextBox 24"/>
          <p:cNvSpPr txBox="1"/>
          <p:nvPr/>
        </p:nvSpPr>
        <p:spPr>
          <a:xfrm>
            <a:off x="6327648" y="2478024"/>
            <a:ext cx="5074920" cy="1106424"/>
          </a:xfrm>
          <a:prstGeom prst="rect">
            <a:avLst/>
          </a:prstGeom>
          <a:noFill/>
        </p:spPr>
        <p:txBody>
          <a:bodyPr wrap="square" lIns="0" tIns="0" rIns="0" bIns="0" anchor="t">
            <a:noAutofit/>
          </a:bodyPr>
          <a:lstStyle/>
          <a:p>
            <a:pPr algn="l">
              <a:lnSpc>
                <a:spcPct val="118000"/>
              </a:lnSpc>
              <a:spcBef>
                <a:spcPts val="0"/>
              </a:spcBef>
              <a:spcAft>
                <a:spcPts val="0"/>
              </a:spcAft>
            </a:pPr>
            <a:r>
              <a:rPr sz="1630" b="0">
                <a:solidFill>
                  <a:srgbClr val="F3EDFF"/>
                </a:solidFill>
                <a:latin typeface="Consolas"/>
              </a:rPr>
              <a:t>def timed(</a:t>
            </a:r>
          </a:p>
          <a:p>
            <a:pPr algn="l">
              <a:lnSpc>
                <a:spcPct val="118000"/>
              </a:lnSpc>
              <a:spcBef>
                <a:spcPts val="0"/>
              </a:spcBef>
              <a:spcAft>
                <a:spcPts val="0"/>
              </a:spcAft>
            </a:pPr>
            <a:r>
              <a:rPr sz="1630" b="0">
                <a:solidFill>
                  <a:srgbClr val="F3EDFF"/>
                </a:solidFill>
                <a:latin typeface="Consolas"/>
              </a:rPr>
              <a:t>    fn: Callable[P, R]</a:t>
            </a:r>
          </a:p>
          <a:p>
            <a:pPr algn="l">
              <a:lnSpc>
                <a:spcPct val="118000"/>
              </a:lnSpc>
              <a:spcBef>
                <a:spcPts val="0"/>
              </a:spcBef>
              <a:spcAft>
                <a:spcPts val="0"/>
              </a:spcAft>
            </a:pPr>
            <a:r>
              <a:rPr sz="1630" b="0">
                <a:solidFill>
                  <a:srgbClr val="F3EDFF"/>
                </a:solidFill>
                <a:latin typeface="Consolas"/>
              </a:rPr>
              <a:t>) -&gt; Callable[P, R]: ...</a:t>
            </a:r>
          </a:p>
          <a:p>
            <a:pPr algn="l">
              <a:lnSpc>
                <a:spcPct val="118000"/>
              </a:lnSpc>
              <a:spcBef>
                <a:spcPts val="0"/>
              </a:spcBef>
              <a:spcAft>
                <a:spcPts val="0"/>
              </a:spcAft>
            </a:pPr>
            <a:r>
              <a:rPr sz="1630" b="0">
                <a:solidFill>
                  <a:srgbClr val="F3EDFF"/>
                </a:solidFill>
                <a:latin typeface="Consolas"/>
              </a:rPr>
              <a:t># P = ParamSpec; R = TypeVar</a:t>
            </a:r>
          </a:p>
        </p:txBody>
      </p:sp>
      <p:sp>
        <p:nvSpPr>
          <p:cNvPr id="26" name="Rounded Rectangle 25"/>
          <p:cNvSpPr/>
          <p:nvPr/>
        </p:nvSpPr>
        <p:spPr>
          <a:xfrm>
            <a:off x="603504" y="3968496"/>
            <a:ext cx="3557016" cy="127101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68096" y="4105656"/>
            <a:ext cx="3227832" cy="365760"/>
          </a:xfrm>
          <a:prstGeom prst="rect">
            <a:avLst/>
          </a:prstGeom>
          <a:noFill/>
        </p:spPr>
        <p:txBody>
          <a:bodyPr wrap="square" lIns="0" tIns="0" rIns="0" bIns="0" anchor="t">
            <a:noAutofit/>
          </a:bodyPr>
          <a:lstStyle/>
          <a:p>
            <a:pPr algn="l">
              <a:lnSpc>
                <a:spcPct val="110000"/>
              </a:lnSpc>
              <a:spcBef>
                <a:spcPts val="0"/>
              </a:spcBef>
              <a:spcAft>
                <a:spcPts val="0"/>
              </a:spcAft>
            </a:pPr>
            <a:r>
              <a:rPr sz="2000" b="1">
                <a:solidFill>
                  <a:srgbClr val="7450DF"/>
                </a:solidFill>
                <a:latin typeface="Arial"/>
              </a:rPr>
              <a:t>Static checking</a:t>
            </a:r>
          </a:p>
        </p:txBody>
      </p:sp>
      <p:sp>
        <p:nvSpPr>
          <p:cNvPr id="28" name="TextBox 27"/>
          <p:cNvSpPr txBox="1"/>
          <p:nvPr/>
        </p:nvSpPr>
        <p:spPr>
          <a:xfrm>
            <a:off x="768096" y="4553712"/>
            <a:ext cx="3227832" cy="630936"/>
          </a:xfrm>
          <a:prstGeom prst="rect">
            <a:avLst/>
          </a:prstGeom>
          <a:noFill/>
        </p:spPr>
        <p:txBody>
          <a:bodyPr wrap="square" lIns="0" tIns="0" rIns="0" bIns="0" anchor="t">
            <a:noAutofit/>
          </a:bodyPr>
          <a:lstStyle/>
          <a:p>
            <a:pPr algn="l">
              <a:lnSpc>
                <a:spcPct val="110000"/>
              </a:lnSpc>
              <a:spcBef>
                <a:spcPts val="0"/>
              </a:spcBef>
              <a:spcAft>
                <a:spcPts val="0"/>
              </a:spcAft>
            </a:pPr>
            <a:r>
              <a:rPr sz="1770" b="0">
                <a:solidFill>
                  <a:srgbClr val="50576D"/>
                </a:solidFill>
                <a:latin typeface="Arial"/>
              </a:rPr>
              <a:t>Mypy: 7 core modules</a:t>
            </a:r>
          </a:p>
        </p:txBody>
      </p:sp>
      <p:sp>
        <p:nvSpPr>
          <p:cNvPr id="29" name="Rounded Rectangle 28"/>
          <p:cNvSpPr/>
          <p:nvPr/>
        </p:nvSpPr>
        <p:spPr>
          <a:xfrm>
            <a:off x="4343400" y="3968496"/>
            <a:ext cx="3557016" cy="1271016"/>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07992" y="4105656"/>
            <a:ext cx="3227832" cy="365760"/>
          </a:xfrm>
          <a:prstGeom prst="rect">
            <a:avLst/>
          </a:prstGeom>
          <a:noFill/>
        </p:spPr>
        <p:txBody>
          <a:bodyPr wrap="square" lIns="0" tIns="0" rIns="0" bIns="0" anchor="t">
            <a:noAutofit/>
          </a:bodyPr>
          <a:lstStyle/>
          <a:p>
            <a:pPr algn="l">
              <a:lnSpc>
                <a:spcPct val="110000"/>
              </a:lnSpc>
              <a:spcBef>
                <a:spcPts val="0"/>
              </a:spcBef>
              <a:spcAft>
                <a:spcPts val="0"/>
              </a:spcAft>
            </a:pPr>
            <a:r>
              <a:rPr sz="2000" b="1">
                <a:solidFill>
                  <a:srgbClr val="389778"/>
                </a:solidFill>
                <a:latin typeface="Arial"/>
              </a:rPr>
              <a:t>Runtime validation</a:t>
            </a:r>
          </a:p>
        </p:txBody>
      </p:sp>
      <p:sp>
        <p:nvSpPr>
          <p:cNvPr id="31" name="TextBox 30"/>
          <p:cNvSpPr txBox="1"/>
          <p:nvPr/>
        </p:nvSpPr>
        <p:spPr>
          <a:xfrm>
            <a:off x="4507992" y="4553712"/>
            <a:ext cx="3227832" cy="630936"/>
          </a:xfrm>
          <a:prstGeom prst="rect">
            <a:avLst/>
          </a:prstGeom>
          <a:noFill/>
        </p:spPr>
        <p:txBody>
          <a:bodyPr wrap="square" lIns="0" tIns="0" rIns="0" bIns="0" anchor="t">
            <a:noAutofit/>
          </a:bodyPr>
          <a:lstStyle/>
          <a:p>
            <a:pPr algn="l">
              <a:lnSpc>
                <a:spcPct val="110000"/>
              </a:lnSpc>
              <a:spcBef>
                <a:spcPts val="0"/>
              </a:spcBef>
              <a:spcAft>
                <a:spcPts val="0"/>
              </a:spcAft>
            </a:pPr>
            <a:r>
              <a:rPr sz="1770" b="0">
                <a:solidFill>
                  <a:srgbClr val="50576D"/>
                </a:solidFill>
                <a:latin typeface="Arial"/>
              </a:rPr>
              <a:t>Pydantic + service invariants</a:t>
            </a:r>
          </a:p>
        </p:txBody>
      </p:sp>
      <p:sp>
        <p:nvSpPr>
          <p:cNvPr id="32" name="Rounded Rectangle 31"/>
          <p:cNvSpPr/>
          <p:nvPr/>
        </p:nvSpPr>
        <p:spPr>
          <a:xfrm>
            <a:off x="8083296" y="3968496"/>
            <a:ext cx="3557016" cy="1271016"/>
          </a:xfrm>
          <a:prstGeom prst="roundRect">
            <a:avLst>
              <a:gd name="adj" fmla="val 14000"/>
            </a:avLst>
          </a:prstGeom>
          <a:solidFill>
            <a:srgbClr val="EDF4FA"/>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47888" y="4105656"/>
            <a:ext cx="3227832" cy="365760"/>
          </a:xfrm>
          <a:prstGeom prst="rect">
            <a:avLst/>
          </a:prstGeom>
          <a:noFill/>
        </p:spPr>
        <p:txBody>
          <a:bodyPr wrap="square" lIns="0" tIns="0" rIns="0" bIns="0" anchor="t">
            <a:noAutofit/>
          </a:bodyPr>
          <a:lstStyle/>
          <a:p>
            <a:pPr algn="l">
              <a:lnSpc>
                <a:spcPct val="110000"/>
              </a:lnSpc>
              <a:spcBef>
                <a:spcPts val="0"/>
              </a:spcBef>
              <a:spcAft>
                <a:spcPts val="0"/>
              </a:spcAft>
            </a:pPr>
            <a:r>
              <a:rPr sz="2000" b="1">
                <a:solidFill>
                  <a:srgbClr val="4D85AE"/>
                </a:solidFill>
                <a:latin typeface="Arial"/>
              </a:rPr>
              <a:t>Immutable values</a:t>
            </a:r>
          </a:p>
        </p:txBody>
      </p:sp>
      <p:sp>
        <p:nvSpPr>
          <p:cNvPr id="34" name="TextBox 33"/>
          <p:cNvSpPr txBox="1"/>
          <p:nvPr/>
        </p:nvSpPr>
        <p:spPr>
          <a:xfrm>
            <a:off x="8247888" y="4553712"/>
            <a:ext cx="3227832" cy="630936"/>
          </a:xfrm>
          <a:prstGeom prst="rect">
            <a:avLst/>
          </a:prstGeom>
          <a:noFill/>
        </p:spPr>
        <p:txBody>
          <a:bodyPr wrap="square" lIns="0" tIns="0" rIns="0" bIns="0" anchor="t">
            <a:noAutofit/>
          </a:bodyPr>
          <a:lstStyle/>
          <a:p>
            <a:pPr algn="l">
              <a:lnSpc>
                <a:spcPct val="110000"/>
              </a:lnSpc>
              <a:spcBef>
                <a:spcPts val="0"/>
              </a:spcBef>
              <a:spcAft>
                <a:spcPts val="0"/>
              </a:spcAft>
            </a:pPr>
            <a:r>
              <a:rPr sz="1770" b="0">
                <a:solidFill>
                  <a:srgbClr val="50576D"/>
                </a:solidFill>
                <a:latin typeface="Arial"/>
              </a:rPr>
              <a:t>Frozen Edge / RouteResult</a:t>
            </a:r>
          </a:p>
        </p:txBody>
      </p:sp>
      <p:sp>
        <p:nvSpPr>
          <p:cNvPr id="35" name="TextBox 34"/>
          <p:cNvSpPr txBox="1"/>
          <p:nvPr/>
        </p:nvSpPr>
        <p:spPr>
          <a:xfrm>
            <a:off x="758952" y="5522976"/>
            <a:ext cx="10735056" cy="219456"/>
          </a:xfrm>
          <a:prstGeom prst="rect">
            <a:avLst/>
          </a:prstGeom>
          <a:noFill/>
        </p:spPr>
        <p:txBody>
          <a:bodyPr wrap="square" lIns="0" tIns="0" rIns="0" bIns="0" anchor="t">
            <a:noAutofit/>
          </a:bodyPr>
          <a:lstStyle/>
          <a:p>
            <a:pPr algn="ctr">
              <a:lnSpc>
                <a:spcPct val="110000"/>
              </a:lnSpc>
              <a:spcBef>
                <a:spcPts val="0"/>
              </a:spcBef>
              <a:spcAft>
                <a:spcPts val="0"/>
              </a:spcAft>
            </a:pPr>
            <a:r>
              <a:rPr sz="1580" b="1">
                <a:solidFill>
                  <a:srgbClr val="7F869A"/>
                </a:solidFill>
                <a:latin typeface="Arial"/>
              </a:rPr>
              <a:t>Typed boundaries: UI / API → schemas → services → models / pure algorithms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FUNCTIONAL PROGRAMMING / PURE AND HIGHER-ORDER FUNCTIONS</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Functional design: separate values from effects</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Use pure calculations and higher-order functions; isolate database and payment effects.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fare_quote, sort, allocation and route functions are testable values; services own state transitions.</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algorithms.py • FarePolicy • services.py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18 / 35</a:t>
            </a:r>
          </a:p>
        </p:txBody>
      </p:sp>
      <p:sp>
        <p:nvSpPr>
          <p:cNvPr id="20" name="Rounded Rectangle 19"/>
          <p:cNvSpPr/>
          <p:nvPr/>
        </p:nvSpPr>
        <p:spPr>
          <a:xfrm>
            <a:off x="649224" y="2121408"/>
            <a:ext cx="3099816" cy="1444752"/>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3815" y="2258568"/>
            <a:ext cx="2770632" cy="365760"/>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Input values</a:t>
            </a:r>
          </a:p>
        </p:txBody>
      </p:sp>
      <p:sp>
        <p:nvSpPr>
          <p:cNvPr id="22" name="TextBox 21"/>
          <p:cNvSpPr txBox="1"/>
          <p:nvPr/>
        </p:nvSpPr>
        <p:spPr>
          <a:xfrm>
            <a:off x="813815" y="2706624"/>
            <a:ext cx="2770632" cy="804672"/>
          </a:xfrm>
          <a:prstGeom prst="rect">
            <a:avLst/>
          </a:prstGeom>
          <a:noFill/>
        </p:spPr>
        <p:txBody>
          <a:bodyPr wrap="square" lIns="0" tIns="0" rIns="0" bIns="0" anchor="t">
            <a:noAutofit/>
          </a:bodyPr>
          <a:lstStyle/>
          <a:p>
            <a:pPr algn="l">
              <a:lnSpc>
                <a:spcPct val="110000"/>
              </a:lnSpc>
              <a:spcBef>
                <a:spcPts val="0"/>
              </a:spcBef>
              <a:spcAft>
                <a:spcPts val="0"/>
              </a:spcAft>
            </a:pPr>
            <a:r>
              <a:rPr sz="2000" b="0">
                <a:solidFill>
                  <a:srgbClr val="50576D"/>
                </a:solidFill>
                <a:latin typeface="Arial"/>
              </a:rPr>
              <a:t>base = 595</a:t>
            </a:r>
          </a:p>
          <a:p>
            <a:pPr algn="l">
              <a:lnSpc>
                <a:spcPct val="110000"/>
              </a:lnSpc>
              <a:spcBef>
                <a:spcPts val="0"/>
              </a:spcBef>
              <a:spcAft>
                <a:spcPts val="0"/>
              </a:spcAft>
            </a:pPr>
            <a:r>
              <a:rPr sz="2000" b="0">
                <a:solidFill>
                  <a:srgbClr val="50576D"/>
                </a:solidFill>
                <a:latin typeface="Arial"/>
              </a:rPr>
              <a:t>class = CC, people = 2</a:t>
            </a:r>
          </a:p>
        </p:txBody>
      </p:sp>
      <p:cxnSp>
        <p:nvCxnSpPr>
          <p:cNvPr id="23" name="Connector 22"/>
          <p:cNvCxnSpPr/>
          <p:nvPr/>
        </p:nvCxnSpPr>
        <p:spPr>
          <a:xfrm>
            <a:off x="3886200" y="2852928"/>
            <a:ext cx="576072"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617720" y="2468880"/>
            <a:ext cx="3008376" cy="749808"/>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617720" y="2651760"/>
            <a:ext cx="3008376" cy="365760"/>
          </a:xfrm>
          <a:prstGeom prst="rect">
            <a:avLst/>
          </a:prstGeom>
          <a:noFill/>
        </p:spPr>
        <p:txBody>
          <a:bodyPr wrap="square" lIns="0" tIns="0" rIns="0" bIns="0" anchor="t">
            <a:noAutofit/>
          </a:bodyPr>
          <a:lstStyle/>
          <a:p>
            <a:pPr algn="ctr">
              <a:lnSpc>
                <a:spcPct val="110000"/>
              </a:lnSpc>
              <a:spcBef>
                <a:spcPts val="0"/>
              </a:spcBef>
              <a:spcAft>
                <a:spcPts val="0"/>
              </a:spcAft>
            </a:pPr>
            <a:r>
              <a:rPr sz="2500" b="1">
                <a:solidFill>
                  <a:srgbClr val="FFFFFF"/>
                </a:solidFill>
                <a:latin typeface="Arial"/>
              </a:rPr>
              <a:t>fare_quote()</a:t>
            </a:r>
          </a:p>
        </p:txBody>
      </p:sp>
      <p:cxnSp>
        <p:nvCxnSpPr>
          <p:cNvPr id="26" name="Connector 25"/>
          <p:cNvCxnSpPr/>
          <p:nvPr/>
        </p:nvCxnSpPr>
        <p:spPr>
          <a:xfrm>
            <a:off x="7735824" y="2852928"/>
            <a:ext cx="521207"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412480" y="2121408"/>
            <a:ext cx="3108960" cy="1444752"/>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577072" y="2258568"/>
            <a:ext cx="2779776" cy="365760"/>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389778"/>
                </a:solidFill>
                <a:latin typeface="Arial"/>
              </a:rPr>
              <a:t>Output value</a:t>
            </a:r>
          </a:p>
        </p:txBody>
      </p:sp>
      <p:sp>
        <p:nvSpPr>
          <p:cNvPr id="29" name="TextBox 28"/>
          <p:cNvSpPr txBox="1"/>
          <p:nvPr/>
        </p:nvSpPr>
        <p:spPr>
          <a:xfrm>
            <a:off x="8577072" y="2706624"/>
            <a:ext cx="2779776" cy="804672"/>
          </a:xfrm>
          <a:prstGeom prst="rect">
            <a:avLst/>
          </a:prstGeom>
          <a:noFill/>
        </p:spPr>
        <p:txBody>
          <a:bodyPr wrap="square" lIns="0" tIns="0" rIns="0" bIns="0" anchor="t">
            <a:noAutofit/>
          </a:bodyPr>
          <a:lstStyle/>
          <a:p>
            <a:pPr algn="l">
              <a:lnSpc>
                <a:spcPct val="110000"/>
              </a:lnSpc>
              <a:spcBef>
                <a:spcPts val="0"/>
              </a:spcBef>
              <a:spcAft>
                <a:spcPts val="0"/>
              </a:spcAft>
            </a:pPr>
            <a:r>
              <a:rPr sz="2000" b="0">
                <a:solidFill>
                  <a:srgbClr val="50576D"/>
                </a:solidFill>
                <a:latin typeface="Arial"/>
              </a:rPr>
              <a:t>subtotal 1,190 + fee 40</a:t>
            </a:r>
          </a:p>
          <a:p>
            <a:pPr algn="l">
              <a:lnSpc>
                <a:spcPct val="110000"/>
              </a:lnSpc>
              <a:spcBef>
                <a:spcPts val="0"/>
              </a:spcBef>
              <a:spcAft>
                <a:spcPts val="0"/>
              </a:spcAft>
            </a:pPr>
            <a:r>
              <a:rPr sz="2000" b="0">
                <a:solidFill>
                  <a:srgbClr val="50576D"/>
                </a:solidFill>
                <a:latin typeface="Arial"/>
              </a:rPr>
              <a:t>TOTAL 1,230</a:t>
            </a:r>
          </a:p>
        </p:txBody>
      </p:sp>
      <p:sp>
        <p:nvSpPr>
          <p:cNvPr id="30" name="Rounded Rectangle 29"/>
          <p:cNvSpPr/>
          <p:nvPr/>
        </p:nvSpPr>
        <p:spPr>
          <a:xfrm>
            <a:off x="649224" y="3931920"/>
            <a:ext cx="6135624" cy="1417320"/>
          </a:xfrm>
          <a:prstGeom prst="roundRect">
            <a:avLst>
              <a:gd name="adj" fmla="val 14000"/>
            </a:avLst>
          </a:prstGeom>
          <a:solidFill>
            <a:srgbClr val="26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04672" y="4050791"/>
            <a:ext cx="5824728" cy="237744"/>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BBA9EF"/>
                </a:solidFill>
                <a:latin typeface="Arial"/>
              </a:rPr>
              <a:t>HIGHER-ORDER KEY FUNCTION</a:t>
            </a:r>
          </a:p>
        </p:txBody>
      </p:sp>
      <p:sp>
        <p:nvSpPr>
          <p:cNvPr id="32" name="TextBox 31"/>
          <p:cNvSpPr txBox="1"/>
          <p:nvPr/>
        </p:nvSpPr>
        <p:spPr>
          <a:xfrm>
            <a:off x="813815" y="4416552"/>
            <a:ext cx="5806440" cy="841248"/>
          </a:xfrm>
          <a:prstGeom prst="rect">
            <a:avLst/>
          </a:prstGeom>
          <a:noFill/>
        </p:spPr>
        <p:txBody>
          <a:bodyPr wrap="square" lIns="0" tIns="0" rIns="0" bIns="0" anchor="t">
            <a:noAutofit/>
          </a:bodyPr>
          <a:lstStyle/>
          <a:p>
            <a:pPr algn="l">
              <a:lnSpc>
                <a:spcPct val="118000"/>
              </a:lnSpc>
              <a:spcBef>
                <a:spcPts val="0"/>
              </a:spcBef>
              <a:spcAft>
                <a:spcPts val="0"/>
              </a:spcAft>
            </a:pPr>
            <a:r>
              <a:rPr sz="1730" b="0">
                <a:solidFill>
                  <a:srgbClr val="F3EDFF"/>
                </a:solidFill>
                <a:latin typeface="Consolas"/>
              </a:rPr>
              <a:t>ranked = merge_sort(</a:t>
            </a:r>
          </a:p>
          <a:p>
            <a:pPr algn="l">
              <a:lnSpc>
                <a:spcPct val="118000"/>
              </a:lnSpc>
              <a:spcBef>
                <a:spcPts val="0"/>
              </a:spcBef>
              <a:spcAft>
                <a:spcPts val="0"/>
              </a:spcAft>
            </a:pPr>
            <a:r>
              <a:rPr sz="1730" b="0">
                <a:solidFill>
                  <a:srgbClr val="F3EDFF"/>
                </a:solidFill>
                <a:latin typeface="Consolas"/>
              </a:rPr>
              <a:t>    trains, key=lambda t: t["fare"])</a:t>
            </a:r>
          </a:p>
        </p:txBody>
      </p:sp>
      <p:sp>
        <p:nvSpPr>
          <p:cNvPr id="33" name="Rounded Rectangle 32"/>
          <p:cNvSpPr/>
          <p:nvPr/>
        </p:nvSpPr>
        <p:spPr>
          <a:xfrm>
            <a:off x="7068312" y="3931920"/>
            <a:ext cx="4453128" cy="1417320"/>
          </a:xfrm>
          <a:prstGeom prst="roundRect">
            <a:avLst>
              <a:gd name="adj" fmla="val 14000"/>
            </a:avLst>
          </a:prstGeom>
          <a:solidFill>
            <a:srgbClr val="FB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214616" y="4032504"/>
            <a:ext cx="4160520" cy="256032"/>
          </a:xfrm>
          <a:prstGeom prst="rect">
            <a:avLst/>
          </a:prstGeom>
          <a:noFill/>
        </p:spPr>
        <p:txBody>
          <a:bodyPr wrap="square" lIns="0" tIns="0" rIns="0" bIns="0" anchor="t">
            <a:noAutofit/>
          </a:bodyPr>
          <a:lstStyle/>
          <a:p>
            <a:pPr algn="l">
              <a:lnSpc>
                <a:spcPct val="110000"/>
              </a:lnSpc>
              <a:spcBef>
                <a:spcPts val="0"/>
              </a:spcBef>
              <a:spcAft>
                <a:spcPts val="0"/>
              </a:spcAft>
            </a:pPr>
            <a:r>
              <a:rPr sz="1939" b="1">
                <a:solidFill>
                  <a:srgbClr val="B97D38"/>
                </a:solidFill>
                <a:latin typeface="Arial"/>
              </a:rPr>
              <a:t>Effects stay in services</a:t>
            </a:r>
          </a:p>
        </p:txBody>
      </p:sp>
      <p:sp>
        <p:nvSpPr>
          <p:cNvPr id="35" name="TextBox 34"/>
          <p:cNvSpPr txBox="1"/>
          <p:nvPr/>
        </p:nvSpPr>
        <p:spPr>
          <a:xfrm>
            <a:off x="7214616" y="4416552"/>
            <a:ext cx="4160520" cy="859536"/>
          </a:xfrm>
          <a:prstGeom prst="rect">
            <a:avLst/>
          </a:prstGeom>
          <a:noFill/>
        </p:spPr>
        <p:txBody>
          <a:bodyPr wrap="square" lIns="0" tIns="0" rIns="0" bIns="0" anchor="t">
            <a:noAutofit/>
          </a:bodyPr>
          <a:lstStyle/>
          <a:p>
            <a:pPr algn="l">
              <a:lnSpc>
                <a:spcPct val="110000"/>
              </a:lnSpc>
              <a:spcBef>
                <a:spcPts val="0"/>
              </a:spcBef>
              <a:spcAft>
                <a:spcPts val="0"/>
              </a:spcAft>
            </a:pPr>
            <a:r>
              <a:rPr sz="1730" b="0">
                <a:solidFill>
                  <a:srgbClr val="50576D"/>
                </a:solidFill>
                <a:latin typeface="Arial"/>
              </a:rPr>
              <a:t>Persist booking + seats + audit.</a:t>
            </a:r>
          </a:p>
          <a:p>
            <a:pPr algn="l">
              <a:lnSpc>
                <a:spcPct val="110000"/>
              </a:lnSpc>
              <a:spcBef>
                <a:spcPts val="0"/>
              </a:spcBef>
              <a:spcAft>
                <a:spcPts val="0"/>
              </a:spcAft>
            </a:pPr>
            <a:r>
              <a:rPr sz="1730" b="0">
                <a:solidFill>
                  <a:srgbClr val="50576D"/>
                </a:solidFill>
                <a:latin typeface="Arial"/>
              </a:rPr>
              <a:t>Simulated payment is not a pure calculation.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CONCURRENCY / THREADS, PROCESSES, ASYNC AND GIL</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Concurrency: select by workload</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Threads overlap blocking I/O; async coordinates tasks; processes run pure Python CPU work.</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DB calls use run.io_bound; dashboard reads use asyncio.gather; algorithm lab uses run.cpu_bound.</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web.py • admin_ui.py • lab_ui.py • main.py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19 / 35</a:t>
            </a:r>
          </a:p>
        </p:txBody>
      </p:sp>
      <p:sp>
        <p:nvSpPr>
          <p:cNvPr id="20" name="Rounded Rectangle 19"/>
          <p:cNvSpPr/>
          <p:nvPr/>
        </p:nvSpPr>
        <p:spPr>
          <a:xfrm>
            <a:off x="603504" y="2002536"/>
            <a:ext cx="3529584" cy="2688336"/>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039112" y="2231136"/>
            <a:ext cx="612648" cy="612648"/>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039112" y="2267712"/>
            <a:ext cx="612648" cy="566928"/>
          </a:xfrm>
          <a:prstGeom prst="rect">
            <a:avLst/>
          </a:prstGeom>
          <a:noFill/>
        </p:spPr>
        <p:txBody>
          <a:bodyPr wrap="square" lIns="0" tIns="0" rIns="0" bIns="0" anchor="ctr">
            <a:noAutofit/>
          </a:bodyPr>
          <a:lstStyle/>
          <a:p>
            <a:pPr algn="ctr">
              <a:lnSpc>
                <a:spcPct val="110000"/>
              </a:lnSpc>
              <a:spcBef>
                <a:spcPts val="0"/>
              </a:spcBef>
              <a:spcAft>
                <a:spcPts val="0"/>
              </a:spcAft>
            </a:pPr>
            <a:r>
              <a:rPr sz="1550" b="1">
                <a:solidFill>
                  <a:srgbClr val="FFFFFF"/>
                </a:solidFill>
                <a:latin typeface="Arial"/>
              </a:rPr>
              <a:t>I/O</a:t>
            </a:r>
          </a:p>
        </p:txBody>
      </p:sp>
      <p:sp>
        <p:nvSpPr>
          <p:cNvPr id="23" name="TextBox 22"/>
          <p:cNvSpPr txBox="1"/>
          <p:nvPr/>
        </p:nvSpPr>
        <p:spPr>
          <a:xfrm>
            <a:off x="768096" y="3072384"/>
            <a:ext cx="3200400" cy="347472"/>
          </a:xfrm>
          <a:prstGeom prst="rect">
            <a:avLst/>
          </a:prstGeom>
          <a:noFill/>
        </p:spPr>
        <p:txBody>
          <a:bodyPr wrap="square" lIns="0" tIns="0" rIns="0" bIns="0" anchor="t">
            <a:noAutofit/>
          </a:bodyPr>
          <a:lstStyle/>
          <a:p>
            <a:pPr algn="ctr">
              <a:lnSpc>
                <a:spcPct val="110000"/>
              </a:lnSpc>
              <a:spcBef>
                <a:spcPts val="0"/>
              </a:spcBef>
              <a:spcAft>
                <a:spcPts val="0"/>
              </a:spcAft>
            </a:pPr>
            <a:r>
              <a:rPr sz="2230" b="1">
                <a:solidFill>
                  <a:srgbClr val="7450DF"/>
                </a:solidFill>
                <a:latin typeface="Arial"/>
              </a:rPr>
              <a:t>THREADS</a:t>
            </a:r>
          </a:p>
        </p:txBody>
      </p:sp>
      <p:sp>
        <p:nvSpPr>
          <p:cNvPr id="24" name="TextBox 23"/>
          <p:cNvSpPr txBox="1"/>
          <p:nvPr/>
        </p:nvSpPr>
        <p:spPr>
          <a:xfrm>
            <a:off x="841248" y="3621024"/>
            <a:ext cx="3054096" cy="557784"/>
          </a:xfrm>
          <a:prstGeom prst="rect">
            <a:avLst/>
          </a:prstGeom>
          <a:noFill/>
        </p:spPr>
        <p:txBody>
          <a:bodyPr wrap="square" lIns="0" tIns="0" rIns="0" bIns="0" anchor="t">
            <a:noAutofit/>
          </a:bodyPr>
          <a:lstStyle/>
          <a:p>
            <a:pPr algn="ctr">
              <a:lnSpc>
                <a:spcPct val="110000"/>
              </a:lnSpc>
              <a:spcBef>
                <a:spcPts val="0"/>
              </a:spcBef>
              <a:spcAft>
                <a:spcPts val="0"/>
              </a:spcAft>
            </a:pPr>
            <a:r>
              <a:rPr sz="1910" b="0">
                <a:solidFill>
                  <a:srgbClr val="50576D"/>
                </a:solidFill>
                <a:latin typeface="Arial"/>
              </a:rPr>
              <a:t>Blocking DB / service I/O</a:t>
            </a:r>
          </a:p>
        </p:txBody>
      </p:sp>
      <p:sp>
        <p:nvSpPr>
          <p:cNvPr id="25" name="TextBox 24"/>
          <p:cNvSpPr txBox="1"/>
          <p:nvPr/>
        </p:nvSpPr>
        <p:spPr>
          <a:xfrm>
            <a:off x="768096" y="4361688"/>
            <a:ext cx="3200400" cy="246888"/>
          </a:xfrm>
          <a:prstGeom prst="rect">
            <a:avLst/>
          </a:prstGeom>
          <a:noFill/>
        </p:spPr>
        <p:txBody>
          <a:bodyPr wrap="square" lIns="0" tIns="0" rIns="0" bIns="0" anchor="t">
            <a:noAutofit/>
          </a:bodyPr>
          <a:lstStyle/>
          <a:p>
            <a:pPr algn="ctr">
              <a:lnSpc>
                <a:spcPct val="110000"/>
              </a:lnSpc>
              <a:spcBef>
                <a:spcPts val="0"/>
              </a:spcBef>
              <a:spcAft>
                <a:spcPts val="0"/>
              </a:spcAft>
            </a:pPr>
            <a:r>
              <a:rPr sz="1580" b="0">
                <a:solidFill>
                  <a:srgbClr val="7450DF"/>
                </a:solidFill>
                <a:latin typeface="Consolas"/>
              </a:rPr>
              <a:t>run.io_bound(...)</a:t>
            </a:r>
          </a:p>
        </p:txBody>
      </p:sp>
      <p:sp>
        <p:nvSpPr>
          <p:cNvPr id="26" name="Rounded Rectangle 25"/>
          <p:cNvSpPr/>
          <p:nvPr/>
        </p:nvSpPr>
        <p:spPr>
          <a:xfrm>
            <a:off x="4343400" y="2002536"/>
            <a:ext cx="3529584" cy="2688336"/>
          </a:xfrm>
          <a:prstGeom prst="roundRect">
            <a:avLst>
              <a:gd name="adj" fmla="val 14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5779008" y="2231136"/>
            <a:ext cx="612648" cy="612648"/>
          </a:xfrm>
          <a:prstGeom prst="ellipse">
            <a:avLst/>
          </a:prstGeom>
          <a:solidFill>
            <a:srgbClr val="4D85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779008" y="2267712"/>
            <a:ext cx="612648" cy="566928"/>
          </a:xfrm>
          <a:prstGeom prst="rect">
            <a:avLst/>
          </a:prstGeom>
          <a:noFill/>
        </p:spPr>
        <p:txBody>
          <a:bodyPr wrap="square" lIns="0" tIns="0" rIns="0" bIns="0" anchor="ctr">
            <a:noAutofit/>
          </a:bodyPr>
          <a:lstStyle/>
          <a:p>
            <a:pPr algn="ctr">
              <a:lnSpc>
                <a:spcPct val="110000"/>
              </a:lnSpc>
              <a:spcBef>
                <a:spcPts val="0"/>
              </a:spcBef>
              <a:spcAft>
                <a:spcPts val="0"/>
              </a:spcAft>
            </a:pPr>
            <a:r>
              <a:rPr sz="1160" b="1">
                <a:solidFill>
                  <a:srgbClr val="FFFFFF"/>
                </a:solidFill>
                <a:latin typeface="Arial"/>
              </a:rPr>
              <a:t>AWAIT</a:t>
            </a:r>
          </a:p>
        </p:txBody>
      </p:sp>
      <p:sp>
        <p:nvSpPr>
          <p:cNvPr id="29" name="TextBox 28"/>
          <p:cNvSpPr txBox="1"/>
          <p:nvPr/>
        </p:nvSpPr>
        <p:spPr>
          <a:xfrm>
            <a:off x="4507992" y="3072384"/>
            <a:ext cx="3200400" cy="347472"/>
          </a:xfrm>
          <a:prstGeom prst="rect">
            <a:avLst/>
          </a:prstGeom>
          <a:noFill/>
        </p:spPr>
        <p:txBody>
          <a:bodyPr wrap="square" lIns="0" tIns="0" rIns="0" bIns="0" anchor="t">
            <a:noAutofit/>
          </a:bodyPr>
          <a:lstStyle/>
          <a:p>
            <a:pPr algn="ctr">
              <a:lnSpc>
                <a:spcPct val="110000"/>
              </a:lnSpc>
              <a:spcBef>
                <a:spcPts val="0"/>
              </a:spcBef>
              <a:spcAft>
                <a:spcPts val="0"/>
              </a:spcAft>
            </a:pPr>
            <a:r>
              <a:rPr sz="2230" b="1">
                <a:solidFill>
                  <a:srgbClr val="4D85AE"/>
                </a:solidFill>
                <a:latin typeface="Arial"/>
              </a:rPr>
              <a:t>ASYNC</a:t>
            </a:r>
          </a:p>
        </p:txBody>
      </p:sp>
      <p:sp>
        <p:nvSpPr>
          <p:cNvPr id="30" name="TextBox 29"/>
          <p:cNvSpPr txBox="1"/>
          <p:nvPr/>
        </p:nvSpPr>
        <p:spPr>
          <a:xfrm>
            <a:off x="4581144" y="3621024"/>
            <a:ext cx="3054096" cy="557784"/>
          </a:xfrm>
          <a:prstGeom prst="rect">
            <a:avLst/>
          </a:prstGeom>
          <a:noFill/>
        </p:spPr>
        <p:txBody>
          <a:bodyPr wrap="square" lIns="0" tIns="0" rIns="0" bIns="0" anchor="t">
            <a:noAutofit/>
          </a:bodyPr>
          <a:lstStyle/>
          <a:p>
            <a:pPr algn="ctr">
              <a:lnSpc>
                <a:spcPct val="110000"/>
              </a:lnSpc>
              <a:spcBef>
                <a:spcPts val="0"/>
              </a:spcBef>
              <a:spcAft>
                <a:spcPts val="0"/>
              </a:spcAft>
            </a:pPr>
            <a:r>
              <a:rPr sz="1910" b="0">
                <a:solidFill>
                  <a:srgbClr val="50576D"/>
                </a:solidFill>
                <a:latin typeface="Arial"/>
              </a:rPr>
              <a:t>Coordinate independent reads</a:t>
            </a:r>
          </a:p>
        </p:txBody>
      </p:sp>
      <p:sp>
        <p:nvSpPr>
          <p:cNvPr id="31" name="TextBox 30"/>
          <p:cNvSpPr txBox="1"/>
          <p:nvPr/>
        </p:nvSpPr>
        <p:spPr>
          <a:xfrm>
            <a:off x="4507992" y="4361688"/>
            <a:ext cx="3200400" cy="246888"/>
          </a:xfrm>
          <a:prstGeom prst="rect">
            <a:avLst/>
          </a:prstGeom>
          <a:noFill/>
        </p:spPr>
        <p:txBody>
          <a:bodyPr wrap="square" lIns="0" tIns="0" rIns="0" bIns="0" anchor="t">
            <a:noAutofit/>
          </a:bodyPr>
          <a:lstStyle/>
          <a:p>
            <a:pPr algn="ctr">
              <a:lnSpc>
                <a:spcPct val="110000"/>
              </a:lnSpc>
              <a:spcBef>
                <a:spcPts val="0"/>
              </a:spcBef>
              <a:spcAft>
                <a:spcPts val="0"/>
              </a:spcAft>
            </a:pPr>
            <a:r>
              <a:rPr sz="1580" b="0">
                <a:solidFill>
                  <a:srgbClr val="4D85AE"/>
                </a:solidFill>
                <a:latin typeface="Consolas"/>
              </a:rPr>
              <a:t>asyncio.gather(...)</a:t>
            </a:r>
          </a:p>
        </p:txBody>
      </p:sp>
      <p:sp>
        <p:nvSpPr>
          <p:cNvPr id="32" name="Rounded Rectangle 31"/>
          <p:cNvSpPr/>
          <p:nvPr/>
        </p:nvSpPr>
        <p:spPr>
          <a:xfrm>
            <a:off x="8083296" y="2002536"/>
            <a:ext cx="3529584" cy="2688336"/>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9518904" y="2231136"/>
            <a:ext cx="612648" cy="612648"/>
          </a:xfrm>
          <a:prstGeom prst="ellipse">
            <a:avLst/>
          </a:prstGeom>
          <a:solidFill>
            <a:srgbClr val="389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518904" y="2267712"/>
            <a:ext cx="612648" cy="566928"/>
          </a:xfrm>
          <a:prstGeom prst="rect">
            <a:avLst/>
          </a:prstGeom>
          <a:noFill/>
        </p:spPr>
        <p:txBody>
          <a:bodyPr wrap="square" lIns="0" tIns="0" rIns="0" bIns="0" anchor="ctr">
            <a:noAutofit/>
          </a:bodyPr>
          <a:lstStyle/>
          <a:p>
            <a:pPr algn="ctr">
              <a:lnSpc>
                <a:spcPct val="110000"/>
              </a:lnSpc>
              <a:spcBef>
                <a:spcPts val="0"/>
              </a:spcBef>
              <a:spcAft>
                <a:spcPts val="0"/>
              </a:spcAft>
            </a:pPr>
            <a:r>
              <a:rPr sz="1550" b="1">
                <a:solidFill>
                  <a:srgbClr val="FFFFFF"/>
                </a:solidFill>
                <a:latin typeface="Arial"/>
              </a:rPr>
              <a:t>CPU</a:t>
            </a:r>
          </a:p>
        </p:txBody>
      </p:sp>
      <p:sp>
        <p:nvSpPr>
          <p:cNvPr id="35" name="TextBox 34"/>
          <p:cNvSpPr txBox="1"/>
          <p:nvPr/>
        </p:nvSpPr>
        <p:spPr>
          <a:xfrm>
            <a:off x="8247888" y="3072384"/>
            <a:ext cx="3200400" cy="347472"/>
          </a:xfrm>
          <a:prstGeom prst="rect">
            <a:avLst/>
          </a:prstGeom>
          <a:noFill/>
        </p:spPr>
        <p:txBody>
          <a:bodyPr wrap="square" lIns="0" tIns="0" rIns="0" bIns="0" anchor="t">
            <a:noAutofit/>
          </a:bodyPr>
          <a:lstStyle/>
          <a:p>
            <a:pPr algn="ctr">
              <a:lnSpc>
                <a:spcPct val="110000"/>
              </a:lnSpc>
              <a:spcBef>
                <a:spcPts val="0"/>
              </a:spcBef>
              <a:spcAft>
                <a:spcPts val="0"/>
              </a:spcAft>
            </a:pPr>
            <a:r>
              <a:rPr sz="2230" b="1">
                <a:solidFill>
                  <a:srgbClr val="389778"/>
                </a:solidFill>
                <a:latin typeface="Arial"/>
              </a:rPr>
              <a:t>PROCESSES</a:t>
            </a:r>
          </a:p>
        </p:txBody>
      </p:sp>
      <p:sp>
        <p:nvSpPr>
          <p:cNvPr id="36" name="TextBox 35"/>
          <p:cNvSpPr txBox="1"/>
          <p:nvPr/>
        </p:nvSpPr>
        <p:spPr>
          <a:xfrm>
            <a:off x="8321040" y="3621024"/>
            <a:ext cx="3054096" cy="557784"/>
          </a:xfrm>
          <a:prstGeom prst="rect">
            <a:avLst/>
          </a:prstGeom>
          <a:noFill/>
        </p:spPr>
        <p:txBody>
          <a:bodyPr wrap="square" lIns="0" tIns="0" rIns="0" bIns="0" anchor="t">
            <a:noAutofit/>
          </a:bodyPr>
          <a:lstStyle/>
          <a:p>
            <a:pPr algn="ctr">
              <a:lnSpc>
                <a:spcPct val="110000"/>
              </a:lnSpc>
              <a:spcBef>
                <a:spcPts val="0"/>
              </a:spcBef>
              <a:spcAft>
                <a:spcPts val="0"/>
              </a:spcAft>
            </a:pPr>
            <a:r>
              <a:rPr sz="1910" b="0">
                <a:solidFill>
                  <a:srgbClr val="50576D"/>
                </a:solidFill>
                <a:latin typeface="Arial"/>
              </a:rPr>
              <a:t>Pure graph / CPU computation</a:t>
            </a:r>
          </a:p>
        </p:txBody>
      </p:sp>
      <p:sp>
        <p:nvSpPr>
          <p:cNvPr id="37" name="TextBox 36"/>
          <p:cNvSpPr txBox="1"/>
          <p:nvPr/>
        </p:nvSpPr>
        <p:spPr>
          <a:xfrm>
            <a:off x="8247888" y="4361688"/>
            <a:ext cx="3200400" cy="246888"/>
          </a:xfrm>
          <a:prstGeom prst="rect">
            <a:avLst/>
          </a:prstGeom>
          <a:noFill/>
        </p:spPr>
        <p:txBody>
          <a:bodyPr wrap="square" lIns="0" tIns="0" rIns="0" bIns="0" anchor="t">
            <a:noAutofit/>
          </a:bodyPr>
          <a:lstStyle/>
          <a:p>
            <a:pPr algn="ctr">
              <a:lnSpc>
                <a:spcPct val="110000"/>
              </a:lnSpc>
              <a:spcBef>
                <a:spcPts val="0"/>
              </a:spcBef>
              <a:spcAft>
                <a:spcPts val="0"/>
              </a:spcAft>
            </a:pPr>
            <a:r>
              <a:rPr sz="1580" b="0">
                <a:solidFill>
                  <a:srgbClr val="389778"/>
                </a:solidFill>
                <a:latin typeface="Consolas"/>
              </a:rPr>
              <a:t>run.cpu_bound(...)</a:t>
            </a:r>
          </a:p>
        </p:txBody>
      </p:sp>
      <p:sp>
        <p:nvSpPr>
          <p:cNvPr id="38" name="Rounded Rectangle 37"/>
          <p:cNvSpPr/>
          <p:nvPr/>
        </p:nvSpPr>
        <p:spPr>
          <a:xfrm>
            <a:off x="612648" y="4983480"/>
            <a:ext cx="10963656" cy="676656"/>
          </a:xfrm>
          <a:prstGeom prst="roundRect">
            <a:avLst>
              <a:gd name="adj" fmla="val 14000"/>
            </a:avLst>
          </a:prstGeom>
          <a:solidFill>
            <a:srgbClr val="FB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58952" y="5084064"/>
            <a:ext cx="10671048" cy="256032"/>
          </a:xfrm>
          <a:prstGeom prst="rect">
            <a:avLst/>
          </a:prstGeom>
          <a:noFill/>
        </p:spPr>
        <p:txBody>
          <a:bodyPr wrap="square" lIns="0" tIns="0" rIns="0" bIns="0" anchor="t">
            <a:noAutofit/>
          </a:bodyPr>
          <a:lstStyle/>
          <a:p>
            <a:pPr algn="l">
              <a:lnSpc>
                <a:spcPct val="110000"/>
              </a:lnSpc>
              <a:spcBef>
                <a:spcPts val="0"/>
              </a:spcBef>
              <a:spcAft>
                <a:spcPts val="0"/>
              </a:spcAft>
            </a:pPr>
            <a:r>
              <a:rPr sz="1670" b="1">
                <a:solidFill>
                  <a:srgbClr val="B97D38"/>
                </a:solidFill>
                <a:latin typeface="Arial"/>
              </a:rPr>
              <a:t>GIL insight</a:t>
            </a:r>
          </a:p>
        </p:txBody>
      </p:sp>
      <p:sp>
        <p:nvSpPr>
          <p:cNvPr id="40" name="TextBox 39"/>
          <p:cNvSpPr txBox="1"/>
          <p:nvPr/>
        </p:nvSpPr>
        <p:spPr>
          <a:xfrm>
            <a:off x="758952" y="5358384"/>
            <a:ext cx="10671048" cy="256031"/>
          </a:xfrm>
          <a:prstGeom prst="rect">
            <a:avLst/>
          </a:prstGeom>
          <a:noFill/>
        </p:spPr>
        <p:txBody>
          <a:bodyPr wrap="square" lIns="0" tIns="0" rIns="0" bIns="0" anchor="t">
            <a:noAutofit/>
          </a:bodyPr>
          <a:lstStyle/>
          <a:p>
            <a:pPr algn="l">
              <a:lnSpc>
                <a:spcPct val="110000"/>
              </a:lnSpc>
              <a:spcBef>
                <a:spcPts val="0"/>
              </a:spcBef>
              <a:spcAft>
                <a:spcPts val="0"/>
              </a:spcAft>
            </a:pPr>
            <a:r>
              <a:rPr sz="1600" b="0">
                <a:solidFill>
                  <a:srgbClr val="50576D"/>
                </a:solidFill>
                <a:latin typeface="Arial"/>
              </a:rPr>
              <a:t>Pure Python CPU loops → processes. Blocking I/O → threads. Async ≠ a lock on scarce seats.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CONCURRENCY / DATABASE CONSISTENCY</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Atomic booking: protect the final seat</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Combine row locks, command identity and unique constraints inside one transaction.</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Lock order is Train → Inventory → Booking; booking, seats and audit commit or roll back together.</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services.py: create_booking • models.py • test_concurrency.py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20 / 35</a:t>
            </a:r>
          </a:p>
        </p:txBody>
      </p:sp>
      <p:sp>
        <p:nvSpPr>
          <p:cNvPr id="20" name="TextBox 19"/>
          <p:cNvSpPr txBox="1"/>
          <p:nvPr/>
        </p:nvSpPr>
        <p:spPr>
          <a:xfrm>
            <a:off x="621792" y="1975104"/>
            <a:ext cx="7232904" cy="274320"/>
          </a:xfrm>
          <a:prstGeom prst="rect">
            <a:avLst/>
          </a:prstGeom>
          <a:noFill/>
        </p:spPr>
        <p:txBody>
          <a:bodyPr wrap="square" lIns="0" tIns="0" rIns="0" bIns="0" anchor="t">
            <a:noAutofit/>
          </a:bodyPr>
          <a:lstStyle/>
          <a:p>
            <a:pPr algn="l">
              <a:lnSpc>
                <a:spcPct val="110000"/>
              </a:lnSpc>
              <a:spcBef>
                <a:spcPts val="0"/>
              </a:spcBef>
              <a:spcAft>
                <a:spcPts val="0"/>
              </a:spcAft>
            </a:pPr>
            <a:r>
              <a:rPr sz="1250" b="1">
                <a:solidFill>
                  <a:srgbClr val="7F869A"/>
                </a:solidFill>
                <a:latin typeface="Arial"/>
              </a:rPr>
              <a:t>ILLUSTRATIVE TIMELINE  /  ONE SEAT REMAINS</a:t>
            </a:r>
          </a:p>
        </p:txBody>
      </p:sp>
      <p:sp>
        <p:nvSpPr>
          <p:cNvPr id="21" name="TextBox 20"/>
          <p:cNvSpPr txBox="1"/>
          <p:nvPr/>
        </p:nvSpPr>
        <p:spPr>
          <a:xfrm>
            <a:off x="603504" y="2935224"/>
            <a:ext cx="987552" cy="246888"/>
          </a:xfrm>
          <a:prstGeom prst="rect">
            <a:avLst/>
          </a:prstGeom>
          <a:noFill/>
        </p:spPr>
        <p:txBody>
          <a:bodyPr wrap="square" lIns="0" tIns="0" rIns="0" bIns="0" anchor="t">
            <a:noAutofit/>
          </a:bodyPr>
          <a:lstStyle/>
          <a:p>
            <a:pPr algn="l">
              <a:lnSpc>
                <a:spcPct val="110000"/>
              </a:lnSpc>
              <a:spcBef>
                <a:spcPts val="0"/>
              </a:spcBef>
              <a:spcAft>
                <a:spcPts val="0"/>
              </a:spcAft>
            </a:pPr>
            <a:r>
              <a:rPr sz="1860" b="1">
                <a:solidFill>
                  <a:srgbClr val="7450DF"/>
                </a:solidFill>
                <a:latin typeface="Arial"/>
              </a:rPr>
              <a:t>Buyer 1</a:t>
            </a:r>
          </a:p>
        </p:txBody>
      </p:sp>
      <p:cxnSp>
        <p:nvCxnSpPr>
          <p:cNvPr id="22" name="Connector 21"/>
          <p:cNvCxnSpPr/>
          <p:nvPr/>
        </p:nvCxnSpPr>
        <p:spPr>
          <a:xfrm>
            <a:off x="1719072" y="3118104"/>
            <a:ext cx="5806440" cy="0"/>
          </a:xfrm>
          <a:prstGeom prst="line">
            <a:avLst/>
          </a:prstGeom>
          <a:ln w="25400">
            <a:solidFill>
              <a:srgbClr val="E3DEE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03504" y="4014215"/>
            <a:ext cx="987552" cy="246888"/>
          </a:xfrm>
          <a:prstGeom prst="rect">
            <a:avLst/>
          </a:prstGeom>
          <a:noFill/>
        </p:spPr>
        <p:txBody>
          <a:bodyPr wrap="square" lIns="0" tIns="0" rIns="0" bIns="0" anchor="t">
            <a:noAutofit/>
          </a:bodyPr>
          <a:lstStyle/>
          <a:p>
            <a:pPr algn="l">
              <a:lnSpc>
                <a:spcPct val="110000"/>
              </a:lnSpc>
              <a:spcBef>
                <a:spcPts val="0"/>
              </a:spcBef>
              <a:spcAft>
                <a:spcPts val="0"/>
              </a:spcAft>
            </a:pPr>
            <a:r>
              <a:rPr sz="1860" b="1">
                <a:solidFill>
                  <a:srgbClr val="7450DF"/>
                </a:solidFill>
                <a:latin typeface="Arial"/>
              </a:rPr>
              <a:t>Buyer 2</a:t>
            </a:r>
          </a:p>
        </p:txBody>
      </p:sp>
      <p:cxnSp>
        <p:nvCxnSpPr>
          <p:cNvPr id="24" name="Connector 23"/>
          <p:cNvCxnSpPr/>
          <p:nvPr/>
        </p:nvCxnSpPr>
        <p:spPr>
          <a:xfrm>
            <a:off x="1719072" y="4197096"/>
            <a:ext cx="5806440" cy="0"/>
          </a:xfrm>
          <a:prstGeom prst="line">
            <a:avLst/>
          </a:prstGeom>
          <a:ln w="25400">
            <a:solidFill>
              <a:srgbClr val="E3DEEF"/>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792224" y="2807208"/>
            <a:ext cx="1261872" cy="475488"/>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874519" y="2857500"/>
            <a:ext cx="1097280" cy="411480"/>
          </a:xfrm>
          <a:prstGeom prst="rect">
            <a:avLst/>
          </a:prstGeom>
          <a:noFill/>
        </p:spPr>
        <p:txBody>
          <a:bodyPr wrap="square" lIns="0" tIns="0" rIns="0" bIns="0" anchor="t">
            <a:noAutofit/>
          </a:bodyPr>
          <a:lstStyle/>
          <a:p>
            <a:pPr algn="ctr">
              <a:lnSpc>
                <a:spcPct val="110000"/>
              </a:lnSpc>
              <a:spcBef>
                <a:spcPts val="0"/>
              </a:spcBef>
              <a:spcAft>
                <a:spcPts val="0"/>
              </a:spcAft>
            </a:pPr>
            <a:r>
              <a:rPr sz="1750" b="1">
                <a:solidFill>
                  <a:srgbClr val="7450DF"/>
                </a:solidFill>
                <a:latin typeface="Arial"/>
              </a:rPr>
              <a:t>LOCK</a:t>
            </a:r>
          </a:p>
        </p:txBody>
      </p:sp>
      <p:sp>
        <p:nvSpPr>
          <p:cNvPr id="27" name="Rounded Rectangle 26"/>
          <p:cNvSpPr/>
          <p:nvPr/>
        </p:nvSpPr>
        <p:spPr>
          <a:xfrm>
            <a:off x="3246120" y="2807208"/>
            <a:ext cx="1481328" cy="475488"/>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328415" y="2857500"/>
            <a:ext cx="1316736" cy="411480"/>
          </a:xfrm>
          <a:prstGeom prst="rect">
            <a:avLst/>
          </a:prstGeom>
          <a:noFill/>
        </p:spPr>
        <p:txBody>
          <a:bodyPr wrap="square" lIns="0" tIns="0" rIns="0" bIns="0" anchor="t">
            <a:noAutofit/>
          </a:bodyPr>
          <a:lstStyle/>
          <a:p>
            <a:pPr algn="ctr">
              <a:lnSpc>
                <a:spcPct val="110000"/>
              </a:lnSpc>
              <a:spcBef>
                <a:spcPts val="0"/>
              </a:spcBef>
              <a:spcAft>
                <a:spcPts val="0"/>
              </a:spcAft>
            </a:pPr>
            <a:r>
              <a:rPr sz="1750" b="1">
                <a:solidFill>
                  <a:srgbClr val="389778"/>
                </a:solidFill>
                <a:latin typeface="Arial"/>
              </a:rPr>
              <a:t>ASSIGN</a:t>
            </a:r>
          </a:p>
        </p:txBody>
      </p:sp>
      <p:sp>
        <p:nvSpPr>
          <p:cNvPr id="29" name="Rounded Rectangle 28"/>
          <p:cNvSpPr/>
          <p:nvPr/>
        </p:nvSpPr>
        <p:spPr>
          <a:xfrm>
            <a:off x="4928616" y="2807208"/>
            <a:ext cx="1591056" cy="475488"/>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010912" y="2857500"/>
            <a:ext cx="1426464" cy="411480"/>
          </a:xfrm>
          <a:prstGeom prst="rect">
            <a:avLst/>
          </a:prstGeom>
          <a:noFill/>
        </p:spPr>
        <p:txBody>
          <a:bodyPr wrap="square" lIns="0" tIns="0" rIns="0" bIns="0" anchor="t">
            <a:noAutofit/>
          </a:bodyPr>
          <a:lstStyle/>
          <a:p>
            <a:pPr algn="ctr">
              <a:lnSpc>
                <a:spcPct val="110000"/>
              </a:lnSpc>
              <a:spcBef>
                <a:spcPts val="0"/>
              </a:spcBef>
              <a:spcAft>
                <a:spcPts val="0"/>
              </a:spcAft>
            </a:pPr>
            <a:r>
              <a:rPr sz="1750" b="1">
                <a:solidFill>
                  <a:srgbClr val="389778"/>
                </a:solidFill>
                <a:latin typeface="Arial"/>
              </a:rPr>
              <a:t>COMMIT</a:t>
            </a:r>
          </a:p>
        </p:txBody>
      </p:sp>
      <p:sp>
        <p:nvSpPr>
          <p:cNvPr id="31" name="Rounded Rectangle 30"/>
          <p:cNvSpPr/>
          <p:nvPr/>
        </p:nvSpPr>
        <p:spPr>
          <a:xfrm>
            <a:off x="1792224" y="3886200"/>
            <a:ext cx="2953512" cy="475488"/>
          </a:xfrm>
          <a:prstGeom prst="roundRect">
            <a:avLst>
              <a:gd name="adj" fmla="val 14000"/>
            </a:avLst>
          </a:prstGeom>
          <a:solidFill>
            <a:srgbClr val="FB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874519" y="3936491"/>
            <a:ext cx="2788920" cy="411480"/>
          </a:xfrm>
          <a:prstGeom prst="rect">
            <a:avLst/>
          </a:prstGeom>
          <a:noFill/>
        </p:spPr>
        <p:txBody>
          <a:bodyPr wrap="square" lIns="0" tIns="0" rIns="0" bIns="0" anchor="t">
            <a:noAutofit/>
          </a:bodyPr>
          <a:lstStyle/>
          <a:p>
            <a:pPr algn="ctr">
              <a:lnSpc>
                <a:spcPct val="110000"/>
              </a:lnSpc>
              <a:spcBef>
                <a:spcPts val="0"/>
              </a:spcBef>
              <a:spcAft>
                <a:spcPts val="0"/>
              </a:spcAft>
            </a:pPr>
            <a:r>
              <a:rPr sz="1750" b="1">
                <a:solidFill>
                  <a:srgbClr val="B97D38"/>
                </a:solidFill>
                <a:latin typeface="Arial"/>
              </a:rPr>
              <a:t>WAIT FOR LOCK</a:t>
            </a:r>
          </a:p>
        </p:txBody>
      </p:sp>
      <p:sp>
        <p:nvSpPr>
          <p:cNvPr id="33" name="Rounded Rectangle 32"/>
          <p:cNvSpPr/>
          <p:nvPr/>
        </p:nvSpPr>
        <p:spPr>
          <a:xfrm>
            <a:off x="4946904" y="3886200"/>
            <a:ext cx="2551176" cy="475488"/>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029200" y="3936491"/>
            <a:ext cx="2386584" cy="411480"/>
          </a:xfrm>
          <a:prstGeom prst="rect">
            <a:avLst/>
          </a:prstGeom>
          <a:noFill/>
        </p:spPr>
        <p:txBody>
          <a:bodyPr wrap="square" lIns="0" tIns="0" rIns="0" bIns="0" anchor="t">
            <a:noAutofit/>
          </a:bodyPr>
          <a:lstStyle/>
          <a:p>
            <a:pPr algn="ctr">
              <a:lnSpc>
                <a:spcPct val="110000"/>
              </a:lnSpc>
              <a:spcBef>
                <a:spcPts val="0"/>
              </a:spcBef>
              <a:spcAft>
                <a:spcPts val="0"/>
              </a:spcAft>
            </a:pPr>
            <a:r>
              <a:rPr sz="1580" b="1">
                <a:solidFill>
                  <a:srgbClr val="7450DF"/>
                </a:solidFill>
                <a:latin typeface="Arial"/>
              </a:rPr>
              <a:t>RECHECK → WAITLIST</a:t>
            </a:r>
          </a:p>
        </p:txBody>
      </p:sp>
      <p:cxnSp>
        <p:nvCxnSpPr>
          <p:cNvPr id="35" name="Connector 34"/>
          <p:cNvCxnSpPr/>
          <p:nvPr/>
        </p:nvCxnSpPr>
        <p:spPr>
          <a:xfrm>
            <a:off x="5733288" y="3291840"/>
            <a:ext cx="0" cy="512064"/>
          </a:xfrm>
          <a:prstGeom prst="line">
            <a:avLst/>
          </a:prstGeom>
          <a:ln w="2286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101583" y="2029968"/>
            <a:ext cx="3474720" cy="1289304"/>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66175" y="2167128"/>
            <a:ext cx="3145536" cy="365760"/>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Idempotency</a:t>
            </a:r>
          </a:p>
        </p:txBody>
      </p:sp>
      <p:sp>
        <p:nvSpPr>
          <p:cNvPr id="38" name="TextBox 37"/>
          <p:cNvSpPr txBox="1"/>
          <p:nvPr/>
        </p:nvSpPr>
        <p:spPr>
          <a:xfrm>
            <a:off x="8266175" y="2615184"/>
            <a:ext cx="3145536" cy="649224"/>
          </a:xfrm>
          <a:prstGeom prst="rect">
            <a:avLst/>
          </a:prstGeom>
          <a:noFill/>
        </p:spPr>
        <p:txBody>
          <a:bodyPr wrap="square" lIns="0" tIns="0" rIns="0" bIns="0" anchor="t">
            <a:noAutofit/>
          </a:bodyPr>
          <a:lstStyle/>
          <a:p>
            <a:pPr algn="l">
              <a:lnSpc>
                <a:spcPct val="110000"/>
              </a:lnSpc>
              <a:spcBef>
                <a:spcPts val="0"/>
              </a:spcBef>
              <a:spcAft>
                <a:spcPts val="0"/>
              </a:spcAft>
            </a:pPr>
            <a:r>
              <a:rPr sz="1800" b="0">
                <a:solidFill>
                  <a:srgbClr val="50576D"/>
                </a:solidFill>
                <a:latin typeface="Arial"/>
              </a:rPr>
              <a:t>same key + same payload</a:t>
            </a:r>
          </a:p>
          <a:p>
            <a:pPr algn="l">
              <a:lnSpc>
                <a:spcPct val="110000"/>
              </a:lnSpc>
              <a:spcBef>
                <a:spcPts val="0"/>
              </a:spcBef>
              <a:spcAft>
                <a:spcPts val="0"/>
              </a:spcAft>
            </a:pPr>
            <a:r>
              <a:rPr sz="1800" b="0">
                <a:solidFill>
                  <a:srgbClr val="50576D"/>
                </a:solidFill>
                <a:latin typeface="Arial"/>
              </a:rPr>
              <a:t>→ same PNR</a:t>
            </a:r>
          </a:p>
        </p:txBody>
      </p:sp>
      <p:sp>
        <p:nvSpPr>
          <p:cNvPr id="39" name="Rounded Rectangle 38"/>
          <p:cNvSpPr/>
          <p:nvPr/>
        </p:nvSpPr>
        <p:spPr>
          <a:xfrm>
            <a:off x="8101583" y="3538728"/>
            <a:ext cx="3474720" cy="1261872"/>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66175" y="3675888"/>
            <a:ext cx="3145536" cy="365760"/>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389778"/>
                </a:solidFill>
                <a:latin typeface="Arial"/>
              </a:rPr>
              <a:t>Final DB guard</a:t>
            </a:r>
          </a:p>
        </p:txBody>
      </p:sp>
      <p:sp>
        <p:nvSpPr>
          <p:cNvPr id="41" name="TextBox 40"/>
          <p:cNvSpPr txBox="1"/>
          <p:nvPr/>
        </p:nvSpPr>
        <p:spPr>
          <a:xfrm>
            <a:off x="8266175" y="4123944"/>
            <a:ext cx="3145536" cy="621792"/>
          </a:xfrm>
          <a:prstGeom prst="rect">
            <a:avLst/>
          </a:prstGeom>
          <a:noFill/>
        </p:spPr>
        <p:txBody>
          <a:bodyPr wrap="square" lIns="0" tIns="0" rIns="0" bIns="0" anchor="t">
            <a:noAutofit/>
          </a:bodyPr>
          <a:lstStyle/>
          <a:p>
            <a:pPr algn="l">
              <a:lnSpc>
                <a:spcPct val="110000"/>
              </a:lnSpc>
              <a:spcBef>
                <a:spcPts val="0"/>
              </a:spcBef>
              <a:spcAft>
                <a:spcPts val="0"/>
              </a:spcAft>
            </a:pPr>
            <a:r>
              <a:rPr sz="1800" b="0">
                <a:solidFill>
                  <a:srgbClr val="50576D"/>
                </a:solidFill>
                <a:latin typeface="Arial"/>
              </a:rPr>
              <a:t>one composite seat key</a:t>
            </a:r>
          </a:p>
          <a:p>
            <a:pPr algn="l">
              <a:lnSpc>
                <a:spcPct val="110000"/>
              </a:lnSpc>
              <a:spcBef>
                <a:spcPts val="0"/>
              </a:spcBef>
              <a:spcAft>
                <a:spcPts val="0"/>
              </a:spcAft>
            </a:pPr>
            <a:r>
              <a:rPr sz="1800" b="0">
                <a:solidFill>
                  <a:srgbClr val="50576D"/>
                </a:solidFill>
                <a:latin typeface="Arial"/>
              </a:rPr>
              <a:t>→ one assignment</a:t>
            </a:r>
          </a:p>
        </p:txBody>
      </p:sp>
      <p:sp>
        <p:nvSpPr>
          <p:cNvPr id="42" name="Rounded Rectangle 41"/>
          <p:cNvSpPr/>
          <p:nvPr/>
        </p:nvSpPr>
        <p:spPr>
          <a:xfrm>
            <a:off x="630936" y="5047488"/>
            <a:ext cx="6876288" cy="594360"/>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86384" y="5212080"/>
            <a:ext cx="6556248" cy="274320"/>
          </a:xfrm>
          <a:prstGeom prst="rect">
            <a:avLst/>
          </a:prstGeom>
          <a:noFill/>
        </p:spPr>
        <p:txBody>
          <a:bodyPr wrap="square" lIns="0" tIns="0" rIns="0" bIns="0" anchor="t">
            <a:noAutofit/>
          </a:bodyPr>
          <a:lstStyle/>
          <a:p>
            <a:pPr algn="ctr">
              <a:lnSpc>
                <a:spcPct val="110000"/>
              </a:lnSpc>
              <a:spcBef>
                <a:spcPts val="0"/>
              </a:spcBef>
              <a:spcAft>
                <a:spcPts val="0"/>
              </a:spcAft>
            </a:pPr>
            <a:r>
              <a:rPr sz="2060" b="1">
                <a:solidFill>
                  <a:srgbClr val="FFFFFF"/>
                </a:solidFill>
                <a:latin typeface="Arial"/>
              </a:rPr>
              <a:t>Booking  +  SeatAssignment  +  AuditEvent</a:t>
            </a:r>
          </a:p>
        </p:txBody>
      </p:sp>
      <p:sp>
        <p:nvSpPr>
          <p:cNvPr id="44" name="TextBox 43"/>
          <p:cNvSpPr txBox="1"/>
          <p:nvPr/>
        </p:nvSpPr>
        <p:spPr>
          <a:xfrm>
            <a:off x="8174736" y="5175504"/>
            <a:ext cx="3200400" cy="384048"/>
          </a:xfrm>
          <a:prstGeom prst="rect">
            <a:avLst/>
          </a:prstGeom>
          <a:noFill/>
        </p:spPr>
        <p:txBody>
          <a:bodyPr wrap="square" lIns="0" tIns="0" rIns="0" bIns="0" anchor="t">
            <a:noAutofit/>
          </a:bodyPr>
          <a:lstStyle/>
          <a:p>
            <a:pPr algn="ctr">
              <a:lnSpc>
                <a:spcPct val="110000"/>
              </a:lnSpc>
              <a:spcBef>
                <a:spcPts val="0"/>
              </a:spcBef>
              <a:spcAft>
                <a:spcPts val="0"/>
              </a:spcAft>
            </a:pPr>
            <a:r>
              <a:rPr sz="1730" b="1">
                <a:solidFill>
                  <a:srgbClr val="BD5A65"/>
                </a:solidFill>
                <a:latin typeface="Arial"/>
              </a:rPr>
              <a:t>Exception → rollback all three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CONCURRENCY / LIFECYCLE AND QUEUES</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Lifecycle: holds, expiry and fair promotion</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Model explicit states; release seats safely and serve the oldest feasible queue head first.</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A promoted waitlist group becomes reserved for 15 minutes—not automatically paid or confirmed.</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services.py: confirm, cancel, expire_holds, promotion</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21 / 35</a:t>
            </a:r>
          </a:p>
        </p:txBody>
      </p:sp>
      <p:sp>
        <p:nvSpPr>
          <p:cNvPr id="20" name="Rounded Rectangle 19"/>
          <p:cNvSpPr/>
          <p:nvPr/>
        </p:nvSpPr>
        <p:spPr>
          <a:xfrm>
            <a:off x="630936" y="2011680"/>
            <a:ext cx="2807208" cy="95097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95527" y="2148840"/>
            <a:ext cx="2478024" cy="365760"/>
          </a:xfrm>
          <a:prstGeom prst="rect">
            <a:avLst/>
          </a:prstGeom>
          <a:noFill/>
        </p:spPr>
        <p:txBody>
          <a:bodyPr wrap="square" lIns="0" tIns="0" rIns="0" bIns="0" anchor="t">
            <a:noAutofit/>
          </a:bodyPr>
          <a:lstStyle/>
          <a:p>
            <a:pPr algn="l">
              <a:lnSpc>
                <a:spcPct val="110000"/>
              </a:lnSpc>
              <a:spcBef>
                <a:spcPts val="0"/>
              </a:spcBef>
              <a:spcAft>
                <a:spcPts val="0"/>
              </a:spcAft>
            </a:pPr>
            <a:r>
              <a:rPr sz="2170" b="1">
                <a:solidFill>
                  <a:srgbClr val="22263B"/>
                </a:solidFill>
                <a:latin typeface="Arial"/>
              </a:rPr>
              <a:t>Waitlisted</a:t>
            </a:r>
          </a:p>
        </p:txBody>
      </p:sp>
      <p:sp>
        <p:nvSpPr>
          <p:cNvPr id="22" name="TextBox 21"/>
          <p:cNvSpPr txBox="1"/>
          <p:nvPr/>
        </p:nvSpPr>
        <p:spPr>
          <a:xfrm>
            <a:off x="795527" y="2596896"/>
            <a:ext cx="2478024" cy="310896"/>
          </a:xfrm>
          <a:prstGeom prst="rect">
            <a:avLst/>
          </a:prstGeom>
          <a:noFill/>
        </p:spPr>
        <p:txBody>
          <a:bodyPr wrap="square" lIns="0" tIns="0" rIns="0" bIns="0" anchor="t">
            <a:noAutofit/>
          </a:bodyPr>
          <a:lstStyle/>
          <a:p>
            <a:pPr algn="l">
              <a:lnSpc>
                <a:spcPct val="110000"/>
              </a:lnSpc>
              <a:spcBef>
                <a:spcPts val="0"/>
              </a:spcBef>
              <a:spcAft>
                <a:spcPts val="0"/>
              </a:spcAft>
            </a:pPr>
            <a:r>
              <a:rPr sz="1789" b="0">
                <a:solidFill>
                  <a:srgbClr val="50576D"/>
                </a:solidFill>
                <a:latin typeface="Arial"/>
              </a:rPr>
              <a:t>No assigned seats</a:t>
            </a:r>
          </a:p>
        </p:txBody>
      </p:sp>
      <p:cxnSp>
        <p:nvCxnSpPr>
          <p:cNvPr id="23" name="Connector 22"/>
          <p:cNvCxnSpPr/>
          <p:nvPr/>
        </p:nvCxnSpPr>
        <p:spPr>
          <a:xfrm>
            <a:off x="3584448" y="2523744"/>
            <a:ext cx="512064"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242816" y="2011680"/>
            <a:ext cx="3438144" cy="950976"/>
          </a:xfrm>
          <a:prstGeom prst="roundRect">
            <a:avLst>
              <a:gd name="adj" fmla="val 14000"/>
            </a:avLst>
          </a:prstGeom>
          <a:solidFill>
            <a:srgbClr val="FBF1E5"/>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07407" y="2148840"/>
            <a:ext cx="3108960" cy="365760"/>
          </a:xfrm>
          <a:prstGeom prst="rect">
            <a:avLst/>
          </a:prstGeom>
          <a:noFill/>
        </p:spPr>
        <p:txBody>
          <a:bodyPr wrap="square" lIns="0" tIns="0" rIns="0" bIns="0" anchor="t">
            <a:noAutofit/>
          </a:bodyPr>
          <a:lstStyle/>
          <a:p>
            <a:pPr algn="l">
              <a:lnSpc>
                <a:spcPct val="110000"/>
              </a:lnSpc>
              <a:spcBef>
                <a:spcPts val="0"/>
              </a:spcBef>
              <a:spcAft>
                <a:spcPts val="0"/>
              </a:spcAft>
            </a:pPr>
            <a:r>
              <a:rPr sz="2170" b="1">
                <a:solidFill>
                  <a:srgbClr val="B97D38"/>
                </a:solidFill>
                <a:latin typeface="Arial"/>
              </a:rPr>
              <a:t>Reserved</a:t>
            </a:r>
          </a:p>
        </p:txBody>
      </p:sp>
      <p:sp>
        <p:nvSpPr>
          <p:cNvPr id="26" name="TextBox 25"/>
          <p:cNvSpPr txBox="1"/>
          <p:nvPr/>
        </p:nvSpPr>
        <p:spPr>
          <a:xfrm>
            <a:off x="4407407" y="2596896"/>
            <a:ext cx="3108960" cy="310896"/>
          </a:xfrm>
          <a:prstGeom prst="rect">
            <a:avLst/>
          </a:prstGeom>
          <a:noFill/>
        </p:spPr>
        <p:txBody>
          <a:bodyPr wrap="square" lIns="0" tIns="0" rIns="0" bIns="0" anchor="t">
            <a:noAutofit/>
          </a:bodyPr>
          <a:lstStyle/>
          <a:p>
            <a:pPr algn="l">
              <a:lnSpc>
                <a:spcPct val="110000"/>
              </a:lnSpc>
              <a:spcBef>
                <a:spcPts val="0"/>
              </a:spcBef>
              <a:spcAft>
                <a:spcPts val="0"/>
              </a:spcAft>
            </a:pPr>
            <a:r>
              <a:rPr sz="1789" b="0">
                <a:solidFill>
                  <a:srgbClr val="50576D"/>
                </a:solidFill>
                <a:latin typeface="Arial"/>
              </a:rPr>
              <a:t>15-minute hold</a:t>
            </a:r>
          </a:p>
        </p:txBody>
      </p:sp>
      <p:cxnSp>
        <p:nvCxnSpPr>
          <p:cNvPr id="27" name="Connector 26"/>
          <p:cNvCxnSpPr/>
          <p:nvPr/>
        </p:nvCxnSpPr>
        <p:spPr>
          <a:xfrm>
            <a:off x="7827264" y="2523744"/>
            <a:ext cx="521208"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494776" y="2011680"/>
            <a:ext cx="3035808" cy="950976"/>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659367" y="2148840"/>
            <a:ext cx="2706624" cy="365760"/>
          </a:xfrm>
          <a:prstGeom prst="rect">
            <a:avLst/>
          </a:prstGeom>
          <a:noFill/>
        </p:spPr>
        <p:txBody>
          <a:bodyPr wrap="square" lIns="0" tIns="0" rIns="0" bIns="0" anchor="t">
            <a:noAutofit/>
          </a:bodyPr>
          <a:lstStyle/>
          <a:p>
            <a:pPr algn="l">
              <a:lnSpc>
                <a:spcPct val="110000"/>
              </a:lnSpc>
              <a:spcBef>
                <a:spcPts val="0"/>
              </a:spcBef>
              <a:spcAft>
                <a:spcPts val="0"/>
              </a:spcAft>
            </a:pPr>
            <a:r>
              <a:rPr sz="2170" b="1">
                <a:solidFill>
                  <a:srgbClr val="389778"/>
                </a:solidFill>
                <a:latin typeface="Arial"/>
              </a:rPr>
              <a:t>Confirmed</a:t>
            </a:r>
          </a:p>
        </p:txBody>
      </p:sp>
      <p:sp>
        <p:nvSpPr>
          <p:cNvPr id="30" name="TextBox 29"/>
          <p:cNvSpPr txBox="1"/>
          <p:nvPr/>
        </p:nvSpPr>
        <p:spPr>
          <a:xfrm>
            <a:off x="8659367" y="2596896"/>
            <a:ext cx="2706624" cy="310896"/>
          </a:xfrm>
          <a:prstGeom prst="rect">
            <a:avLst/>
          </a:prstGeom>
          <a:noFill/>
        </p:spPr>
        <p:txBody>
          <a:bodyPr wrap="square" lIns="0" tIns="0" rIns="0" bIns="0" anchor="t">
            <a:noAutofit/>
          </a:bodyPr>
          <a:lstStyle/>
          <a:p>
            <a:pPr algn="l">
              <a:lnSpc>
                <a:spcPct val="110000"/>
              </a:lnSpc>
              <a:spcBef>
                <a:spcPts val="0"/>
              </a:spcBef>
              <a:spcAft>
                <a:spcPts val="0"/>
              </a:spcAft>
            </a:pPr>
            <a:r>
              <a:rPr sz="1789" b="0">
                <a:solidFill>
                  <a:srgbClr val="50576D"/>
                </a:solidFill>
                <a:latin typeface="Arial"/>
              </a:rPr>
              <a:t>Demo receipt + seats</a:t>
            </a:r>
          </a:p>
        </p:txBody>
      </p:sp>
      <p:sp>
        <p:nvSpPr>
          <p:cNvPr id="31" name="TextBox 30"/>
          <p:cNvSpPr txBox="1"/>
          <p:nvPr/>
        </p:nvSpPr>
        <p:spPr>
          <a:xfrm>
            <a:off x="3602736" y="2103120"/>
            <a:ext cx="484632" cy="210312"/>
          </a:xfrm>
          <a:prstGeom prst="rect">
            <a:avLst/>
          </a:prstGeom>
          <a:noFill/>
        </p:spPr>
        <p:txBody>
          <a:bodyPr wrap="square" lIns="0" tIns="0" rIns="0" bIns="0" anchor="t">
            <a:noAutofit/>
          </a:bodyPr>
          <a:lstStyle/>
          <a:p>
            <a:pPr algn="l">
              <a:lnSpc>
                <a:spcPct val="110000"/>
              </a:lnSpc>
              <a:spcBef>
                <a:spcPts val="0"/>
              </a:spcBef>
              <a:spcAft>
                <a:spcPts val="0"/>
              </a:spcAft>
            </a:pPr>
            <a:r>
              <a:rPr sz="1060" b="1">
                <a:solidFill>
                  <a:srgbClr val="7450DF"/>
                </a:solidFill>
                <a:latin typeface="Arial"/>
              </a:rPr>
              <a:t>promote</a:t>
            </a:r>
          </a:p>
        </p:txBody>
      </p:sp>
      <p:sp>
        <p:nvSpPr>
          <p:cNvPr id="32" name="TextBox 31"/>
          <p:cNvSpPr txBox="1"/>
          <p:nvPr/>
        </p:nvSpPr>
        <p:spPr>
          <a:xfrm>
            <a:off x="7799831" y="2103120"/>
            <a:ext cx="612648" cy="210312"/>
          </a:xfrm>
          <a:prstGeom prst="rect">
            <a:avLst/>
          </a:prstGeom>
          <a:noFill/>
        </p:spPr>
        <p:txBody>
          <a:bodyPr wrap="square" lIns="0" tIns="0" rIns="0" bIns="0" anchor="t">
            <a:noAutofit/>
          </a:bodyPr>
          <a:lstStyle/>
          <a:p>
            <a:pPr algn="l">
              <a:lnSpc>
                <a:spcPct val="110000"/>
              </a:lnSpc>
              <a:spcBef>
                <a:spcPts val="0"/>
              </a:spcBef>
              <a:spcAft>
                <a:spcPts val="0"/>
              </a:spcAft>
            </a:pPr>
            <a:r>
              <a:rPr sz="1060" b="1">
                <a:solidFill>
                  <a:srgbClr val="7450DF"/>
                </a:solidFill>
                <a:latin typeface="Arial"/>
              </a:rPr>
              <a:t>confirm</a:t>
            </a:r>
          </a:p>
        </p:txBody>
      </p:sp>
      <p:cxnSp>
        <p:nvCxnSpPr>
          <p:cNvPr id="33" name="Connector 32"/>
          <p:cNvCxnSpPr/>
          <p:nvPr/>
        </p:nvCxnSpPr>
        <p:spPr>
          <a:xfrm>
            <a:off x="5961888" y="3008376"/>
            <a:ext cx="0" cy="374904"/>
          </a:xfrm>
          <a:prstGeom prst="line">
            <a:avLst/>
          </a:prstGeom>
          <a:ln w="22860">
            <a:solidFill>
              <a:srgbClr val="B97D38"/>
            </a:solidFill>
            <a:tailEnd type="triangle" w="sm" len="sm"/>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4791456" y="3429000"/>
            <a:ext cx="2359152" cy="393192"/>
          </a:xfrm>
          <a:prstGeom prst="roundRect">
            <a:avLst>
              <a:gd name="adj" fmla="val 14000"/>
            </a:avLst>
          </a:prstGeom>
          <a:solidFill>
            <a:srgbClr val="FB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873752" y="3479292"/>
            <a:ext cx="2194560" cy="329184"/>
          </a:xfrm>
          <a:prstGeom prst="rect">
            <a:avLst/>
          </a:prstGeom>
          <a:noFill/>
        </p:spPr>
        <p:txBody>
          <a:bodyPr wrap="square" lIns="0" tIns="0" rIns="0" bIns="0" anchor="t">
            <a:noAutofit/>
          </a:bodyPr>
          <a:lstStyle/>
          <a:p>
            <a:pPr algn="ctr">
              <a:lnSpc>
                <a:spcPct val="110000"/>
              </a:lnSpc>
              <a:spcBef>
                <a:spcPts val="0"/>
              </a:spcBef>
              <a:spcAft>
                <a:spcPts val="0"/>
              </a:spcAft>
            </a:pPr>
            <a:r>
              <a:rPr sz="1450" b="1">
                <a:solidFill>
                  <a:srgbClr val="B97D38"/>
                </a:solidFill>
                <a:latin typeface="Arial"/>
              </a:rPr>
              <a:t>Expired → release seats</a:t>
            </a:r>
          </a:p>
        </p:txBody>
      </p:sp>
      <p:sp>
        <p:nvSpPr>
          <p:cNvPr id="36" name="TextBox 35"/>
          <p:cNvSpPr txBox="1"/>
          <p:nvPr/>
        </p:nvSpPr>
        <p:spPr>
          <a:xfrm>
            <a:off x="768096" y="4187952"/>
            <a:ext cx="10625328" cy="320040"/>
          </a:xfrm>
          <a:prstGeom prst="rect">
            <a:avLst/>
          </a:prstGeom>
          <a:noFill/>
        </p:spPr>
        <p:txBody>
          <a:bodyPr wrap="square" lIns="0" tIns="0" rIns="0" bIns="0" anchor="t">
            <a:noAutofit/>
          </a:bodyPr>
          <a:lstStyle/>
          <a:p>
            <a:pPr algn="l">
              <a:lnSpc>
                <a:spcPct val="110000"/>
              </a:lnSpc>
              <a:spcBef>
                <a:spcPts val="0"/>
              </a:spcBef>
              <a:spcAft>
                <a:spcPts val="0"/>
              </a:spcAft>
            </a:pPr>
            <a:r>
              <a:rPr sz="2030" b="1">
                <a:solidFill>
                  <a:srgbClr val="22263B"/>
                </a:solidFill>
                <a:latin typeface="Arial"/>
              </a:rPr>
              <a:t>FIFO EXAMPLE   2 free seats; the oldest group needs 3</a:t>
            </a:r>
          </a:p>
        </p:txBody>
      </p:sp>
      <p:sp>
        <p:nvSpPr>
          <p:cNvPr id="37" name="Rounded Rectangle 36"/>
          <p:cNvSpPr/>
          <p:nvPr/>
        </p:nvSpPr>
        <p:spPr>
          <a:xfrm>
            <a:off x="923544" y="4736592"/>
            <a:ext cx="2880360" cy="448056"/>
          </a:xfrm>
          <a:prstGeom prst="roundRect">
            <a:avLst>
              <a:gd name="adj" fmla="val 14000"/>
            </a:avLst>
          </a:prstGeom>
          <a:solidFill>
            <a:srgbClr val="FB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05840" y="4786883"/>
            <a:ext cx="2715768" cy="384048"/>
          </a:xfrm>
          <a:prstGeom prst="rect">
            <a:avLst/>
          </a:prstGeom>
          <a:noFill/>
        </p:spPr>
        <p:txBody>
          <a:bodyPr wrap="square" lIns="0" tIns="0" rIns="0" bIns="0" anchor="t">
            <a:noAutofit/>
          </a:bodyPr>
          <a:lstStyle/>
          <a:p>
            <a:pPr algn="ctr">
              <a:lnSpc>
                <a:spcPct val="110000"/>
              </a:lnSpc>
              <a:spcBef>
                <a:spcPts val="0"/>
              </a:spcBef>
              <a:spcAft>
                <a:spcPts val="0"/>
              </a:spcAft>
            </a:pPr>
            <a:r>
              <a:rPr sz="1650" b="1">
                <a:solidFill>
                  <a:srgbClr val="B97D38"/>
                </a:solidFill>
                <a:latin typeface="Arial"/>
              </a:rPr>
              <a:t>HEAD: 3 PEOPLE</a:t>
            </a:r>
          </a:p>
        </p:txBody>
      </p:sp>
      <p:sp>
        <p:nvSpPr>
          <p:cNvPr id="39" name="Rounded Rectangle 38"/>
          <p:cNvSpPr/>
          <p:nvPr/>
        </p:nvSpPr>
        <p:spPr>
          <a:xfrm>
            <a:off x="4663440" y="4736592"/>
            <a:ext cx="2880360" cy="448056"/>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745736" y="4786883"/>
            <a:ext cx="2715768" cy="384048"/>
          </a:xfrm>
          <a:prstGeom prst="rect">
            <a:avLst/>
          </a:prstGeom>
          <a:noFill/>
        </p:spPr>
        <p:txBody>
          <a:bodyPr wrap="square" lIns="0" tIns="0" rIns="0" bIns="0" anchor="t">
            <a:noAutofit/>
          </a:bodyPr>
          <a:lstStyle/>
          <a:p>
            <a:pPr algn="ctr">
              <a:lnSpc>
                <a:spcPct val="110000"/>
              </a:lnSpc>
              <a:spcBef>
                <a:spcPts val="0"/>
              </a:spcBef>
              <a:spcAft>
                <a:spcPts val="0"/>
              </a:spcAft>
            </a:pPr>
            <a:r>
              <a:rPr sz="1650" b="1">
                <a:solidFill>
                  <a:srgbClr val="7450DF"/>
                </a:solidFill>
                <a:latin typeface="Arial"/>
              </a:rPr>
              <a:t>NEXT: 1 PERSON</a:t>
            </a:r>
          </a:p>
        </p:txBody>
      </p:sp>
      <p:sp>
        <p:nvSpPr>
          <p:cNvPr id="41" name="Rounded Rectangle 40"/>
          <p:cNvSpPr/>
          <p:nvPr/>
        </p:nvSpPr>
        <p:spPr>
          <a:xfrm>
            <a:off x="8403336" y="4736592"/>
            <a:ext cx="2880360" cy="448056"/>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485632" y="4786883"/>
            <a:ext cx="2715768" cy="384048"/>
          </a:xfrm>
          <a:prstGeom prst="rect">
            <a:avLst/>
          </a:prstGeom>
          <a:noFill/>
        </p:spPr>
        <p:txBody>
          <a:bodyPr wrap="square" lIns="0" tIns="0" rIns="0" bIns="0" anchor="t">
            <a:noAutofit/>
          </a:bodyPr>
          <a:lstStyle/>
          <a:p>
            <a:pPr algn="ctr">
              <a:lnSpc>
                <a:spcPct val="110000"/>
              </a:lnSpc>
              <a:spcBef>
                <a:spcPts val="0"/>
              </a:spcBef>
              <a:spcAft>
                <a:spcPts val="0"/>
              </a:spcAft>
            </a:pPr>
            <a:r>
              <a:rPr sz="1650" b="1">
                <a:solidFill>
                  <a:srgbClr val="389778"/>
                </a:solidFill>
                <a:latin typeface="Arial"/>
              </a:rPr>
              <a:t>2 FREE SEATS</a:t>
            </a:r>
          </a:p>
        </p:txBody>
      </p:sp>
      <p:cxnSp>
        <p:nvCxnSpPr>
          <p:cNvPr id="43" name="Connector 42"/>
          <p:cNvCxnSpPr/>
          <p:nvPr/>
        </p:nvCxnSpPr>
        <p:spPr>
          <a:xfrm flipH="1">
            <a:off x="7735824" y="4960620"/>
            <a:ext cx="420624" cy="0"/>
          </a:xfrm>
          <a:prstGeom prst="line">
            <a:avLst/>
          </a:prstGeom>
          <a:ln w="22860">
            <a:solidFill>
              <a:srgbClr val="BD5A65"/>
            </a:solidFill>
            <a:tailEnd type="triangle" w="sm" len="sm"/>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511296" y="5440680"/>
            <a:ext cx="5239512" cy="246888"/>
          </a:xfrm>
          <a:prstGeom prst="rect">
            <a:avLst/>
          </a:prstGeom>
          <a:noFill/>
        </p:spPr>
        <p:txBody>
          <a:bodyPr wrap="square" lIns="0" tIns="0" rIns="0" bIns="0" anchor="t">
            <a:noAutofit/>
          </a:bodyPr>
          <a:lstStyle/>
          <a:p>
            <a:pPr algn="ctr">
              <a:lnSpc>
                <a:spcPct val="110000"/>
              </a:lnSpc>
              <a:spcBef>
                <a:spcPts val="0"/>
              </a:spcBef>
              <a:spcAft>
                <a:spcPts val="0"/>
              </a:spcAft>
            </a:pPr>
            <a:r>
              <a:rPr sz="1600" b="1">
                <a:solidFill>
                  <a:srgbClr val="7F869A"/>
                </a:solidFill>
                <a:latin typeface="Arial"/>
              </a:rPr>
              <a:t>Head blocks younger groups: fairness over throughput.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IMPLEMENTATION / ACTUAL SCREENSHOTS</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Traveler UI: make the method observable</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Use clear feedback, responsive layout and shared validated commands at the presentation boundary.</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Login → search → passenger modal → PNR/demo ticket; the service rechecks inventory at submit time.</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web.py • web_components.py • capture_manifest.json</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22 / 35</a:t>
            </a:r>
          </a:p>
        </p:txBody>
      </p:sp>
      <p:pic>
        <p:nvPicPr>
          <p:cNvPr id="20" name="Picture 19"/>
          <p:cNvPicPr>
            <a:picLocks noChangeAspect="1"/>
          </p:cNvPicPr>
          <p:nvPr/>
        </p:nvPicPr>
        <p:blipFill>
          <a:blip r:embed="rId3"/>
          <a:srcRect/>
          <a:stretch/>
        </p:blipFill>
        <p:spPr>
          <a:xfrm>
            <a:off x="901221" y="2495786"/>
            <a:ext cx="4698940" cy="2401351"/>
          </a:xfrm>
          <a:prstGeom prst="rect">
            <a:avLst/>
          </a:prstGeom>
        </p:spPr>
      </p:pic>
      <p:sp>
        <p:nvSpPr>
          <p:cNvPr id="21" name="Rectangle 20"/>
          <p:cNvSpPr/>
          <p:nvPr/>
        </p:nvSpPr>
        <p:spPr>
          <a:xfrm>
            <a:off x="901221" y="2011680"/>
            <a:ext cx="4698940" cy="3328416"/>
          </a:xfrm>
          <a:prstGeom prst="rect">
            <a:avLst/>
          </a:prstGeom>
          <a:noFill/>
          <a:ln w="1016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p:cNvPicPr>
            <a:picLocks noChangeAspect="1"/>
          </p:cNvPicPr>
          <p:nvPr/>
        </p:nvPicPr>
        <p:blipFill>
          <a:blip r:embed="rId4"/>
          <a:srcRect/>
          <a:stretch/>
        </p:blipFill>
        <p:spPr>
          <a:xfrm>
            <a:off x="6501921" y="2472691"/>
            <a:ext cx="4698940" cy="2378961"/>
          </a:xfrm>
          <a:prstGeom prst="rect">
            <a:avLst/>
          </a:prstGeom>
        </p:spPr>
      </p:pic>
      <p:sp>
        <p:nvSpPr>
          <p:cNvPr id="23" name="Rectangle 22"/>
          <p:cNvSpPr/>
          <p:nvPr/>
        </p:nvSpPr>
        <p:spPr>
          <a:xfrm>
            <a:off x="6501921" y="2011680"/>
            <a:ext cx="4698940" cy="3328416"/>
          </a:xfrm>
          <a:prstGeom prst="rect">
            <a:avLst/>
          </a:prstGeom>
          <a:noFill/>
          <a:ln w="1016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3816" y="5495544"/>
            <a:ext cx="4837176" cy="246888"/>
          </a:xfrm>
          <a:prstGeom prst="rect">
            <a:avLst/>
          </a:prstGeom>
          <a:noFill/>
        </p:spPr>
        <p:txBody>
          <a:bodyPr wrap="square" lIns="0" tIns="0" rIns="0" bIns="0" anchor="t">
            <a:noAutofit/>
          </a:bodyPr>
          <a:lstStyle/>
          <a:p>
            <a:pPr algn="ctr">
              <a:lnSpc>
                <a:spcPct val="110000"/>
              </a:lnSpc>
              <a:spcBef>
                <a:spcPts val="0"/>
              </a:spcBef>
              <a:spcAft>
                <a:spcPts val="0"/>
              </a:spcAft>
            </a:pPr>
            <a:r>
              <a:rPr sz="1500" b="1">
                <a:solidFill>
                  <a:srgbClr val="7F869A"/>
                </a:solidFill>
                <a:latin typeface="Arial"/>
              </a:rPr>
              <a:t>Role-aware sign-in • local real photography</a:t>
            </a:r>
          </a:p>
        </p:txBody>
      </p:sp>
      <p:sp>
        <p:nvSpPr>
          <p:cNvPr id="25" name="TextBox 24"/>
          <p:cNvSpPr txBox="1"/>
          <p:nvPr/>
        </p:nvSpPr>
        <p:spPr>
          <a:xfrm>
            <a:off x="6355080" y="5495544"/>
            <a:ext cx="4983480" cy="246888"/>
          </a:xfrm>
          <a:prstGeom prst="rect">
            <a:avLst/>
          </a:prstGeom>
          <a:noFill/>
        </p:spPr>
        <p:txBody>
          <a:bodyPr wrap="square" lIns="0" tIns="0" rIns="0" bIns="0" anchor="t">
            <a:noAutofit/>
          </a:bodyPr>
          <a:lstStyle/>
          <a:p>
            <a:pPr algn="ctr">
              <a:lnSpc>
                <a:spcPct val="110000"/>
              </a:lnSpc>
              <a:spcBef>
                <a:spcPts val="0"/>
              </a:spcBef>
              <a:spcAft>
                <a:spcPts val="0"/>
              </a:spcAft>
            </a:pPr>
            <a:r>
              <a:rPr sz="1500" b="1">
                <a:solidFill>
                  <a:srgbClr val="7F869A"/>
                </a:solidFill>
                <a:latin typeface="Arial"/>
              </a:rPr>
              <a:t>Direct train discovery • passenger booking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IMPLEMENTATION / ACTUAL SCREENSHOTS</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Admin UI: observe committed changes</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Combine role-based access with periodic reads of durable statistics and audit events.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AdminUI polls about every 3 seconds; charts/register reflect synthetic CTPDB data, not browser-only counters.</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admin_ui.py • admin_stats() • events() • capture_manifest.json</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23 / 35</a:t>
            </a:r>
          </a:p>
        </p:txBody>
      </p:sp>
      <p:pic>
        <p:nvPicPr>
          <p:cNvPr id="20" name="Picture 19" descr="admin.jpg"/>
          <p:cNvPicPr>
            <a:picLocks noChangeAspect="1"/>
          </p:cNvPicPr>
          <p:nvPr/>
        </p:nvPicPr>
        <p:blipFill>
          <a:blip r:embed="rId3"/>
          <a:stretch>
            <a:fillRect/>
          </a:stretch>
        </p:blipFill>
        <p:spPr>
          <a:xfrm>
            <a:off x="1278008" y="1929384"/>
            <a:ext cx="5563855" cy="3941063"/>
          </a:xfrm>
          <a:prstGeom prst="rect">
            <a:avLst/>
          </a:prstGeom>
        </p:spPr>
      </p:pic>
      <p:sp>
        <p:nvSpPr>
          <p:cNvPr id="21" name="Rectangle 20"/>
          <p:cNvSpPr/>
          <p:nvPr/>
        </p:nvSpPr>
        <p:spPr>
          <a:xfrm>
            <a:off x="1278008" y="1929384"/>
            <a:ext cx="5563855" cy="3941063"/>
          </a:xfrm>
          <a:prstGeom prst="rect">
            <a:avLst/>
          </a:prstGeom>
          <a:noFill/>
          <a:ln w="1016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735824" y="2057400"/>
            <a:ext cx="3794760" cy="941832"/>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00416" y="2194560"/>
            <a:ext cx="3465576" cy="365760"/>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Role checks</a:t>
            </a:r>
          </a:p>
        </p:txBody>
      </p:sp>
      <p:sp>
        <p:nvSpPr>
          <p:cNvPr id="24" name="TextBox 23"/>
          <p:cNvSpPr txBox="1"/>
          <p:nvPr/>
        </p:nvSpPr>
        <p:spPr>
          <a:xfrm>
            <a:off x="7900416" y="2642616"/>
            <a:ext cx="3465576" cy="301752"/>
          </a:xfrm>
          <a:prstGeom prst="rect">
            <a:avLst/>
          </a:prstGeom>
          <a:noFill/>
        </p:spPr>
        <p:txBody>
          <a:bodyPr wrap="square" lIns="0" tIns="0" rIns="0" bIns="0" anchor="t">
            <a:noAutofit/>
          </a:bodyPr>
          <a:lstStyle/>
          <a:p>
            <a:pPr algn="l">
              <a:lnSpc>
                <a:spcPct val="110000"/>
              </a:lnSpc>
              <a:spcBef>
                <a:spcPts val="0"/>
              </a:spcBef>
              <a:spcAft>
                <a:spcPts val="0"/>
              </a:spcAft>
            </a:pPr>
            <a:r>
              <a:rPr sz="1639" b="0">
                <a:solidFill>
                  <a:srgbClr val="50576D"/>
                </a:solidFill>
                <a:latin typeface="Arial"/>
              </a:rPr>
              <a:t>UI and services enforce admin</a:t>
            </a:r>
          </a:p>
        </p:txBody>
      </p:sp>
      <p:sp>
        <p:nvSpPr>
          <p:cNvPr id="25" name="Rounded Rectangle 24"/>
          <p:cNvSpPr/>
          <p:nvPr/>
        </p:nvSpPr>
        <p:spPr>
          <a:xfrm>
            <a:off x="7735824" y="3282696"/>
            <a:ext cx="3794760" cy="941832"/>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900416" y="3419856"/>
            <a:ext cx="3465576" cy="365760"/>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389778"/>
                </a:solidFill>
                <a:latin typeface="Arial"/>
              </a:rPr>
              <a:t>Persistent updates</a:t>
            </a:r>
          </a:p>
        </p:txBody>
      </p:sp>
      <p:sp>
        <p:nvSpPr>
          <p:cNvPr id="27" name="TextBox 26"/>
          <p:cNvSpPr txBox="1"/>
          <p:nvPr/>
        </p:nvSpPr>
        <p:spPr>
          <a:xfrm>
            <a:off x="7900416" y="3867911"/>
            <a:ext cx="3465576" cy="301752"/>
          </a:xfrm>
          <a:prstGeom prst="rect">
            <a:avLst/>
          </a:prstGeom>
          <a:noFill/>
        </p:spPr>
        <p:txBody>
          <a:bodyPr wrap="square" lIns="0" tIns="0" rIns="0" bIns="0" anchor="t">
            <a:noAutofit/>
          </a:bodyPr>
          <a:lstStyle/>
          <a:p>
            <a:pPr algn="l">
              <a:lnSpc>
                <a:spcPct val="110000"/>
              </a:lnSpc>
              <a:spcBef>
                <a:spcPts val="0"/>
              </a:spcBef>
              <a:spcAft>
                <a:spcPts val="0"/>
              </a:spcAft>
            </a:pPr>
            <a:r>
              <a:rPr sz="1639" b="0">
                <a:solidFill>
                  <a:srgbClr val="50576D"/>
                </a:solidFill>
                <a:latin typeface="Arial"/>
              </a:rPr>
              <a:t>Booking + audit commit first</a:t>
            </a:r>
          </a:p>
        </p:txBody>
      </p:sp>
      <p:sp>
        <p:nvSpPr>
          <p:cNvPr id="28" name="Rounded Rectangle 27"/>
          <p:cNvSpPr/>
          <p:nvPr/>
        </p:nvSpPr>
        <p:spPr>
          <a:xfrm>
            <a:off x="7735824" y="4517136"/>
            <a:ext cx="3794760" cy="941832"/>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900416" y="4654296"/>
            <a:ext cx="3465576" cy="365760"/>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Polling + WebSocket</a:t>
            </a:r>
          </a:p>
        </p:txBody>
      </p:sp>
      <p:sp>
        <p:nvSpPr>
          <p:cNvPr id="30" name="TextBox 29"/>
          <p:cNvSpPr txBox="1"/>
          <p:nvPr/>
        </p:nvSpPr>
        <p:spPr>
          <a:xfrm>
            <a:off x="7900416" y="5102352"/>
            <a:ext cx="3465576" cy="301752"/>
          </a:xfrm>
          <a:prstGeom prst="rect">
            <a:avLst/>
          </a:prstGeom>
          <a:noFill/>
        </p:spPr>
        <p:txBody>
          <a:bodyPr wrap="square" lIns="0" tIns="0" rIns="0" bIns="0" anchor="t">
            <a:noAutofit/>
          </a:bodyPr>
          <a:lstStyle/>
          <a:p>
            <a:pPr algn="l">
              <a:lnSpc>
                <a:spcPct val="110000"/>
              </a:lnSpc>
              <a:spcBef>
                <a:spcPts val="0"/>
              </a:spcBef>
              <a:spcAft>
                <a:spcPts val="0"/>
              </a:spcAft>
            </a:pPr>
            <a:r>
              <a:rPr sz="1639" b="0">
                <a:solidFill>
                  <a:srgbClr val="50576D"/>
                </a:solidFill>
                <a:latin typeface="Arial"/>
              </a:rPr>
              <a:t>Refresh about every 3 seconds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IMPLEMENTATION / ALGORITHM LABORATORY</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Algorithm Lab: compare the same network</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Run pure graph computations in a process pool and compare their different objectives and constraints.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Dijkstra / DP return base-fare cost; branch-and-bound returns minutes. The seat sandbox reserves nothing.</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lab_ui.py • benchmark_lab() • capture_manifest.json</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24 / 35</a:t>
            </a:r>
          </a:p>
        </p:txBody>
      </p:sp>
      <p:pic>
        <p:nvPicPr>
          <p:cNvPr id="20" name="Picture 19" descr="lab.jpg"/>
          <p:cNvPicPr>
            <a:picLocks noChangeAspect="1"/>
          </p:cNvPicPr>
          <p:nvPr/>
        </p:nvPicPr>
        <p:blipFill>
          <a:blip r:embed="rId3"/>
          <a:stretch>
            <a:fillRect/>
          </a:stretch>
        </p:blipFill>
        <p:spPr>
          <a:xfrm>
            <a:off x="817554" y="1947672"/>
            <a:ext cx="6951107" cy="3749039"/>
          </a:xfrm>
          <a:prstGeom prst="rect">
            <a:avLst/>
          </a:prstGeom>
        </p:spPr>
      </p:pic>
      <p:sp>
        <p:nvSpPr>
          <p:cNvPr id="21" name="Rectangle 20"/>
          <p:cNvSpPr/>
          <p:nvPr/>
        </p:nvSpPr>
        <p:spPr>
          <a:xfrm>
            <a:off x="817554" y="1947672"/>
            <a:ext cx="6951107" cy="3749039"/>
          </a:xfrm>
          <a:prstGeom prst="rect">
            <a:avLst/>
          </a:prstGeom>
          <a:noFill/>
          <a:ln w="1016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238744" y="2075688"/>
            <a:ext cx="3346704" cy="1005840"/>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03336" y="2212848"/>
            <a:ext cx="3017520" cy="365760"/>
          </a:xfrm>
          <a:prstGeom prst="rect">
            <a:avLst/>
          </a:prstGeom>
          <a:noFill/>
        </p:spPr>
        <p:txBody>
          <a:bodyPr wrap="square" lIns="0" tIns="0" rIns="0" bIns="0" anchor="t">
            <a:noAutofit/>
          </a:bodyPr>
          <a:lstStyle/>
          <a:p>
            <a:pPr algn="l">
              <a:lnSpc>
                <a:spcPct val="110000"/>
              </a:lnSpc>
              <a:spcBef>
                <a:spcPts val="0"/>
              </a:spcBef>
              <a:spcAft>
                <a:spcPts val="0"/>
              </a:spcAft>
            </a:pPr>
            <a:r>
              <a:rPr sz="1710" b="1">
                <a:solidFill>
                  <a:srgbClr val="7450DF"/>
                </a:solidFill>
                <a:latin typeface="Arial"/>
              </a:rPr>
              <a:t>GREEDY</a:t>
            </a:r>
          </a:p>
        </p:txBody>
      </p:sp>
      <p:sp>
        <p:nvSpPr>
          <p:cNvPr id="24" name="TextBox 23"/>
          <p:cNvSpPr txBox="1"/>
          <p:nvPr/>
        </p:nvSpPr>
        <p:spPr>
          <a:xfrm>
            <a:off x="8403336" y="2660904"/>
            <a:ext cx="3017520" cy="365760"/>
          </a:xfrm>
          <a:prstGeom prst="rect">
            <a:avLst/>
          </a:prstGeom>
          <a:noFill/>
        </p:spPr>
        <p:txBody>
          <a:bodyPr wrap="square" lIns="0" tIns="0" rIns="0" bIns="0" anchor="t">
            <a:noAutofit/>
          </a:bodyPr>
          <a:lstStyle/>
          <a:p>
            <a:pPr algn="l">
              <a:lnSpc>
                <a:spcPct val="110000"/>
              </a:lnSpc>
              <a:spcBef>
                <a:spcPts val="0"/>
              </a:spcBef>
              <a:spcAft>
                <a:spcPts val="0"/>
              </a:spcAft>
            </a:pPr>
            <a:r>
              <a:rPr sz="1720" b="0">
                <a:solidFill>
                  <a:srgbClr val="50576D"/>
                </a:solidFill>
                <a:latin typeface="Arial"/>
              </a:rPr>
              <a:t>Lowest base fare</a:t>
            </a:r>
          </a:p>
        </p:txBody>
      </p:sp>
      <p:sp>
        <p:nvSpPr>
          <p:cNvPr id="25" name="Rounded Rectangle 24"/>
          <p:cNvSpPr/>
          <p:nvPr/>
        </p:nvSpPr>
        <p:spPr>
          <a:xfrm>
            <a:off x="8238744" y="3291840"/>
            <a:ext cx="3346704" cy="1005840"/>
          </a:xfrm>
          <a:prstGeom prst="roundRect">
            <a:avLst>
              <a:gd name="adj" fmla="val 14000"/>
            </a:avLst>
          </a:prstGeom>
          <a:solidFill>
            <a:srgbClr val="EDF4FA"/>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03336" y="3429000"/>
            <a:ext cx="3017520" cy="365760"/>
          </a:xfrm>
          <a:prstGeom prst="rect">
            <a:avLst/>
          </a:prstGeom>
          <a:noFill/>
        </p:spPr>
        <p:txBody>
          <a:bodyPr wrap="square" lIns="0" tIns="0" rIns="0" bIns="0" anchor="t">
            <a:noAutofit/>
          </a:bodyPr>
          <a:lstStyle/>
          <a:p>
            <a:pPr algn="l">
              <a:lnSpc>
                <a:spcPct val="110000"/>
              </a:lnSpc>
              <a:spcBef>
                <a:spcPts val="0"/>
              </a:spcBef>
              <a:spcAft>
                <a:spcPts val="0"/>
              </a:spcAft>
            </a:pPr>
            <a:r>
              <a:rPr sz="1710" b="1">
                <a:solidFill>
                  <a:srgbClr val="4D85AE"/>
                </a:solidFill>
                <a:latin typeface="Arial"/>
              </a:rPr>
              <a:t>DYNAMIC PROGRAMMING</a:t>
            </a:r>
          </a:p>
        </p:txBody>
      </p:sp>
      <p:sp>
        <p:nvSpPr>
          <p:cNvPr id="27" name="TextBox 26"/>
          <p:cNvSpPr txBox="1"/>
          <p:nvPr/>
        </p:nvSpPr>
        <p:spPr>
          <a:xfrm>
            <a:off x="8403336" y="3877056"/>
            <a:ext cx="3017520" cy="365760"/>
          </a:xfrm>
          <a:prstGeom prst="rect">
            <a:avLst/>
          </a:prstGeom>
          <a:noFill/>
        </p:spPr>
        <p:txBody>
          <a:bodyPr wrap="square" lIns="0" tIns="0" rIns="0" bIns="0" anchor="t">
            <a:noAutofit/>
          </a:bodyPr>
          <a:lstStyle/>
          <a:p>
            <a:pPr algn="l">
              <a:lnSpc>
                <a:spcPct val="110000"/>
              </a:lnSpc>
              <a:spcBef>
                <a:spcPts val="0"/>
              </a:spcBef>
              <a:spcAft>
                <a:spcPts val="0"/>
              </a:spcAft>
            </a:pPr>
            <a:r>
              <a:rPr sz="1720" b="0">
                <a:solidFill>
                  <a:srgbClr val="50576D"/>
                </a:solidFill>
                <a:latin typeface="Arial"/>
              </a:rPr>
              <a:t>Lowest fare, ≤4 edges</a:t>
            </a:r>
          </a:p>
        </p:txBody>
      </p:sp>
      <p:sp>
        <p:nvSpPr>
          <p:cNvPr id="28" name="Rounded Rectangle 27"/>
          <p:cNvSpPr/>
          <p:nvPr/>
        </p:nvSpPr>
        <p:spPr>
          <a:xfrm>
            <a:off x="8238744" y="4507992"/>
            <a:ext cx="3346704" cy="1005840"/>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403336" y="4645152"/>
            <a:ext cx="3017520" cy="365760"/>
          </a:xfrm>
          <a:prstGeom prst="rect">
            <a:avLst/>
          </a:prstGeom>
          <a:noFill/>
        </p:spPr>
        <p:txBody>
          <a:bodyPr wrap="square" lIns="0" tIns="0" rIns="0" bIns="0" anchor="t">
            <a:noAutofit/>
          </a:bodyPr>
          <a:lstStyle/>
          <a:p>
            <a:pPr algn="l">
              <a:lnSpc>
                <a:spcPct val="110000"/>
              </a:lnSpc>
              <a:spcBef>
                <a:spcPts val="0"/>
              </a:spcBef>
              <a:spcAft>
                <a:spcPts val="0"/>
              </a:spcAft>
            </a:pPr>
            <a:r>
              <a:rPr sz="1710" b="1">
                <a:solidFill>
                  <a:srgbClr val="389778"/>
                </a:solidFill>
                <a:latin typeface="Arial"/>
              </a:rPr>
              <a:t>BRANCH &amp; BOUND</a:t>
            </a:r>
          </a:p>
        </p:txBody>
      </p:sp>
      <p:sp>
        <p:nvSpPr>
          <p:cNvPr id="30" name="TextBox 29"/>
          <p:cNvSpPr txBox="1"/>
          <p:nvPr/>
        </p:nvSpPr>
        <p:spPr>
          <a:xfrm>
            <a:off x="8403336" y="5093207"/>
            <a:ext cx="3017520" cy="365760"/>
          </a:xfrm>
          <a:prstGeom prst="rect">
            <a:avLst/>
          </a:prstGeom>
          <a:noFill/>
        </p:spPr>
        <p:txBody>
          <a:bodyPr wrap="square" lIns="0" tIns="0" rIns="0" bIns="0" anchor="t">
            <a:noAutofit/>
          </a:bodyPr>
          <a:lstStyle/>
          <a:p>
            <a:pPr algn="l">
              <a:lnSpc>
                <a:spcPct val="110000"/>
              </a:lnSpc>
              <a:spcBef>
                <a:spcPts val="0"/>
              </a:spcBef>
              <a:spcAft>
                <a:spcPts val="0"/>
              </a:spcAft>
            </a:pPr>
            <a:r>
              <a:rPr sz="1720" b="0">
                <a:solidFill>
                  <a:srgbClr val="50576D"/>
                </a:solidFill>
                <a:latin typeface="Arial"/>
              </a:rPr>
              <a:t>Fastest within budget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QUALITY ENGINEERING / SYSTEMATIC TESTING</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Testing: examples plus independent oracles</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Layer unit, service, API, database-race and browser tests; generate boundary inputs with Hypothesis.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Allocation properties check free/unique seats; route properties compare against independent brute-force results.</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tests/test_algorithms.py • test_services.py • test_api.py • test_e2e.py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25 / 35</a:t>
            </a:r>
          </a:p>
        </p:txBody>
      </p:sp>
      <p:sp>
        <p:nvSpPr>
          <p:cNvPr id="20" name="Rounded Rectangle 19"/>
          <p:cNvSpPr/>
          <p:nvPr/>
        </p:nvSpPr>
        <p:spPr>
          <a:xfrm>
            <a:off x="2080260" y="2002536"/>
            <a:ext cx="3026664" cy="621792"/>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17420" y="2176272"/>
            <a:ext cx="2752344" cy="256032"/>
          </a:xfrm>
          <a:prstGeom prst="rect">
            <a:avLst/>
          </a:prstGeom>
          <a:noFill/>
        </p:spPr>
        <p:txBody>
          <a:bodyPr wrap="square" lIns="0" tIns="0" rIns="0" bIns="0" anchor="t">
            <a:noAutofit/>
          </a:bodyPr>
          <a:lstStyle/>
          <a:p>
            <a:pPr algn="ctr">
              <a:lnSpc>
                <a:spcPct val="110000"/>
              </a:lnSpc>
              <a:spcBef>
                <a:spcPts val="0"/>
              </a:spcBef>
              <a:spcAft>
                <a:spcPts val="0"/>
              </a:spcAft>
            </a:pPr>
            <a:r>
              <a:rPr sz="1689" b="1">
                <a:solidFill>
                  <a:srgbClr val="FFFFFF"/>
                </a:solidFill>
                <a:latin typeface="Arial"/>
              </a:rPr>
              <a:t>BROWSER E2E</a:t>
            </a:r>
          </a:p>
        </p:txBody>
      </p:sp>
      <p:sp>
        <p:nvSpPr>
          <p:cNvPr id="22" name="Rounded Rectangle 21"/>
          <p:cNvSpPr/>
          <p:nvPr/>
        </p:nvSpPr>
        <p:spPr>
          <a:xfrm>
            <a:off x="1741932" y="2798064"/>
            <a:ext cx="3703320" cy="621792"/>
          </a:xfrm>
          <a:prstGeom prst="roundRect">
            <a:avLst>
              <a:gd name="adj" fmla="val 14000"/>
            </a:avLst>
          </a:prstGeom>
          <a:solidFill>
            <a:srgbClr val="947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879092" y="2971800"/>
            <a:ext cx="3429000" cy="256032"/>
          </a:xfrm>
          <a:prstGeom prst="rect">
            <a:avLst/>
          </a:prstGeom>
          <a:noFill/>
        </p:spPr>
        <p:txBody>
          <a:bodyPr wrap="square" lIns="0" tIns="0" rIns="0" bIns="0" anchor="t">
            <a:noAutofit/>
          </a:bodyPr>
          <a:lstStyle/>
          <a:p>
            <a:pPr algn="ctr">
              <a:lnSpc>
                <a:spcPct val="110000"/>
              </a:lnSpc>
              <a:spcBef>
                <a:spcPts val="0"/>
              </a:spcBef>
              <a:spcAft>
                <a:spcPts val="0"/>
              </a:spcAft>
            </a:pPr>
            <a:r>
              <a:rPr sz="1689" b="1">
                <a:solidFill>
                  <a:srgbClr val="FFFFFF"/>
                </a:solidFill>
                <a:latin typeface="Arial"/>
              </a:rPr>
              <a:t>POSTGRESQL RACES</a:t>
            </a:r>
          </a:p>
        </p:txBody>
      </p:sp>
      <p:sp>
        <p:nvSpPr>
          <p:cNvPr id="24" name="Rounded Rectangle 23"/>
          <p:cNvSpPr/>
          <p:nvPr/>
        </p:nvSpPr>
        <p:spPr>
          <a:xfrm>
            <a:off x="1156716" y="3593591"/>
            <a:ext cx="4873752" cy="621792"/>
          </a:xfrm>
          <a:prstGeom prst="roundRect">
            <a:avLst>
              <a:gd name="adj" fmla="val 14000"/>
            </a:avLst>
          </a:prstGeom>
          <a:solidFill>
            <a:srgbClr val="B49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293876" y="3767328"/>
            <a:ext cx="4599432" cy="256032"/>
          </a:xfrm>
          <a:prstGeom prst="rect">
            <a:avLst/>
          </a:prstGeom>
          <a:noFill/>
        </p:spPr>
        <p:txBody>
          <a:bodyPr wrap="square" lIns="0" tIns="0" rIns="0" bIns="0" anchor="t">
            <a:noAutofit/>
          </a:bodyPr>
          <a:lstStyle/>
          <a:p>
            <a:pPr algn="ctr">
              <a:lnSpc>
                <a:spcPct val="110000"/>
              </a:lnSpc>
              <a:spcBef>
                <a:spcPts val="0"/>
              </a:spcBef>
              <a:spcAft>
                <a:spcPts val="0"/>
              </a:spcAft>
            </a:pPr>
            <a:r>
              <a:rPr sz="1689" b="1">
                <a:solidFill>
                  <a:srgbClr val="22263B"/>
                </a:solidFill>
                <a:latin typeface="Arial"/>
              </a:rPr>
              <a:t>API / SERVICE INTEGRATION</a:t>
            </a:r>
          </a:p>
        </p:txBody>
      </p:sp>
      <p:sp>
        <p:nvSpPr>
          <p:cNvPr id="26" name="Rounded Rectangle 25"/>
          <p:cNvSpPr/>
          <p:nvPr/>
        </p:nvSpPr>
        <p:spPr>
          <a:xfrm>
            <a:off x="635508" y="4389120"/>
            <a:ext cx="5916168" cy="621792"/>
          </a:xfrm>
          <a:prstGeom prst="roundRect">
            <a:avLst>
              <a:gd name="adj" fmla="val 14000"/>
            </a:avLst>
          </a:prstGeom>
          <a:solidFill>
            <a:srgbClr val="D4C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2668" y="4562856"/>
            <a:ext cx="5641848" cy="256032"/>
          </a:xfrm>
          <a:prstGeom prst="rect">
            <a:avLst/>
          </a:prstGeom>
          <a:noFill/>
        </p:spPr>
        <p:txBody>
          <a:bodyPr wrap="square" lIns="0" tIns="0" rIns="0" bIns="0" anchor="t">
            <a:noAutofit/>
          </a:bodyPr>
          <a:lstStyle/>
          <a:p>
            <a:pPr algn="ctr">
              <a:lnSpc>
                <a:spcPct val="110000"/>
              </a:lnSpc>
              <a:spcBef>
                <a:spcPts val="0"/>
              </a:spcBef>
              <a:spcAft>
                <a:spcPts val="0"/>
              </a:spcAft>
            </a:pPr>
            <a:r>
              <a:rPr sz="1689" b="1">
                <a:solidFill>
                  <a:srgbClr val="22263B"/>
                </a:solidFill>
                <a:latin typeface="Arial"/>
              </a:rPr>
              <a:t>UNIT + PROPERTY TESTS</a:t>
            </a:r>
          </a:p>
        </p:txBody>
      </p:sp>
      <p:sp>
        <p:nvSpPr>
          <p:cNvPr id="28" name="Rounded Rectangle 27"/>
          <p:cNvSpPr/>
          <p:nvPr/>
        </p:nvSpPr>
        <p:spPr>
          <a:xfrm>
            <a:off x="7150608" y="2057400"/>
            <a:ext cx="4434840" cy="1179576"/>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0" y="2194560"/>
            <a:ext cx="4105655" cy="365760"/>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Hypothesis generates</a:t>
            </a:r>
          </a:p>
        </p:txBody>
      </p:sp>
      <p:sp>
        <p:nvSpPr>
          <p:cNvPr id="30" name="TextBox 29"/>
          <p:cNvSpPr txBox="1"/>
          <p:nvPr/>
        </p:nvSpPr>
        <p:spPr>
          <a:xfrm>
            <a:off x="7315200" y="2642616"/>
            <a:ext cx="4105655" cy="539496"/>
          </a:xfrm>
          <a:prstGeom prst="rect">
            <a:avLst/>
          </a:prstGeom>
          <a:noFill/>
        </p:spPr>
        <p:txBody>
          <a:bodyPr wrap="square" lIns="0" tIns="0" rIns="0" bIns="0" anchor="t">
            <a:noAutofit/>
          </a:bodyPr>
          <a:lstStyle/>
          <a:p>
            <a:pPr algn="l">
              <a:lnSpc>
                <a:spcPct val="110000"/>
              </a:lnSpc>
              <a:spcBef>
                <a:spcPts val="0"/>
              </a:spcBef>
              <a:spcAft>
                <a:spcPts val="0"/>
              </a:spcAft>
            </a:pPr>
            <a:r>
              <a:rPr sz="1800" b="0">
                <a:solidFill>
                  <a:srgbClr val="50576D"/>
                </a:solidFill>
                <a:latin typeface="Arial"/>
              </a:rPr>
              <a:t>Seat lists, group sizes and graphs</a:t>
            </a:r>
          </a:p>
        </p:txBody>
      </p:sp>
      <p:sp>
        <p:nvSpPr>
          <p:cNvPr id="31" name="Rounded Rectangle 30"/>
          <p:cNvSpPr/>
          <p:nvPr/>
        </p:nvSpPr>
        <p:spPr>
          <a:xfrm>
            <a:off x="7150608" y="3493008"/>
            <a:ext cx="4434840" cy="1179576"/>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315200" y="3630168"/>
            <a:ext cx="4105655" cy="365760"/>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389778"/>
                </a:solidFill>
                <a:latin typeface="Arial"/>
              </a:rPr>
              <a:t>Check invariants</a:t>
            </a:r>
          </a:p>
        </p:txBody>
      </p:sp>
      <p:sp>
        <p:nvSpPr>
          <p:cNvPr id="33" name="TextBox 32"/>
          <p:cNvSpPr txBox="1"/>
          <p:nvPr/>
        </p:nvSpPr>
        <p:spPr>
          <a:xfrm>
            <a:off x="7315200" y="4078224"/>
            <a:ext cx="4105655" cy="539496"/>
          </a:xfrm>
          <a:prstGeom prst="rect">
            <a:avLst/>
          </a:prstGeom>
          <a:noFill/>
        </p:spPr>
        <p:txBody>
          <a:bodyPr wrap="square" lIns="0" tIns="0" rIns="0" bIns="0" anchor="t">
            <a:noAutofit/>
          </a:bodyPr>
          <a:lstStyle/>
          <a:p>
            <a:pPr algn="l">
              <a:lnSpc>
                <a:spcPct val="110000"/>
              </a:lnSpc>
              <a:spcBef>
                <a:spcPts val="0"/>
              </a:spcBef>
              <a:spcAft>
                <a:spcPts val="0"/>
              </a:spcAft>
            </a:pPr>
            <a:r>
              <a:rPr sz="1800" b="0">
                <a:solidFill>
                  <a:srgbClr val="50576D"/>
                </a:solidFill>
                <a:latin typeface="Arial"/>
              </a:rPr>
              <a:t>unique ∧ free ∧ valid result count</a:t>
            </a:r>
          </a:p>
        </p:txBody>
      </p:sp>
      <p:sp>
        <p:nvSpPr>
          <p:cNvPr id="34" name="TextBox 33"/>
          <p:cNvSpPr txBox="1"/>
          <p:nvPr/>
        </p:nvSpPr>
        <p:spPr>
          <a:xfrm>
            <a:off x="7306056" y="4974336"/>
            <a:ext cx="4087368" cy="603504"/>
          </a:xfrm>
          <a:prstGeom prst="rect">
            <a:avLst/>
          </a:prstGeom>
          <a:noFill/>
        </p:spPr>
        <p:txBody>
          <a:bodyPr wrap="square" lIns="0" tIns="0" rIns="0" bIns="0" anchor="t">
            <a:noAutofit/>
          </a:bodyPr>
          <a:lstStyle/>
          <a:p>
            <a:pPr algn="l">
              <a:lnSpc>
                <a:spcPct val="110000"/>
              </a:lnSpc>
              <a:spcBef>
                <a:spcPts val="0"/>
              </a:spcBef>
              <a:spcAft>
                <a:spcPts val="0"/>
              </a:spcAft>
            </a:pPr>
            <a:r>
              <a:rPr sz="1750" b="0">
                <a:solidFill>
                  <a:srgbClr val="50576D"/>
                </a:solidFill>
                <a:latin typeface="Arial"/>
              </a:rPr>
              <a:t>Small graphs → independent brute force</a:t>
            </a:r>
          </a:p>
          <a:p>
            <a:pPr algn="l">
              <a:lnSpc>
                <a:spcPct val="110000"/>
              </a:lnSpc>
              <a:spcBef>
                <a:spcPts val="0"/>
              </a:spcBef>
              <a:spcAft>
                <a:spcPts val="0"/>
              </a:spcAft>
            </a:pPr>
            <a:r>
              <a:rPr sz="1750" b="0">
                <a:solidFill>
                  <a:srgbClr val="50576D"/>
                </a:solidFill>
                <a:latin typeface="Arial"/>
              </a:rPr>
              <a:t>Failing examples → shrink and inspect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QUALITY ENGINEERING / RECORDED RESULTS</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Quality evidence: show the scope</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Report executed checks accurately; coverage supports review but is not a correctness proof.</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49 PostgreSQL cases + 4 browser cases = 53 distinct cases; scoped core statement coverage is 98.49%.</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reports/validation.json • coverage-postgres.json • VALIDATION.md</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26 / 35</a:t>
            </a:r>
          </a:p>
        </p:txBody>
      </p:sp>
      <p:sp>
        <p:nvSpPr>
          <p:cNvPr id="20" name="Rounded Rectangle 19"/>
          <p:cNvSpPr/>
          <p:nvPr/>
        </p:nvSpPr>
        <p:spPr>
          <a:xfrm>
            <a:off x="603504" y="2011680"/>
            <a:ext cx="3557016" cy="1133856"/>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8096" y="2167128"/>
            <a:ext cx="3227832" cy="448056"/>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7450DF"/>
                </a:solidFill>
                <a:latin typeface="Arial"/>
              </a:rPr>
              <a:t>49</a:t>
            </a:r>
          </a:p>
        </p:txBody>
      </p:sp>
      <p:sp>
        <p:nvSpPr>
          <p:cNvPr id="22" name="TextBox 21"/>
          <p:cNvSpPr txBox="1"/>
          <p:nvPr/>
        </p:nvSpPr>
        <p:spPr>
          <a:xfrm>
            <a:off x="768096" y="2670048"/>
            <a:ext cx="3227832" cy="265176"/>
          </a:xfrm>
          <a:prstGeom prst="rect">
            <a:avLst/>
          </a:prstGeom>
          <a:noFill/>
        </p:spPr>
        <p:txBody>
          <a:bodyPr wrap="square" lIns="0" tIns="0" rIns="0" bIns="0" anchor="t">
            <a:noAutofit/>
          </a:bodyPr>
          <a:lstStyle/>
          <a:p>
            <a:pPr algn="l">
              <a:lnSpc>
                <a:spcPct val="110000"/>
              </a:lnSpc>
              <a:spcBef>
                <a:spcPts val="0"/>
              </a:spcBef>
              <a:spcAft>
                <a:spcPts val="0"/>
              </a:spcAft>
            </a:pPr>
            <a:r>
              <a:rPr sz="1650" b="1">
                <a:solidFill>
                  <a:srgbClr val="22263B"/>
                </a:solidFill>
                <a:latin typeface="Arial"/>
              </a:rPr>
              <a:t>PostgreSQL cases passed</a:t>
            </a:r>
          </a:p>
        </p:txBody>
      </p:sp>
      <p:sp>
        <p:nvSpPr>
          <p:cNvPr id="23" name="TextBox 22"/>
          <p:cNvSpPr txBox="1"/>
          <p:nvPr/>
        </p:nvSpPr>
        <p:spPr>
          <a:xfrm>
            <a:off x="768096" y="2944368"/>
            <a:ext cx="3227832" cy="137160"/>
          </a:xfrm>
          <a:prstGeom prst="rect">
            <a:avLst/>
          </a:prstGeom>
          <a:noFill/>
        </p:spPr>
        <p:txBody>
          <a:bodyPr wrap="square" lIns="0" tIns="0" rIns="0" bIns="0" anchor="t">
            <a:noAutofit/>
          </a:bodyPr>
          <a:lstStyle/>
          <a:p>
            <a:pPr algn="l">
              <a:lnSpc>
                <a:spcPct val="110000"/>
              </a:lnSpc>
              <a:spcBef>
                <a:spcPts val="0"/>
              </a:spcBef>
              <a:spcAft>
                <a:spcPts val="0"/>
              </a:spcAft>
            </a:pPr>
            <a:r>
              <a:rPr sz="1040" b="0">
                <a:solidFill>
                  <a:srgbClr val="7F869A"/>
                </a:solidFill>
                <a:latin typeface="Arial"/>
              </a:rPr>
              <a:t>4 browser cases skipped here</a:t>
            </a:r>
          </a:p>
        </p:txBody>
      </p:sp>
      <p:sp>
        <p:nvSpPr>
          <p:cNvPr id="24" name="Rounded Rectangle 23"/>
          <p:cNvSpPr/>
          <p:nvPr/>
        </p:nvSpPr>
        <p:spPr>
          <a:xfrm>
            <a:off x="4315968" y="2011680"/>
            <a:ext cx="3557016" cy="1133856"/>
          </a:xfrm>
          <a:prstGeom prst="roundRect">
            <a:avLst>
              <a:gd name="adj" fmla="val 14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80559" y="2167128"/>
            <a:ext cx="3227832" cy="448056"/>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4D85AE"/>
                </a:solidFill>
                <a:latin typeface="Arial"/>
              </a:rPr>
              <a:t>4</a:t>
            </a:r>
          </a:p>
        </p:txBody>
      </p:sp>
      <p:sp>
        <p:nvSpPr>
          <p:cNvPr id="26" name="TextBox 25"/>
          <p:cNvSpPr txBox="1"/>
          <p:nvPr/>
        </p:nvSpPr>
        <p:spPr>
          <a:xfrm>
            <a:off x="4480559" y="2670048"/>
            <a:ext cx="3227832" cy="265176"/>
          </a:xfrm>
          <a:prstGeom prst="rect">
            <a:avLst/>
          </a:prstGeom>
          <a:noFill/>
        </p:spPr>
        <p:txBody>
          <a:bodyPr wrap="square" lIns="0" tIns="0" rIns="0" bIns="0" anchor="t">
            <a:noAutofit/>
          </a:bodyPr>
          <a:lstStyle/>
          <a:p>
            <a:pPr algn="l">
              <a:lnSpc>
                <a:spcPct val="110000"/>
              </a:lnSpc>
              <a:spcBef>
                <a:spcPts val="0"/>
              </a:spcBef>
              <a:spcAft>
                <a:spcPts val="0"/>
              </a:spcAft>
            </a:pPr>
            <a:r>
              <a:rPr sz="1650" b="1">
                <a:solidFill>
                  <a:srgbClr val="22263B"/>
                </a:solidFill>
                <a:latin typeface="Arial"/>
              </a:rPr>
              <a:t>Browser E2E cases passed</a:t>
            </a:r>
          </a:p>
        </p:txBody>
      </p:sp>
      <p:sp>
        <p:nvSpPr>
          <p:cNvPr id="27" name="TextBox 26"/>
          <p:cNvSpPr txBox="1"/>
          <p:nvPr/>
        </p:nvSpPr>
        <p:spPr>
          <a:xfrm>
            <a:off x="4480559" y="2944368"/>
            <a:ext cx="3227832" cy="137160"/>
          </a:xfrm>
          <a:prstGeom prst="rect">
            <a:avLst/>
          </a:prstGeom>
          <a:noFill/>
        </p:spPr>
        <p:txBody>
          <a:bodyPr wrap="square" lIns="0" tIns="0" rIns="0" bIns="0" anchor="t">
            <a:noAutofit/>
          </a:bodyPr>
          <a:lstStyle/>
          <a:p>
            <a:pPr algn="l">
              <a:lnSpc>
                <a:spcPct val="110000"/>
              </a:lnSpc>
              <a:spcBef>
                <a:spcPts val="0"/>
              </a:spcBef>
              <a:spcAft>
                <a:spcPts val="0"/>
              </a:spcAft>
            </a:pPr>
            <a:r>
              <a:rPr sz="1040" b="0">
                <a:solidFill>
                  <a:srgbClr val="7F869A"/>
                </a:solidFill>
                <a:latin typeface="Arial"/>
              </a:rPr>
              <a:t>Separate browser invocation</a:t>
            </a:r>
          </a:p>
        </p:txBody>
      </p:sp>
      <p:sp>
        <p:nvSpPr>
          <p:cNvPr id="28" name="Rounded Rectangle 27"/>
          <p:cNvSpPr/>
          <p:nvPr/>
        </p:nvSpPr>
        <p:spPr>
          <a:xfrm>
            <a:off x="8028431" y="2011680"/>
            <a:ext cx="3557016" cy="1133856"/>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193023" y="2167128"/>
            <a:ext cx="3227832" cy="448056"/>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389778"/>
                </a:solidFill>
                <a:latin typeface="Arial"/>
              </a:rPr>
              <a:t>98.49%</a:t>
            </a:r>
          </a:p>
        </p:txBody>
      </p:sp>
      <p:sp>
        <p:nvSpPr>
          <p:cNvPr id="30" name="TextBox 29"/>
          <p:cNvSpPr txBox="1"/>
          <p:nvPr/>
        </p:nvSpPr>
        <p:spPr>
          <a:xfrm>
            <a:off x="8193023" y="2670048"/>
            <a:ext cx="3227832" cy="265176"/>
          </a:xfrm>
          <a:prstGeom prst="rect">
            <a:avLst/>
          </a:prstGeom>
          <a:noFill/>
        </p:spPr>
        <p:txBody>
          <a:bodyPr wrap="square" lIns="0" tIns="0" rIns="0" bIns="0" anchor="t">
            <a:noAutofit/>
          </a:bodyPr>
          <a:lstStyle/>
          <a:p>
            <a:pPr algn="l">
              <a:lnSpc>
                <a:spcPct val="110000"/>
              </a:lnSpc>
              <a:spcBef>
                <a:spcPts val="0"/>
              </a:spcBef>
              <a:spcAft>
                <a:spcPts val="0"/>
              </a:spcAft>
            </a:pPr>
            <a:r>
              <a:rPr sz="1650" b="1">
                <a:solidFill>
                  <a:srgbClr val="22263B"/>
                </a:solidFill>
                <a:latin typeface="Arial"/>
              </a:rPr>
              <a:t>Core statement coverage</a:t>
            </a:r>
          </a:p>
        </p:txBody>
      </p:sp>
      <p:sp>
        <p:nvSpPr>
          <p:cNvPr id="31" name="TextBox 30"/>
          <p:cNvSpPr txBox="1"/>
          <p:nvPr/>
        </p:nvSpPr>
        <p:spPr>
          <a:xfrm>
            <a:off x="8193023" y="2944368"/>
            <a:ext cx="3227832" cy="137160"/>
          </a:xfrm>
          <a:prstGeom prst="rect">
            <a:avLst/>
          </a:prstGeom>
          <a:noFill/>
        </p:spPr>
        <p:txBody>
          <a:bodyPr wrap="square" lIns="0" tIns="0" rIns="0" bIns="0" anchor="t">
            <a:noAutofit/>
          </a:bodyPr>
          <a:lstStyle/>
          <a:p>
            <a:pPr algn="l">
              <a:lnSpc>
                <a:spcPct val="110000"/>
              </a:lnSpc>
              <a:spcBef>
                <a:spcPts val="0"/>
              </a:spcBef>
              <a:spcAft>
                <a:spcPts val="0"/>
              </a:spcAft>
            </a:pPr>
            <a:r>
              <a:rPr sz="1040" b="0">
                <a:solidFill>
                  <a:srgbClr val="7F869A"/>
                </a:solidFill>
                <a:latin typeface="Arial"/>
              </a:rPr>
              <a:t>846 / 859 • UI and seed excluded</a:t>
            </a:r>
          </a:p>
        </p:txBody>
      </p:sp>
      <p:sp>
        <p:nvSpPr>
          <p:cNvPr id="32" name="Rounded Rectangle 31"/>
          <p:cNvSpPr/>
          <p:nvPr/>
        </p:nvSpPr>
        <p:spPr>
          <a:xfrm>
            <a:off x="612648" y="3474720"/>
            <a:ext cx="2596896" cy="1188720"/>
          </a:xfrm>
          <a:prstGeom prst="roundRect">
            <a:avLst>
              <a:gd name="adj" fmla="val 14000"/>
            </a:avLst>
          </a:prstGeom>
          <a:solidFill>
            <a:srgbClr val="F8F7FB"/>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77240" y="3611879"/>
            <a:ext cx="2267712" cy="365760"/>
          </a:xfrm>
          <a:prstGeom prst="rect">
            <a:avLst/>
          </a:prstGeom>
          <a:noFill/>
        </p:spPr>
        <p:txBody>
          <a:bodyPr wrap="square" lIns="0" tIns="0" rIns="0" bIns="0" anchor="t">
            <a:noAutofit/>
          </a:bodyPr>
          <a:lstStyle/>
          <a:p>
            <a:pPr algn="l">
              <a:lnSpc>
                <a:spcPct val="110000"/>
              </a:lnSpc>
              <a:spcBef>
                <a:spcPts val="0"/>
              </a:spcBef>
              <a:spcAft>
                <a:spcPts val="0"/>
              </a:spcAft>
            </a:pPr>
            <a:r>
              <a:rPr sz="2050" b="1">
                <a:solidFill>
                  <a:srgbClr val="22263B"/>
                </a:solidFill>
                <a:latin typeface="Arial"/>
              </a:rPr>
              <a:t>Ruff lint</a:t>
            </a:r>
          </a:p>
        </p:txBody>
      </p:sp>
      <p:sp>
        <p:nvSpPr>
          <p:cNvPr id="34" name="TextBox 33"/>
          <p:cNvSpPr txBox="1"/>
          <p:nvPr/>
        </p:nvSpPr>
        <p:spPr>
          <a:xfrm>
            <a:off x="777240" y="4059935"/>
            <a:ext cx="2267712" cy="548640"/>
          </a:xfrm>
          <a:prstGeom prst="rect">
            <a:avLst/>
          </a:prstGeom>
          <a:noFill/>
        </p:spPr>
        <p:txBody>
          <a:bodyPr wrap="square" lIns="0" tIns="0" rIns="0" bIns="0" anchor="t">
            <a:noAutofit/>
          </a:bodyPr>
          <a:lstStyle/>
          <a:p>
            <a:pPr algn="l">
              <a:lnSpc>
                <a:spcPct val="110000"/>
              </a:lnSpc>
              <a:spcBef>
                <a:spcPts val="0"/>
              </a:spcBef>
              <a:spcAft>
                <a:spcPts val="0"/>
              </a:spcAft>
            </a:pPr>
            <a:r>
              <a:rPr sz="1900" b="0">
                <a:solidFill>
                  <a:srgbClr val="50576D"/>
                </a:solidFill>
                <a:latin typeface="Arial"/>
              </a:rPr>
              <a:t>PASSED</a:t>
            </a:r>
          </a:p>
        </p:txBody>
      </p:sp>
      <p:sp>
        <p:nvSpPr>
          <p:cNvPr id="35" name="Rounded Rectangle 34"/>
          <p:cNvSpPr/>
          <p:nvPr/>
        </p:nvSpPr>
        <p:spPr>
          <a:xfrm>
            <a:off x="3401568" y="3474720"/>
            <a:ext cx="2596896" cy="1188720"/>
          </a:xfrm>
          <a:prstGeom prst="roundRect">
            <a:avLst>
              <a:gd name="adj" fmla="val 14000"/>
            </a:avLst>
          </a:prstGeom>
          <a:solidFill>
            <a:srgbClr val="F8F7FB"/>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566160" y="3611879"/>
            <a:ext cx="2267712" cy="365760"/>
          </a:xfrm>
          <a:prstGeom prst="rect">
            <a:avLst/>
          </a:prstGeom>
          <a:noFill/>
        </p:spPr>
        <p:txBody>
          <a:bodyPr wrap="square" lIns="0" tIns="0" rIns="0" bIns="0" anchor="t">
            <a:noAutofit/>
          </a:bodyPr>
          <a:lstStyle/>
          <a:p>
            <a:pPr algn="l">
              <a:lnSpc>
                <a:spcPct val="110000"/>
              </a:lnSpc>
              <a:spcBef>
                <a:spcPts val="0"/>
              </a:spcBef>
              <a:spcAft>
                <a:spcPts val="0"/>
              </a:spcAft>
            </a:pPr>
            <a:r>
              <a:rPr sz="2050" b="1">
                <a:solidFill>
                  <a:srgbClr val="22263B"/>
                </a:solidFill>
                <a:latin typeface="Arial"/>
              </a:rPr>
              <a:t>Formatting</a:t>
            </a:r>
          </a:p>
        </p:txBody>
      </p:sp>
      <p:sp>
        <p:nvSpPr>
          <p:cNvPr id="37" name="TextBox 36"/>
          <p:cNvSpPr txBox="1"/>
          <p:nvPr/>
        </p:nvSpPr>
        <p:spPr>
          <a:xfrm>
            <a:off x="3566160" y="4059935"/>
            <a:ext cx="2267712" cy="548640"/>
          </a:xfrm>
          <a:prstGeom prst="rect">
            <a:avLst/>
          </a:prstGeom>
          <a:noFill/>
        </p:spPr>
        <p:txBody>
          <a:bodyPr wrap="square" lIns="0" tIns="0" rIns="0" bIns="0" anchor="t">
            <a:noAutofit/>
          </a:bodyPr>
          <a:lstStyle/>
          <a:p>
            <a:pPr algn="l">
              <a:lnSpc>
                <a:spcPct val="110000"/>
              </a:lnSpc>
              <a:spcBef>
                <a:spcPts val="0"/>
              </a:spcBef>
              <a:spcAft>
                <a:spcPts val="0"/>
              </a:spcAft>
            </a:pPr>
            <a:r>
              <a:rPr sz="1900" b="0">
                <a:solidFill>
                  <a:srgbClr val="50576D"/>
                </a:solidFill>
                <a:latin typeface="Arial"/>
              </a:rPr>
              <a:t>PASSED</a:t>
            </a:r>
          </a:p>
        </p:txBody>
      </p:sp>
      <p:sp>
        <p:nvSpPr>
          <p:cNvPr id="38" name="Rounded Rectangle 37"/>
          <p:cNvSpPr/>
          <p:nvPr/>
        </p:nvSpPr>
        <p:spPr>
          <a:xfrm>
            <a:off x="6190488" y="3474720"/>
            <a:ext cx="2596896" cy="1188720"/>
          </a:xfrm>
          <a:prstGeom prst="roundRect">
            <a:avLst>
              <a:gd name="adj" fmla="val 14000"/>
            </a:avLst>
          </a:prstGeom>
          <a:solidFill>
            <a:srgbClr val="F8F7FB"/>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55079" y="3611879"/>
            <a:ext cx="2267712" cy="365760"/>
          </a:xfrm>
          <a:prstGeom prst="rect">
            <a:avLst/>
          </a:prstGeom>
          <a:noFill/>
        </p:spPr>
        <p:txBody>
          <a:bodyPr wrap="square" lIns="0" tIns="0" rIns="0" bIns="0" anchor="t">
            <a:noAutofit/>
          </a:bodyPr>
          <a:lstStyle/>
          <a:p>
            <a:pPr algn="l">
              <a:lnSpc>
                <a:spcPct val="110000"/>
              </a:lnSpc>
              <a:spcBef>
                <a:spcPts val="0"/>
              </a:spcBef>
              <a:spcAft>
                <a:spcPts val="0"/>
              </a:spcAft>
            </a:pPr>
            <a:r>
              <a:rPr sz="2050" b="1">
                <a:solidFill>
                  <a:srgbClr val="22263B"/>
                </a:solidFill>
                <a:latin typeface="Arial"/>
              </a:rPr>
              <a:t>Mypy</a:t>
            </a:r>
          </a:p>
        </p:txBody>
      </p:sp>
      <p:sp>
        <p:nvSpPr>
          <p:cNvPr id="40" name="TextBox 39"/>
          <p:cNvSpPr txBox="1"/>
          <p:nvPr/>
        </p:nvSpPr>
        <p:spPr>
          <a:xfrm>
            <a:off x="6355079" y="4059935"/>
            <a:ext cx="2267712" cy="548640"/>
          </a:xfrm>
          <a:prstGeom prst="rect">
            <a:avLst/>
          </a:prstGeom>
          <a:noFill/>
        </p:spPr>
        <p:txBody>
          <a:bodyPr wrap="square" lIns="0" tIns="0" rIns="0" bIns="0" anchor="t">
            <a:noAutofit/>
          </a:bodyPr>
          <a:lstStyle/>
          <a:p>
            <a:pPr algn="l">
              <a:lnSpc>
                <a:spcPct val="110000"/>
              </a:lnSpc>
              <a:spcBef>
                <a:spcPts val="0"/>
              </a:spcBef>
              <a:spcAft>
                <a:spcPts val="0"/>
              </a:spcAft>
            </a:pPr>
            <a:r>
              <a:rPr sz="1900" b="0">
                <a:solidFill>
                  <a:srgbClr val="50576D"/>
                </a:solidFill>
                <a:latin typeface="Arial"/>
              </a:rPr>
              <a:t>7 core modules</a:t>
            </a:r>
          </a:p>
        </p:txBody>
      </p:sp>
      <p:sp>
        <p:nvSpPr>
          <p:cNvPr id="41" name="Rounded Rectangle 40"/>
          <p:cNvSpPr/>
          <p:nvPr/>
        </p:nvSpPr>
        <p:spPr>
          <a:xfrm>
            <a:off x="8979407" y="3474720"/>
            <a:ext cx="2596896" cy="1188720"/>
          </a:xfrm>
          <a:prstGeom prst="roundRect">
            <a:avLst>
              <a:gd name="adj" fmla="val 14000"/>
            </a:avLst>
          </a:prstGeom>
          <a:solidFill>
            <a:srgbClr val="F8F7FB"/>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143999" y="3611879"/>
            <a:ext cx="2267712" cy="365760"/>
          </a:xfrm>
          <a:prstGeom prst="rect">
            <a:avLst/>
          </a:prstGeom>
          <a:noFill/>
        </p:spPr>
        <p:txBody>
          <a:bodyPr wrap="square" lIns="0" tIns="0" rIns="0" bIns="0" anchor="t">
            <a:noAutofit/>
          </a:bodyPr>
          <a:lstStyle/>
          <a:p>
            <a:pPr algn="l">
              <a:lnSpc>
                <a:spcPct val="110000"/>
              </a:lnSpc>
              <a:spcBef>
                <a:spcPts val="0"/>
              </a:spcBef>
              <a:spcAft>
                <a:spcPts val="0"/>
              </a:spcAft>
            </a:pPr>
            <a:r>
              <a:rPr sz="2050" b="1">
                <a:solidFill>
                  <a:srgbClr val="22263B"/>
                </a:solidFill>
                <a:latin typeface="Arial"/>
              </a:rPr>
              <a:t>Compilation</a:t>
            </a:r>
          </a:p>
        </p:txBody>
      </p:sp>
      <p:sp>
        <p:nvSpPr>
          <p:cNvPr id="43" name="TextBox 42"/>
          <p:cNvSpPr txBox="1"/>
          <p:nvPr/>
        </p:nvSpPr>
        <p:spPr>
          <a:xfrm>
            <a:off x="9143999" y="4059935"/>
            <a:ext cx="2267712" cy="548640"/>
          </a:xfrm>
          <a:prstGeom prst="rect">
            <a:avLst/>
          </a:prstGeom>
          <a:noFill/>
        </p:spPr>
        <p:txBody>
          <a:bodyPr wrap="square" lIns="0" tIns="0" rIns="0" bIns="0" anchor="t">
            <a:noAutofit/>
          </a:bodyPr>
          <a:lstStyle/>
          <a:p>
            <a:pPr algn="l">
              <a:lnSpc>
                <a:spcPct val="110000"/>
              </a:lnSpc>
              <a:spcBef>
                <a:spcPts val="0"/>
              </a:spcBef>
              <a:spcAft>
                <a:spcPts val="0"/>
              </a:spcAft>
            </a:pPr>
            <a:r>
              <a:rPr sz="1900" b="0">
                <a:solidFill>
                  <a:srgbClr val="50576D"/>
                </a:solidFill>
                <a:latin typeface="Arial"/>
              </a:rPr>
              <a:t>PASSED</a:t>
            </a:r>
          </a:p>
        </p:txBody>
      </p:sp>
      <p:sp>
        <p:nvSpPr>
          <p:cNvPr id="44" name="Rounded Rectangle 43"/>
          <p:cNvSpPr/>
          <p:nvPr/>
        </p:nvSpPr>
        <p:spPr>
          <a:xfrm>
            <a:off x="612648" y="5010912"/>
            <a:ext cx="10963656" cy="667512"/>
          </a:xfrm>
          <a:prstGeom prst="roundRect">
            <a:avLst>
              <a:gd name="adj" fmla="val 14000"/>
            </a:avLst>
          </a:prstGeom>
          <a:solidFill>
            <a:srgbClr val="FB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58952" y="5111496"/>
            <a:ext cx="10671048" cy="256032"/>
          </a:xfrm>
          <a:prstGeom prst="rect">
            <a:avLst/>
          </a:prstGeom>
          <a:noFill/>
        </p:spPr>
        <p:txBody>
          <a:bodyPr wrap="square" lIns="0" tIns="0" rIns="0" bIns="0" anchor="t">
            <a:noAutofit/>
          </a:bodyPr>
          <a:lstStyle/>
          <a:p>
            <a:pPr algn="l">
              <a:lnSpc>
                <a:spcPct val="110000"/>
              </a:lnSpc>
              <a:spcBef>
                <a:spcPts val="0"/>
              </a:spcBef>
              <a:spcAft>
                <a:spcPts val="0"/>
              </a:spcAft>
            </a:pPr>
            <a:r>
              <a:rPr sz="1670" b="1">
                <a:solidFill>
                  <a:srgbClr val="B97D38"/>
                </a:solidFill>
                <a:latin typeface="Arial"/>
              </a:rPr>
              <a:t>Scope matters</a:t>
            </a:r>
          </a:p>
        </p:txBody>
      </p:sp>
      <p:sp>
        <p:nvSpPr>
          <p:cNvPr id="46" name="TextBox 45"/>
          <p:cNvSpPr txBox="1"/>
          <p:nvPr/>
        </p:nvSpPr>
        <p:spPr>
          <a:xfrm>
            <a:off x="758952" y="5385816"/>
            <a:ext cx="10671048" cy="246887"/>
          </a:xfrm>
          <a:prstGeom prst="rect">
            <a:avLst/>
          </a:prstGeom>
          <a:noFill/>
        </p:spPr>
        <p:txBody>
          <a:bodyPr wrap="square" lIns="0" tIns="0" rIns="0" bIns="0" anchor="t">
            <a:noAutofit/>
          </a:bodyPr>
          <a:lstStyle/>
          <a:p>
            <a:pPr algn="l">
              <a:lnSpc>
                <a:spcPct val="110000"/>
              </a:lnSpc>
              <a:spcBef>
                <a:spcPts val="0"/>
              </a:spcBef>
              <a:spcAft>
                <a:spcPts val="0"/>
              </a:spcAft>
            </a:pPr>
            <a:r>
              <a:rPr sz="1540" b="0">
                <a:solidFill>
                  <a:srgbClr val="50576D"/>
                </a:solidFill>
                <a:latin typeface="Arial"/>
              </a:rPr>
              <a:t>SQLite repeats the core cases. Coverage is not full-UI or branch coverage; a deprecation warning remains.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DEVOPS / CI AND CONTAINERISATION</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DevOps: configured gates, honest status</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Automate repeatable checks and container configuration; do not confuse configuration with execution.</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CI defines quality/PostgreSQL and browser jobs; Dockerfile + Compose are included, but remote/container runs are unverified.</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ci.yml • Dockerfile • docker-compose.yml • VALIDATION.md</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27 / 35</a:t>
            </a:r>
          </a:p>
        </p:txBody>
      </p:sp>
      <p:sp>
        <p:nvSpPr>
          <p:cNvPr id="20" name="Rounded Rectangle 19"/>
          <p:cNvSpPr/>
          <p:nvPr/>
        </p:nvSpPr>
        <p:spPr>
          <a:xfrm>
            <a:off x="612648" y="2130552"/>
            <a:ext cx="2039112" cy="768096"/>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2376" y="2322576"/>
            <a:ext cx="1819656" cy="429768"/>
          </a:xfrm>
          <a:prstGeom prst="rect">
            <a:avLst/>
          </a:prstGeom>
          <a:noFill/>
        </p:spPr>
        <p:txBody>
          <a:bodyPr wrap="square" lIns="0" tIns="0" rIns="0" bIns="0" anchor="t">
            <a:noAutofit/>
          </a:bodyPr>
          <a:lstStyle/>
          <a:p>
            <a:pPr algn="ctr">
              <a:lnSpc>
                <a:spcPct val="110000"/>
              </a:lnSpc>
              <a:spcBef>
                <a:spcPts val="0"/>
              </a:spcBef>
              <a:spcAft>
                <a:spcPts val="0"/>
              </a:spcAft>
            </a:pPr>
            <a:r>
              <a:rPr sz="1820" b="1">
                <a:solidFill>
                  <a:srgbClr val="7450DF"/>
                </a:solidFill>
                <a:latin typeface="Arial"/>
              </a:rPr>
              <a:t>Commit / PR</a:t>
            </a:r>
          </a:p>
        </p:txBody>
      </p:sp>
      <p:cxnSp>
        <p:nvCxnSpPr>
          <p:cNvPr id="22" name="Connector 21"/>
          <p:cNvCxnSpPr/>
          <p:nvPr/>
        </p:nvCxnSpPr>
        <p:spPr>
          <a:xfrm>
            <a:off x="2505456" y="2532888"/>
            <a:ext cx="265176"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834640" y="2130552"/>
            <a:ext cx="2039112" cy="768096"/>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944368" y="2322576"/>
            <a:ext cx="1819656" cy="429768"/>
          </a:xfrm>
          <a:prstGeom prst="rect">
            <a:avLst/>
          </a:prstGeom>
          <a:noFill/>
        </p:spPr>
        <p:txBody>
          <a:bodyPr wrap="square" lIns="0" tIns="0" rIns="0" bIns="0" anchor="t">
            <a:noAutofit/>
          </a:bodyPr>
          <a:lstStyle/>
          <a:p>
            <a:pPr algn="ctr">
              <a:lnSpc>
                <a:spcPct val="110000"/>
              </a:lnSpc>
              <a:spcBef>
                <a:spcPts val="0"/>
              </a:spcBef>
              <a:spcAft>
                <a:spcPts val="0"/>
              </a:spcAft>
            </a:pPr>
            <a:r>
              <a:rPr sz="1820" b="1">
                <a:solidFill>
                  <a:srgbClr val="7450DF"/>
                </a:solidFill>
                <a:latin typeface="Arial"/>
              </a:rPr>
              <a:t>Lint + format</a:t>
            </a:r>
          </a:p>
        </p:txBody>
      </p:sp>
      <p:cxnSp>
        <p:nvCxnSpPr>
          <p:cNvPr id="25" name="Connector 24"/>
          <p:cNvCxnSpPr/>
          <p:nvPr/>
        </p:nvCxnSpPr>
        <p:spPr>
          <a:xfrm>
            <a:off x="4727448" y="2532888"/>
            <a:ext cx="265176"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056632" y="2130552"/>
            <a:ext cx="2039112" cy="768096"/>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166360" y="2322576"/>
            <a:ext cx="1819656" cy="429768"/>
          </a:xfrm>
          <a:prstGeom prst="rect">
            <a:avLst/>
          </a:prstGeom>
          <a:noFill/>
        </p:spPr>
        <p:txBody>
          <a:bodyPr wrap="square" lIns="0" tIns="0" rIns="0" bIns="0" anchor="t">
            <a:noAutofit/>
          </a:bodyPr>
          <a:lstStyle/>
          <a:p>
            <a:pPr algn="ctr">
              <a:lnSpc>
                <a:spcPct val="110000"/>
              </a:lnSpc>
              <a:spcBef>
                <a:spcPts val="0"/>
              </a:spcBef>
              <a:spcAft>
                <a:spcPts val="0"/>
              </a:spcAft>
            </a:pPr>
            <a:r>
              <a:rPr sz="1820" b="1">
                <a:solidFill>
                  <a:srgbClr val="7450DF"/>
                </a:solidFill>
                <a:latin typeface="Arial"/>
              </a:rPr>
              <a:t>Mypy</a:t>
            </a:r>
          </a:p>
        </p:txBody>
      </p:sp>
      <p:cxnSp>
        <p:nvCxnSpPr>
          <p:cNvPr id="28" name="Connector 27"/>
          <p:cNvCxnSpPr/>
          <p:nvPr/>
        </p:nvCxnSpPr>
        <p:spPr>
          <a:xfrm>
            <a:off x="6949440" y="2532888"/>
            <a:ext cx="265176"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278624" y="2130552"/>
            <a:ext cx="2039112" cy="768096"/>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88352" y="2322576"/>
            <a:ext cx="1819656" cy="429768"/>
          </a:xfrm>
          <a:prstGeom prst="rect">
            <a:avLst/>
          </a:prstGeom>
          <a:noFill/>
        </p:spPr>
        <p:txBody>
          <a:bodyPr wrap="square" lIns="0" tIns="0" rIns="0" bIns="0" anchor="t">
            <a:noAutofit/>
          </a:bodyPr>
          <a:lstStyle/>
          <a:p>
            <a:pPr algn="ctr">
              <a:lnSpc>
                <a:spcPct val="110000"/>
              </a:lnSpc>
              <a:spcBef>
                <a:spcPts val="0"/>
              </a:spcBef>
              <a:spcAft>
                <a:spcPts val="0"/>
              </a:spcAft>
            </a:pPr>
            <a:r>
              <a:rPr sz="1820" b="1">
                <a:solidFill>
                  <a:srgbClr val="7450DF"/>
                </a:solidFill>
                <a:latin typeface="Arial"/>
              </a:rPr>
              <a:t>PG tests / coverage</a:t>
            </a:r>
          </a:p>
        </p:txBody>
      </p:sp>
      <p:cxnSp>
        <p:nvCxnSpPr>
          <p:cNvPr id="31" name="Connector 30"/>
          <p:cNvCxnSpPr/>
          <p:nvPr/>
        </p:nvCxnSpPr>
        <p:spPr>
          <a:xfrm>
            <a:off x="9171432" y="2532888"/>
            <a:ext cx="265176" cy="0"/>
          </a:xfrm>
          <a:prstGeom prst="line">
            <a:avLst/>
          </a:prstGeom>
          <a:ln w="22860">
            <a:solidFill>
              <a:srgbClr val="B97D38"/>
            </a:solidFill>
            <a:tailEnd type="triangle" w="sm" len="sm"/>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500616" y="2130552"/>
            <a:ext cx="2039112" cy="768096"/>
          </a:xfrm>
          <a:prstGeom prst="roundRect">
            <a:avLst>
              <a:gd name="adj" fmla="val 14000"/>
            </a:avLst>
          </a:prstGeom>
          <a:solidFill>
            <a:srgbClr val="FB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610344" y="2322576"/>
            <a:ext cx="1819656" cy="429768"/>
          </a:xfrm>
          <a:prstGeom prst="rect">
            <a:avLst/>
          </a:prstGeom>
          <a:noFill/>
        </p:spPr>
        <p:txBody>
          <a:bodyPr wrap="square" lIns="0" tIns="0" rIns="0" bIns="0" anchor="t">
            <a:noAutofit/>
          </a:bodyPr>
          <a:lstStyle/>
          <a:p>
            <a:pPr algn="ctr">
              <a:lnSpc>
                <a:spcPct val="110000"/>
              </a:lnSpc>
              <a:spcBef>
                <a:spcPts val="0"/>
              </a:spcBef>
              <a:spcAft>
                <a:spcPts val="0"/>
              </a:spcAft>
            </a:pPr>
            <a:r>
              <a:rPr sz="1820" b="1">
                <a:solidFill>
                  <a:srgbClr val="B97D38"/>
                </a:solidFill>
                <a:latin typeface="Arial"/>
              </a:rPr>
              <a:t>Container build</a:t>
            </a:r>
          </a:p>
        </p:txBody>
      </p:sp>
      <p:sp>
        <p:nvSpPr>
          <p:cNvPr id="34" name="Rounded Rectangle 33"/>
          <p:cNvSpPr/>
          <p:nvPr/>
        </p:nvSpPr>
        <p:spPr>
          <a:xfrm>
            <a:off x="3483864" y="3172968"/>
            <a:ext cx="5276088" cy="393192"/>
          </a:xfrm>
          <a:prstGeom prst="roundRect">
            <a:avLst>
              <a:gd name="adj" fmla="val 14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566160" y="3223260"/>
            <a:ext cx="5111496" cy="329184"/>
          </a:xfrm>
          <a:prstGeom prst="rect">
            <a:avLst/>
          </a:prstGeom>
          <a:noFill/>
        </p:spPr>
        <p:txBody>
          <a:bodyPr wrap="square" lIns="0" tIns="0" rIns="0" bIns="0" anchor="t">
            <a:noAutofit/>
          </a:bodyPr>
          <a:lstStyle/>
          <a:p>
            <a:pPr algn="ctr">
              <a:lnSpc>
                <a:spcPct val="110000"/>
              </a:lnSpc>
              <a:spcBef>
                <a:spcPts val="0"/>
              </a:spcBef>
              <a:spcAft>
                <a:spcPts val="0"/>
              </a:spcAft>
            </a:pPr>
            <a:r>
              <a:rPr sz="1600" b="1">
                <a:solidFill>
                  <a:srgbClr val="4D85AE"/>
                </a:solidFill>
                <a:latin typeface="Arial"/>
              </a:rPr>
              <a:t>PARALLEL JOB: Chromium browser E2E</a:t>
            </a:r>
          </a:p>
        </p:txBody>
      </p:sp>
      <p:sp>
        <p:nvSpPr>
          <p:cNvPr id="36" name="Rounded Rectangle 35"/>
          <p:cNvSpPr/>
          <p:nvPr/>
        </p:nvSpPr>
        <p:spPr>
          <a:xfrm>
            <a:off x="713232" y="3895344"/>
            <a:ext cx="4736592" cy="1161288"/>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77824" y="4032504"/>
            <a:ext cx="4407407" cy="365760"/>
          </a:xfrm>
          <a:prstGeom prst="rect">
            <a:avLst/>
          </a:prstGeom>
          <a:noFill/>
        </p:spPr>
        <p:txBody>
          <a:bodyPr wrap="square" lIns="0" tIns="0" rIns="0" bIns="0" anchor="t">
            <a:noAutofit/>
          </a:bodyPr>
          <a:lstStyle/>
          <a:p>
            <a:pPr algn="l">
              <a:lnSpc>
                <a:spcPct val="110000"/>
              </a:lnSpc>
              <a:spcBef>
                <a:spcPts val="0"/>
              </a:spcBef>
              <a:spcAft>
                <a:spcPts val="0"/>
              </a:spcAft>
            </a:pPr>
            <a:r>
              <a:rPr sz="2200" b="1">
                <a:solidFill>
                  <a:srgbClr val="22263B"/>
                </a:solidFill>
                <a:latin typeface="Arial"/>
              </a:rPr>
              <a:t>Application container</a:t>
            </a:r>
          </a:p>
        </p:txBody>
      </p:sp>
      <p:sp>
        <p:nvSpPr>
          <p:cNvPr id="38" name="TextBox 37"/>
          <p:cNvSpPr txBox="1"/>
          <p:nvPr/>
        </p:nvSpPr>
        <p:spPr>
          <a:xfrm>
            <a:off x="877824" y="4480559"/>
            <a:ext cx="4407407" cy="521208"/>
          </a:xfrm>
          <a:prstGeom prst="rect">
            <a:avLst/>
          </a:prstGeom>
          <a:noFill/>
        </p:spPr>
        <p:txBody>
          <a:bodyPr wrap="square" lIns="0" tIns="0" rIns="0" bIns="0" anchor="t">
            <a:noAutofit/>
          </a:bodyPr>
          <a:lstStyle/>
          <a:p>
            <a:pPr algn="l">
              <a:lnSpc>
                <a:spcPct val="110000"/>
              </a:lnSpc>
              <a:spcBef>
                <a:spcPts val="0"/>
              </a:spcBef>
              <a:spcAft>
                <a:spcPts val="0"/>
              </a:spcAft>
            </a:pPr>
            <a:r>
              <a:rPr sz="1900" b="0">
                <a:solidFill>
                  <a:srgbClr val="50576D"/>
                </a:solidFill>
                <a:latin typeface="Arial"/>
              </a:rPr>
              <a:t>Non-root Python / NiceGUI</a:t>
            </a:r>
          </a:p>
        </p:txBody>
      </p:sp>
      <p:cxnSp>
        <p:nvCxnSpPr>
          <p:cNvPr id="39" name="Connector 38"/>
          <p:cNvCxnSpPr/>
          <p:nvPr/>
        </p:nvCxnSpPr>
        <p:spPr>
          <a:xfrm>
            <a:off x="5605272" y="4489704"/>
            <a:ext cx="630936" cy="0"/>
          </a:xfrm>
          <a:prstGeom prst="line">
            <a:avLst/>
          </a:prstGeom>
          <a:ln w="2286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391656" y="3895344"/>
            <a:ext cx="5056632" cy="1161288"/>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556248" y="4032504"/>
            <a:ext cx="4727448" cy="365760"/>
          </a:xfrm>
          <a:prstGeom prst="rect">
            <a:avLst/>
          </a:prstGeom>
          <a:noFill/>
        </p:spPr>
        <p:txBody>
          <a:bodyPr wrap="square" lIns="0" tIns="0" rIns="0" bIns="0" anchor="t">
            <a:noAutofit/>
          </a:bodyPr>
          <a:lstStyle/>
          <a:p>
            <a:pPr algn="l">
              <a:lnSpc>
                <a:spcPct val="110000"/>
              </a:lnSpc>
              <a:spcBef>
                <a:spcPts val="0"/>
              </a:spcBef>
              <a:spcAft>
                <a:spcPts val="0"/>
              </a:spcAft>
            </a:pPr>
            <a:r>
              <a:rPr sz="2200" b="1">
                <a:solidFill>
                  <a:srgbClr val="389778"/>
                </a:solidFill>
                <a:latin typeface="Arial"/>
              </a:rPr>
              <a:t>PostgreSQL container</a:t>
            </a:r>
          </a:p>
        </p:txBody>
      </p:sp>
      <p:sp>
        <p:nvSpPr>
          <p:cNvPr id="42" name="TextBox 41"/>
          <p:cNvSpPr txBox="1"/>
          <p:nvPr/>
        </p:nvSpPr>
        <p:spPr>
          <a:xfrm>
            <a:off x="6556248" y="4480559"/>
            <a:ext cx="4727448" cy="521208"/>
          </a:xfrm>
          <a:prstGeom prst="rect">
            <a:avLst/>
          </a:prstGeom>
          <a:noFill/>
        </p:spPr>
        <p:txBody>
          <a:bodyPr wrap="square" lIns="0" tIns="0" rIns="0" bIns="0" anchor="t">
            <a:noAutofit/>
          </a:bodyPr>
          <a:lstStyle/>
          <a:p>
            <a:pPr algn="l">
              <a:lnSpc>
                <a:spcPct val="110000"/>
              </a:lnSpc>
              <a:spcBef>
                <a:spcPts val="0"/>
              </a:spcBef>
              <a:spcAft>
                <a:spcPts val="0"/>
              </a:spcAft>
            </a:pPr>
            <a:r>
              <a:rPr sz="1900" b="0">
                <a:solidFill>
                  <a:srgbClr val="50576D"/>
                </a:solidFill>
                <a:latin typeface="Arial"/>
              </a:rPr>
              <a:t>Health check + persistent volume</a:t>
            </a:r>
          </a:p>
        </p:txBody>
      </p:sp>
      <p:sp>
        <p:nvSpPr>
          <p:cNvPr id="43" name="TextBox 42"/>
          <p:cNvSpPr txBox="1"/>
          <p:nvPr/>
        </p:nvSpPr>
        <p:spPr>
          <a:xfrm>
            <a:off x="923544" y="5440680"/>
            <a:ext cx="10332720" cy="246888"/>
          </a:xfrm>
          <a:prstGeom prst="rect">
            <a:avLst/>
          </a:prstGeom>
          <a:noFill/>
        </p:spPr>
        <p:txBody>
          <a:bodyPr wrap="square" lIns="0" tIns="0" rIns="0" bIns="0" anchor="t">
            <a:noAutofit/>
          </a:bodyPr>
          <a:lstStyle/>
          <a:p>
            <a:pPr algn="ctr">
              <a:lnSpc>
                <a:spcPct val="110000"/>
              </a:lnSpc>
              <a:spcBef>
                <a:spcPts val="0"/>
              </a:spcBef>
              <a:spcAft>
                <a:spcPts val="0"/>
              </a:spcAft>
            </a:pPr>
            <a:r>
              <a:rPr sz="1610" b="1">
                <a:solidFill>
                  <a:srgbClr val="B97D38"/>
                </a:solidFill>
                <a:latin typeface="Arial"/>
              </a:rPr>
              <a:t>STATUS: configured + structurally checked; not remotely executed or automatically deployed.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AI-ASSISTED ENGINEERING / PROMPTING AND CONTEXT</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AI-assisted: specify before generating</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Supply narrow context, explicit invariants and falsifiable tests; treat generated code as a draft.</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Use schemas + lock order + constraints to request a bounded change, then inspect and validate it.</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AI_REVIEW.md • SPECIFICATION.md • schemas.py</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28 / 35</a:t>
            </a:r>
          </a:p>
        </p:txBody>
      </p:sp>
      <p:sp>
        <p:nvSpPr>
          <p:cNvPr id="20" name="Rounded Rectangle 19"/>
          <p:cNvSpPr/>
          <p:nvPr/>
        </p:nvSpPr>
        <p:spPr>
          <a:xfrm>
            <a:off x="603504" y="1993392"/>
            <a:ext cx="6748272" cy="3566160"/>
          </a:xfrm>
          <a:prstGeom prst="roundRect">
            <a:avLst>
              <a:gd name="adj" fmla="val 14000"/>
            </a:avLst>
          </a:prstGeom>
          <a:solidFill>
            <a:srgbClr val="262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58952" y="2112264"/>
            <a:ext cx="6437376" cy="237744"/>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BBA9EF"/>
                </a:solidFill>
                <a:latin typeface="Arial"/>
              </a:rPr>
              <a:t>EXAMPLE PROMPT TEMPLATE • NOT A TRANSCRIPT</a:t>
            </a:r>
          </a:p>
        </p:txBody>
      </p:sp>
      <p:sp>
        <p:nvSpPr>
          <p:cNvPr id="22" name="TextBox 21"/>
          <p:cNvSpPr txBox="1"/>
          <p:nvPr/>
        </p:nvSpPr>
        <p:spPr>
          <a:xfrm>
            <a:off x="768096" y="2478024"/>
            <a:ext cx="6419088" cy="2990088"/>
          </a:xfrm>
          <a:prstGeom prst="rect">
            <a:avLst/>
          </a:prstGeom>
          <a:noFill/>
        </p:spPr>
        <p:txBody>
          <a:bodyPr wrap="square" lIns="0" tIns="0" rIns="0" bIns="0" anchor="t">
            <a:noAutofit/>
          </a:bodyPr>
          <a:lstStyle/>
          <a:p>
            <a:pPr algn="l">
              <a:lnSpc>
                <a:spcPct val="118000"/>
              </a:lnSpc>
              <a:spcBef>
                <a:spcPts val="0"/>
              </a:spcBef>
              <a:spcAft>
                <a:spcPts val="0"/>
              </a:spcAft>
            </a:pPr>
            <a:r>
              <a:rPr sz="1700" b="0">
                <a:solidFill>
                  <a:srgbClr val="F3EDFF"/>
                </a:solidFill>
                <a:latin typeface="Consolas"/>
              </a:rPr>
              <a:t>TASK: implement one booking command</a:t>
            </a:r>
          </a:p>
          <a:p>
            <a:pPr algn="l">
              <a:lnSpc>
                <a:spcPct val="118000"/>
              </a:lnSpc>
              <a:spcBef>
                <a:spcPts val="0"/>
              </a:spcBef>
              <a:spcAft>
                <a:spcPts val="0"/>
              </a:spcAft>
            </a:pPr>
            <a:r>
              <a:rPr sz="1700" b="0">
                <a:solidFill>
                  <a:srgbClr val="F3EDFF"/>
                </a:solidFill>
                <a:latin typeface="Consolas"/>
              </a:rPr>
              <a:t>CONTEXT: schema + service + relevant tests</a:t>
            </a:r>
          </a:p>
          <a:p>
            <a:pPr algn="l">
              <a:lnSpc>
                <a:spcPct val="118000"/>
              </a:lnSpc>
              <a:spcBef>
                <a:spcPts val="0"/>
              </a:spcBef>
              <a:spcAft>
                <a:spcPts val="0"/>
              </a:spcAft>
            </a:pPr>
            <a:r>
              <a:rPr sz="1700" b="0">
                <a:solidFill>
                  <a:srgbClr val="F3EDFF"/>
                </a:solidFill>
                <a:latin typeface="Consolas"/>
              </a:rPr>
              <a:t>MUST PRESERVE:</a:t>
            </a:r>
          </a:p>
          <a:p>
            <a:pPr algn="l">
              <a:lnSpc>
                <a:spcPct val="118000"/>
              </a:lnSpc>
              <a:spcBef>
                <a:spcPts val="0"/>
              </a:spcBef>
              <a:spcAft>
                <a:spcPts val="0"/>
              </a:spcAft>
            </a:pPr>
            <a:r>
              <a:rPr sz="1700" b="0">
                <a:solidFill>
                  <a:srgbClr val="F3EDFF"/>
                </a:solidFill>
                <a:latin typeface="Consolas"/>
              </a:rPr>
              <a:t>  unique seat ownership</a:t>
            </a:r>
          </a:p>
          <a:p>
            <a:pPr algn="l">
              <a:lnSpc>
                <a:spcPct val="118000"/>
              </a:lnSpc>
              <a:spcBef>
                <a:spcPts val="0"/>
              </a:spcBef>
              <a:spcAft>
                <a:spcPts val="0"/>
              </a:spcAft>
            </a:pPr>
            <a:r>
              <a:rPr sz="1700" b="0">
                <a:solidFill>
                  <a:srgbClr val="F3EDFF"/>
                </a:solidFill>
                <a:latin typeface="Consolas"/>
              </a:rPr>
              <a:t>  atomic booking / seats / event</a:t>
            </a:r>
          </a:p>
          <a:p>
            <a:pPr algn="l">
              <a:lnSpc>
                <a:spcPct val="118000"/>
              </a:lnSpc>
              <a:spcBef>
                <a:spcPts val="0"/>
              </a:spcBef>
              <a:spcAft>
                <a:spcPts val="0"/>
              </a:spcAft>
            </a:pPr>
            <a:r>
              <a:rPr sz="1700" b="0">
                <a:solidFill>
                  <a:srgbClr val="F3EDFF"/>
                </a:solidFill>
                <a:latin typeface="Consolas"/>
              </a:rPr>
              <a:t>  retry identity + FIFO + role checks</a:t>
            </a:r>
          </a:p>
          <a:p>
            <a:pPr algn="l">
              <a:lnSpc>
                <a:spcPct val="118000"/>
              </a:lnSpc>
              <a:spcBef>
                <a:spcPts val="0"/>
              </a:spcBef>
              <a:spcAft>
                <a:spcPts val="0"/>
              </a:spcAft>
            </a:pPr>
            <a:r>
              <a:rPr sz="1700" b="0">
                <a:solidFill>
                  <a:srgbClr val="F3EDFF"/>
                </a:solidFill>
                <a:latin typeface="Consolas"/>
              </a:rPr>
              <a:t>DELIVER: plan, code, edge cases, tests</a:t>
            </a:r>
          </a:p>
        </p:txBody>
      </p:sp>
      <p:sp>
        <p:nvSpPr>
          <p:cNvPr id="23" name="Rounded Rectangle 22"/>
          <p:cNvSpPr/>
          <p:nvPr/>
        </p:nvSpPr>
        <p:spPr>
          <a:xfrm>
            <a:off x="7635240" y="2039112"/>
            <a:ext cx="3931920" cy="1033271"/>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99831" y="2176272"/>
            <a:ext cx="3602736" cy="365760"/>
          </a:xfrm>
          <a:prstGeom prst="rect">
            <a:avLst/>
          </a:prstGeom>
          <a:noFill/>
        </p:spPr>
        <p:txBody>
          <a:bodyPr wrap="square" lIns="0" tIns="0" rIns="0" bIns="0" anchor="t">
            <a:noAutofit/>
          </a:bodyPr>
          <a:lstStyle/>
          <a:p>
            <a:pPr algn="l">
              <a:lnSpc>
                <a:spcPct val="110000"/>
              </a:lnSpc>
              <a:spcBef>
                <a:spcPts val="0"/>
              </a:spcBef>
              <a:spcAft>
                <a:spcPts val="0"/>
              </a:spcAft>
            </a:pPr>
            <a:r>
              <a:rPr sz="2080" b="1">
                <a:solidFill>
                  <a:srgbClr val="7450DF"/>
                </a:solidFill>
                <a:latin typeface="Arial"/>
              </a:rPr>
              <a:t>Narrow context</a:t>
            </a:r>
          </a:p>
        </p:txBody>
      </p:sp>
      <p:sp>
        <p:nvSpPr>
          <p:cNvPr id="25" name="TextBox 24"/>
          <p:cNvSpPr txBox="1"/>
          <p:nvPr/>
        </p:nvSpPr>
        <p:spPr>
          <a:xfrm>
            <a:off x="7799831" y="2624328"/>
            <a:ext cx="3602736" cy="393191"/>
          </a:xfrm>
          <a:prstGeom prst="rect">
            <a:avLst/>
          </a:prstGeom>
          <a:noFill/>
        </p:spPr>
        <p:txBody>
          <a:bodyPr wrap="square" lIns="0" tIns="0" rIns="0" bIns="0" anchor="t">
            <a:noAutofit/>
          </a:bodyPr>
          <a:lstStyle/>
          <a:p>
            <a:pPr algn="l">
              <a:lnSpc>
                <a:spcPct val="110000"/>
              </a:lnSpc>
              <a:spcBef>
                <a:spcPts val="0"/>
              </a:spcBef>
              <a:spcAft>
                <a:spcPts val="0"/>
              </a:spcAft>
            </a:pPr>
            <a:r>
              <a:rPr sz="1710" b="0">
                <a:solidFill>
                  <a:srgbClr val="50576D"/>
                </a:solidFill>
                <a:latin typeface="Arial"/>
              </a:rPr>
              <a:t>Contracts, not blind rewrites</a:t>
            </a:r>
          </a:p>
        </p:txBody>
      </p:sp>
      <p:sp>
        <p:nvSpPr>
          <p:cNvPr id="26" name="Rounded Rectangle 25"/>
          <p:cNvSpPr/>
          <p:nvPr/>
        </p:nvSpPr>
        <p:spPr>
          <a:xfrm>
            <a:off x="7635240" y="3264408"/>
            <a:ext cx="3931920" cy="1033271"/>
          </a:xfrm>
          <a:prstGeom prst="roundRect">
            <a:avLst>
              <a:gd name="adj" fmla="val 14000"/>
            </a:avLst>
          </a:prstGeom>
          <a:solidFill>
            <a:srgbClr val="EDF4FA"/>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99831" y="3401568"/>
            <a:ext cx="3602736" cy="365760"/>
          </a:xfrm>
          <a:prstGeom prst="rect">
            <a:avLst/>
          </a:prstGeom>
          <a:noFill/>
        </p:spPr>
        <p:txBody>
          <a:bodyPr wrap="square" lIns="0" tIns="0" rIns="0" bIns="0" anchor="t">
            <a:noAutofit/>
          </a:bodyPr>
          <a:lstStyle/>
          <a:p>
            <a:pPr algn="l">
              <a:lnSpc>
                <a:spcPct val="110000"/>
              </a:lnSpc>
              <a:spcBef>
                <a:spcPts val="0"/>
              </a:spcBef>
              <a:spcAft>
                <a:spcPts val="0"/>
              </a:spcAft>
            </a:pPr>
            <a:r>
              <a:rPr sz="2080" b="1">
                <a:solidFill>
                  <a:srgbClr val="4D85AE"/>
                </a:solidFill>
                <a:latin typeface="Arial"/>
              </a:rPr>
              <a:t>Generate a draft</a:t>
            </a:r>
          </a:p>
        </p:txBody>
      </p:sp>
      <p:sp>
        <p:nvSpPr>
          <p:cNvPr id="28" name="TextBox 27"/>
          <p:cNvSpPr txBox="1"/>
          <p:nvPr/>
        </p:nvSpPr>
        <p:spPr>
          <a:xfrm>
            <a:off x="7799831" y="3849624"/>
            <a:ext cx="3602736" cy="393191"/>
          </a:xfrm>
          <a:prstGeom prst="rect">
            <a:avLst/>
          </a:prstGeom>
          <a:noFill/>
        </p:spPr>
        <p:txBody>
          <a:bodyPr wrap="square" lIns="0" tIns="0" rIns="0" bIns="0" anchor="t">
            <a:noAutofit/>
          </a:bodyPr>
          <a:lstStyle/>
          <a:p>
            <a:pPr algn="l">
              <a:lnSpc>
                <a:spcPct val="110000"/>
              </a:lnSpc>
              <a:spcBef>
                <a:spcPts val="0"/>
              </a:spcBef>
              <a:spcAft>
                <a:spcPts val="0"/>
              </a:spcAft>
            </a:pPr>
            <a:r>
              <a:rPr sz="1710" b="0">
                <a:solidFill>
                  <a:srgbClr val="50576D"/>
                </a:solidFill>
                <a:latin typeface="Arial"/>
              </a:rPr>
              <a:t>Explain assumptions first</a:t>
            </a:r>
          </a:p>
        </p:txBody>
      </p:sp>
      <p:sp>
        <p:nvSpPr>
          <p:cNvPr id="29" name="Rounded Rectangle 28"/>
          <p:cNvSpPr/>
          <p:nvPr/>
        </p:nvSpPr>
        <p:spPr>
          <a:xfrm>
            <a:off x="7635240" y="4489704"/>
            <a:ext cx="3931920" cy="1033271"/>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99831" y="4626864"/>
            <a:ext cx="3602736" cy="365760"/>
          </a:xfrm>
          <a:prstGeom prst="rect">
            <a:avLst/>
          </a:prstGeom>
          <a:noFill/>
        </p:spPr>
        <p:txBody>
          <a:bodyPr wrap="square" lIns="0" tIns="0" rIns="0" bIns="0" anchor="t">
            <a:noAutofit/>
          </a:bodyPr>
          <a:lstStyle/>
          <a:p>
            <a:pPr algn="l">
              <a:lnSpc>
                <a:spcPct val="110000"/>
              </a:lnSpc>
              <a:spcBef>
                <a:spcPts val="0"/>
              </a:spcBef>
              <a:spcAft>
                <a:spcPts val="0"/>
              </a:spcAft>
            </a:pPr>
            <a:r>
              <a:rPr sz="2080" b="1">
                <a:solidFill>
                  <a:srgbClr val="389778"/>
                </a:solidFill>
                <a:latin typeface="Arial"/>
              </a:rPr>
              <a:t>Validate critically</a:t>
            </a:r>
          </a:p>
        </p:txBody>
      </p:sp>
      <p:sp>
        <p:nvSpPr>
          <p:cNvPr id="31" name="TextBox 30"/>
          <p:cNvSpPr txBox="1"/>
          <p:nvPr/>
        </p:nvSpPr>
        <p:spPr>
          <a:xfrm>
            <a:off x="7799831" y="5074920"/>
            <a:ext cx="3602736" cy="393191"/>
          </a:xfrm>
          <a:prstGeom prst="rect">
            <a:avLst/>
          </a:prstGeom>
          <a:noFill/>
        </p:spPr>
        <p:txBody>
          <a:bodyPr wrap="square" lIns="0" tIns="0" rIns="0" bIns="0" anchor="t">
            <a:noAutofit/>
          </a:bodyPr>
          <a:lstStyle/>
          <a:p>
            <a:pPr algn="l">
              <a:lnSpc>
                <a:spcPct val="110000"/>
              </a:lnSpc>
              <a:spcBef>
                <a:spcPts val="0"/>
              </a:spcBef>
              <a:spcAft>
                <a:spcPts val="0"/>
              </a:spcAft>
            </a:pPr>
            <a:r>
              <a:rPr sz="1710" b="0">
                <a:solidFill>
                  <a:srgbClr val="50576D"/>
                </a:solidFill>
                <a:latin typeface="Arial"/>
              </a:rPr>
              <a:t>Run independent checks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AI-ASSISTED ENGINEERING / CRITICAL REVIEW AND VALIDATION</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AI review: defects found, not hidden</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Inspect actual behavior, identify counterexamples, fix the cause and rerun checks.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Browser inspection and PostgreSQL tests caught UI-state, CSS and fixture defects in generated drafts.</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AI_REVIEW.md • tests-postgres.xml • ui-smoke.json</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29 / 35</a:t>
            </a:r>
          </a:p>
        </p:txBody>
      </p:sp>
      <p:sp>
        <p:nvSpPr>
          <p:cNvPr id="20" name="Rounded Rectangle 19"/>
          <p:cNvSpPr/>
          <p:nvPr/>
        </p:nvSpPr>
        <p:spPr>
          <a:xfrm>
            <a:off x="612648" y="2020824"/>
            <a:ext cx="3529584" cy="3639312"/>
          </a:xfrm>
          <a:prstGeom prst="roundRect">
            <a:avLst>
              <a:gd name="adj" fmla="val 14000"/>
            </a:avLst>
          </a:prstGeom>
          <a:solidFill>
            <a:srgbClr val="F8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77240" y="2194560"/>
            <a:ext cx="1709928" cy="301752"/>
          </a:xfrm>
          <a:prstGeom prst="roundRect">
            <a:avLst>
              <a:gd name="adj" fmla="val 14000"/>
            </a:avLst>
          </a:prstGeom>
          <a:solidFill>
            <a:srgbClr val="FB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9536" y="2244852"/>
            <a:ext cx="1545336" cy="237744"/>
          </a:xfrm>
          <a:prstGeom prst="rect">
            <a:avLst/>
          </a:prstGeom>
          <a:noFill/>
        </p:spPr>
        <p:txBody>
          <a:bodyPr wrap="square" lIns="0" tIns="0" rIns="0" bIns="0" anchor="t">
            <a:noAutofit/>
          </a:bodyPr>
          <a:lstStyle/>
          <a:p>
            <a:pPr algn="ctr">
              <a:lnSpc>
                <a:spcPct val="110000"/>
              </a:lnSpc>
              <a:spcBef>
                <a:spcPts val="0"/>
              </a:spcBef>
              <a:spcAft>
                <a:spcPts val="0"/>
              </a:spcAft>
            </a:pPr>
            <a:r>
              <a:rPr sz="1230" b="1">
                <a:solidFill>
                  <a:srgbClr val="BD5A65"/>
                </a:solidFill>
                <a:latin typeface="Arial"/>
              </a:rPr>
              <a:t>UI state</a:t>
            </a:r>
          </a:p>
        </p:txBody>
      </p:sp>
      <p:sp>
        <p:nvSpPr>
          <p:cNvPr id="23" name="TextBox 22"/>
          <p:cNvSpPr txBox="1"/>
          <p:nvPr/>
        </p:nvSpPr>
        <p:spPr>
          <a:xfrm>
            <a:off x="777240" y="2752344"/>
            <a:ext cx="3200400" cy="768096"/>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Committed booking;</a:t>
            </a:r>
          </a:p>
          <a:p>
            <a:pPr algn="l">
              <a:lnSpc>
                <a:spcPct val="110000"/>
              </a:lnSpc>
              <a:spcBef>
                <a:spcPts val="0"/>
              </a:spcBef>
              <a:spcAft>
                <a:spcPts val="0"/>
              </a:spcAft>
            </a:pPr>
            <a:r>
              <a:rPr sz="2100" b="1">
                <a:solidFill>
                  <a:srgbClr val="22263B"/>
                </a:solidFill>
                <a:latin typeface="Arial"/>
              </a:rPr>
              <a:t>success dialog invisible</a:t>
            </a:r>
          </a:p>
        </p:txBody>
      </p:sp>
      <p:sp>
        <p:nvSpPr>
          <p:cNvPr id="24" name="TextBox 23"/>
          <p:cNvSpPr txBox="1"/>
          <p:nvPr/>
        </p:nvSpPr>
        <p:spPr>
          <a:xfrm>
            <a:off x="777240" y="3758184"/>
            <a:ext cx="3200400" cy="630936"/>
          </a:xfrm>
          <a:prstGeom prst="rect">
            <a:avLst/>
          </a:prstGeom>
          <a:noFill/>
        </p:spPr>
        <p:txBody>
          <a:bodyPr wrap="square" lIns="0" tIns="0" rIns="0" bIns="0" anchor="t">
            <a:noAutofit/>
          </a:bodyPr>
          <a:lstStyle/>
          <a:p>
            <a:pPr algn="l">
              <a:lnSpc>
                <a:spcPct val="110000"/>
              </a:lnSpc>
              <a:spcBef>
                <a:spcPts val="0"/>
              </a:spcBef>
              <a:spcAft>
                <a:spcPts val="0"/>
              </a:spcAft>
            </a:pPr>
            <a:r>
              <a:rPr sz="1770" b="0">
                <a:solidFill>
                  <a:srgbClr val="50576D"/>
                </a:solidFill>
                <a:latin typeface="Arial"/>
              </a:rPr>
              <a:t>Browser workflow</a:t>
            </a:r>
          </a:p>
          <a:p>
            <a:pPr algn="l">
              <a:lnSpc>
                <a:spcPct val="110000"/>
              </a:lnSpc>
              <a:spcBef>
                <a:spcPts val="0"/>
              </a:spcBef>
              <a:spcAft>
                <a:spcPts val="0"/>
              </a:spcAft>
            </a:pPr>
            <a:r>
              <a:rPr sz="1770" b="0">
                <a:solidFill>
                  <a:srgbClr val="50576D"/>
                </a:solidFill>
                <a:latin typeface="Arial"/>
              </a:rPr>
              <a:t>+ DB/API inspection</a:t>
            </a:r>
          </a:p>
        </p:txBody>
      </p:sp>
      <p:cxnSp>
        <p:nvCxnSpPr>
          <p:cNvPr id="25" name="Connector 24"/>
          <p:cNvCxnSpPr/>
          <p:nvPr/>
        </p:nvCxnSpPr>
        <p:spPr>
          <a:xfrm>
            <a:off x="2368296" y="4535424"/>
            <a:ext cx="0" cy="237744"/>
          </a:xfrm>
          <a:prstGeom prst="line">
            <a:avLst/>
          </a:prstGeom>
          <a:ln w="2286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77240" y="4956048"/>
            <a:ext cx="3200400" cy="530352"/>
          </a:xfrm>
          <a:prstGeom prst="rect">
            <a:avLst/>
          </a:prstGeom>
          <a:noFill/>
        </p:spPr>
        <p:txBody>
          <a:bodyPr wrap="square" lIns="0" tIns="0" rIns="0" bIns="0" anchor="t">
            <a:noAutofit/>
          </a:bodyPr>
          <a:lstStyle/>
          <a:p>
            <a:pPr algn="l">
              <a:lnSpc>
                <a:spcPct val="110000"/>
              </a:lnSpc>
              <a:spcBef>
                <a:spcPts val="0"/>
              </a:spcBef>
              <a:spcAft>
                <a:spcPts val="0"/>
              </a:spcAft>
            </a:pPr>
            <a:r>
              <a:rPr sz="1800" b="1">
                <a:solidFill>
                  <a:srgbClr val="389778"/>
                </a:solidFill>
                <a:latin typeface="Arial"/>
              </a:rPr>
              <a:t>Root dialog outside</a:t>
            </a:r>
          </a:p>
          <a:p>
            <a:pPr algn="l">
              <a:lnSpc>
                <a:spcPct val="110000"/>
              </a:lnSpc>
              <a:spcBef>
                <a:spcPts val="0"/>
              </a:spcBef>
              <a:spcAft>
                <a:spcPts val="0"/>
              </a:spcAft>
            </a:pPr>
            <a:r>
              <a:rPr sz="1800" b="1">
                <a:solidFill>
                  <a:srgbClr val="389778"/>
                </a:solidFill>
                <a:latin typeface="Arial"/>
              </a:rPr>
              <a:t>closed parent</a:t>
            </a:r>
          </a:p>
        </p:txBody>
      </p:sp>
      <p:sp>
        <p:nvSpPr>
          <p:cNvPr id="27" name="Rounded Rectangle 26"/>
          <p:cNvSpPr/>
          <p:nvPr/>
        </p:nvSpPr>
        <p:spPr>
          <a:xfrm>
            <a:off x="4343400" y="2020824"/>
            <a:ext cx="3529584" cy="3639312"/>
          </a:xfrm>
          <a:prstGeom prst="roundRect">
            <a:avLst>
              <a:gd name="adj" fmla="val 14000"/>
            </a:avLst>
          </a:prstGeom>
          <a:solidFill>
            <a:srgbClr val="F8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4507992" y="2194560"/>
            <a:ext cx="1709928" cy="301752"/>
          </a:xfrm>
          <a:prstGeom prst="roundRect">
            <a:avLst>
              <a:gd name="adj" fmla="val 14000"/>
            </a:avLst>
          </a:prstGeom>
          <a:solidFill>
            <a:srgbClr val="FB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90288" y="2244852"/>
            <a:ext cx="1545336" cy="237744"/>
          </a:xfrm>
          <a:prstGeom prst="rect">
            <a:avLst/>
          </a:prstGeom>
          <a:noFill/>
        </p:spPr>
        <p:txBody>
          <a:bodyPr wrap="square" lIns="0" tIns="0" rIns="0" bIns="0" anchor="t">
            <a:noAutofit/>
          </a:bodyPr>
          <a:lstStyle/>
          <a:p>
            <a:pPr algn="ctr">
              <a:lnSpc>
                <a:spcPct val="110000"/>
              </a:lnSpc>
              <a:spcBef>
                <a:spcPts val="0"/>
              </a:spcBef>
              <a:spcAft>
                <a:spcPts val="0"/>
              </a:spcAft>
            </a:pPr>
            <a:r>
              <a:rPr sz="1230" b="1">
                <a:solidFill>
                  <a:srgbClr val="BD5A65"/>
                </a:solidFill>
                <a:latin typeface="Arial"/>
              </a:rPr>
              <a:t>CSS collision</a:t>
            </a:r>
          </a:p>
        </p:txBody>
      </p:sp>
      <p:sp>
        <p:nvSpPr>
          <p:cNvPr id="30" name="TextBox 29"/>
          <p:cNvSpPr txBox="1"/>
          <p:nvPr/>
        </p:nvSpPr>
        <p:spPr>
          <a:xfrm>
            <a:off x="4507992" y="2752344"/>
            <a:ext cx="3200400" cy="768096"/>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Admin rows collapse</a:t>
            </a:r>
          </a:p>
          <a:p>
            <a:pPr algn="l">
              <a:lnSpc>
                <a:spcPct val="110000"/>
              </a:lnSpc>
              <a:spcBef>
                <a:spcPts val="0"/>
              </a:spcBef>
              <a:spcAft>
                <a:spcPts val="0"/>
              </a:spcAft>
            </a:pPr>
            <a:r>
              <a:rPr sz="2100" b="1">
                <a:solidFill>
                  <a:srgbClr val="22263B"/>
                </a:solidFill>
                <a:latin typeface="Arial"/>
              </a:rPr>
              <a:t>into table-like layout</a:t>
            </a:r>
          </a:p>
        </p:txBody>
      </p:sp>
      <p:sp>
        <p:nvSpPr>
          <p:cNvPr id="31" name="TextBox 30"/>
          <p:cNvSpPr txBox="1"/>
          <p:nvPr/>
        </p:nvSpPr>
        <p:spPr>
          <a:xfrm>
            <a:off x="4507992" y="3758184"/>
            <a:ext cx="3200400" cy="630936"/>
          </a:xfrm>
          <a:prstGeom prst="rect">
            <a:avLst/>
          </a:prstGeom>
          <a:noFill/>
        </p:spPr>
        <p:txBody>
          <a:bodyPr wrap="square" lIns="0" tIns="0" rIns="0" bIns="0" anchor="t">
            <a:noAutofit/>
          </a:bodyPr>
          <a:lstStyle/>
          <a:p>
            <a:pPr algn="l">
              <a:lnSpc>
                <a:spcPct val="110000"/>
              </a:lnSpc>
              <a:spcBef>
                <a:spcPts val="0"/>
              </a:spcBef>
              <a:spcAft>
                <a:spcPts val="0"/>
              </a:spcAft>
            </a:pPr>
            <a:r>
              <a:rPr sz="1770" b="0">
                <a:solidFill>
                  <a:srgbClr val="50576D"/>
                </a:solidFill>
                <a:latin typeface="Arial"/>
              </a:rPr>
              <a:t>Visual layout</a:t>
            </a:r>
          </a:p>
          <a:p>
            <a:pPr algn="l">
              <a:lnSpc>
                <a:spcPct val="110000"/>
              </a:lnSpc>
              <a:spcBef>
                <a:spcPts val="0"/>
              </a:spcBef>
              <a:spcAft>
                <a:spcPts val="0"/>
              </a:spcAft>
            </a:pPr>
            <a:r>
              <a:rPr sz="1770" b="0">
                <a:solidFill>
                  <a:srgbClr val="50576D"/>
                </a:solidFill>
                <a:latin typeface="Arial"/>
              </a:rPr>
              <a:t>+ computed style</a:t>
            </a:r>
          </a:p>
        </p:txBody>
      </p:sp>
      <p:cxnSp>
        <p:nvCxnSpPr>
          <p:cNvPr id="32" name="Connector 31"/>
          <p:cNvCxnSpPr/>
          <p:nvPr/>
        </p:nvCxnSpPr>
        <p:spPr>
          <a:xfrm>
            <a:off x="6099048" y="4535424"/>
            <a:ext cx="0" cy="237744"/>
          </a:xfrm>
          <a:prstGeom prst="line">
            <a:avLst/>
          </a:prstGeom>
          <a:ln w="2286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07992" y="4956048"/>
            <a:ext cx="3200400" cy="530352"/>
          </a:xfrm>
          <a:prstGeom prst="rect">
            <a:avLst/>
          </a:prstGeom>
          <a:noFill/>
        </p:spPr>
        <p:txBody>
          <a:bodyPr wrap="square" lIns="0" tIns="0" rIns="0" bIns="0" anchor="t">
            <a:noAutofit/>
          </a:bodyPr>
          <a:lstStyle/>
          <a:p>
            <a:pPr algn="l">
              <a:lnSpc>
                <a:spcPct val="110000"/>
              </a:lnSpc>
              <a:spcBef>
                <a:spcPts val="0"/>
              </a:spcBef>
              <a:spcAft>
                <a:spcPts val="0"/>
              </a:spcAft>
            </a:pPr>
            <a:r>
              <a:rPr sz="1800" b="1">
                <a:solidFill>
                  <a:srgbClr val="389778"/>
                </a:solidFill>
                <a:latin typeface="Arial"/>
              </a:rPr>
              <a:t>Rename table-row</a:t>
            </a:r>
          </a:p>
          <a:p>
            <a:pPr algn="l">
              <a:lnSpc>
                <a:spcPct val="110000"/>
              </a:lnSpc>
              <a:spcBef>
                <a:spcPts val="0"/>
              </a:spcBef>
              <a:spcAft>
                <a:spcPts val="0"/>
              </a:spcAft>
            </a:pPr>
            <a:r>
              <a:rPr sz="1800" b="1">
                <a:solidFill>
                  <a:srgbClr val="389778"/>
                </a:solidFill>
                <a:latin typeface="Arial"/>
              </a:rPr>
              <a:t>to data-row</a:t>
            </a:r>
          </a:p>
        </p:txBody>
      </p:sp>
      <p:sp>
        <p:nvSpPr>
          <p:cNvPr id="34" name="Rounded Rectangle 33"/>
          <p:cNvSpPr/>
          <p:nvPr/>
        </p:nvSpPr>
        <p:spPr>
          <a:xfrm>
            <a:off x="8074152" y="2020824"/>
            <a:ext cx="3529584" cy="3639312"/>
          </a:xfrm>
          <a:prstGeom prst="roundRect">
            <a:avLst>
              <a:gd name="adj" fmla="val 14000"/>
            </a:avLst>
          </a:prstGeom>
          <a:solidFill>
            <a:srgbClr val="F8F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8238744" y="2194560"/>
            <a:ext cx="1709928" cy="301752"/>
          </a:xfrm>
          <a:prstGeom prst="roundRect">
            <a:avLst>
              <a:gd name="adj" fmla="val 14000"/>
            </a:avLst>
          </a:prstGeom>
          <a:solidFill>
            <a:srgbClr val="FB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321040" y="2244852"/>
            <a:ext cx="1545336" cy="237744"/>
          </a:xfrm>
          <a:prstGeom prst="rect">
            <a:avLst/>
          </a:prstGeom>
          <a:noFill/>
        </p:spPr>
        <p:txBody>
          <a:bodyPr wrap="square" lIns="0" tIns="0" rIns="0" bIns="0" anchor="t">
            <a:noAutofit/>
          </a:bodyPr>
          <a:lstStyle/>
          <a:p>
            <a:pPr algn="ctr">
              <a:lnSpc>
                <a:spcPct val="110000"/>
              </a:lnSpc>
              <a:spcBef>
                <a:spcPts val="0"/>
              </a:spcBef>
              <a:spcAft>
                <a:spcPts val="0"/>
              </a:spcAft>
            </a:pPr>
            <a:r>
              <a:rPr sz="1230" b="1">
                <a:solidFill>
                  <a:srgbClr val="BD5A65"/>
                </a:solidFill>
                <a:latin typeface="Arial"/>
              </a:rPr>
              <a:t>PostgreSQL</a:t>
            </a:r>
          </a:p>
        </p:txBody>
      </p:sp>
      <p:sp>
        <p:nvSpPr>
          <p:cNvPr id="37" name="TextBox 36"/>
          <p:cNvSpPr txBox="1"/>
          <p:nvPr/>
        </p:nvSpPr>
        <p:spPr>
          <a:xfrm>
            <a:off x="8238744" y="2752344"/>
            <a:ext cx="3200400" cy="768096"/>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Fixture IDs do not</a:t>
            </a:r>
          </a:p>
          <a:p>
            <a:pPr algn="l">
              <a:lnSpc>
                <a:spcPct val="110000"/>
              </a:lnSpc>
              <a:spcBef>
                <a:spcPts val="0"/>
              </a:spcBef>
              <a:spcAft>
                <a:spcPts val="0"/>
              </a:spcAft>
            </a:pPr>
            <a:r>
              <a:rPr sz="2100" b="1">
                <a:solidFill>
                  <a:srgbClr val="22263B"/>
                </a:solidFill>
                <a:latin typeface="Arial"/>
              </a:rPr>
              <a:t>advance sequences</a:t>
            </a:r>
          </a:p>
        </p:txBody>
      </p:sp>
      <p:sp>
        <p:nvSpPr>
          <p:cNvPr id="38" name="TextBox 37"/>
          <p:cNvSpPr txBox="1"/>
          <p:nvPr/>
        </p:nvSpPr>
        <p:spPr>
          <a:xfrm>
            <a:off x="8238744" y="3758184"/>
            <a:ext cx="3200400" cy="630936"/>
          </a:xfrm>
          <a:prstGeom prst="rect">
            <a:avLst/>
          </a:prstGeom>
          <a:noFill/>
        </p:spPr>
        <p:txBody>
          <a:bodyPr wrap="square" lIns="0" tIns="0" rIns="0" bIns="0" anchor="t">
            <a:noAutofit/>
          </a:bodyPr>
          <a:lstStyle/>
          <a:p>
            <a:pPr algn="l">
              <a:lnSpc>
                <a:spcPct val="110000"/>
              </a:lnSpc>
              <a:spcBef>
                <a:spcPts val="0"/>
              </a:spcBef>
              <a:spcAft>
                <a:spcPts val="0"/>
              </a:spcAft>
            </a:pPr>
            <a:r>
              <a:rPr sz="1770" b="0">
                <a:solidFill>
                  <a:srgbClr val="50576D"/>
                </a:solidFill>
                <a:latin typeface="Arial"/>
              </a:rPr>
              <a:t>First PG run:</a:t>
            </a:r>
          </a:p>
          <a:p>
            <a:pPr algn="l">
              <a:lnSpc>
                <a:spcPct val="110000"/>
              </a:lnSpc>
              <a:spcBef>
                <a:spcPts val="0"/>
              </a:spcBef>
              <a:spcAft>
                <a:spcPts val="0"/>
              </a:spcAft>
            </a:pPr>
            <a:r>
              <a:rPr sz="1770" b="0">
                <a:solidFill>
                  <a:srgbClr val="50576D"/>
                </a:solidFill>
                <a:latin typeface="Arial"/>
              </a:rPr>
              <a:t>4 failing cases</a:t>
            </a:r>
          </a:p>
        </p:txBody>
      </p:sp>
      <p:cxnSp>
        <p:nvCxnSpPr>
          <p:cNvPr id="39" name="Connector 38"/>
          <p:cNvCxnSpPr/>
          <p:nvPr/>
        </p:nvCxnSpPr>
        <p:spPr>
          <a:xfrm>
            <a:off x="9829800" y="4535424"/>
            <a:ext cx="0" cy="237744"/>
          </a:xfrm>
          <a:prstGeom prst="line">
            <a:avLst/>
          </a:prstGeom>
          <a:ln w="2286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238744" y="4956048"/>
            <a:ext cx="3200400" cy="530352"/>
          </a:xfrm>
          <a:prstGeom prst="rect">
            <a:avLst/>
          </a:prstGeom>
          <a:noFill/>
        </p:spPr>
        <p:txBody>
          <a:bodyPr wrap="square" lIns="0" tIns="0" rIns="0" bIns="0" anchor="t">
            <a:noAutofit/>
          </a:bodyPr>
          <a:lstStyle/>
          <a:p>
            <a:pPr algn="l">
              <a:lnSpc>
                <a:spcPct val="110000"/>
              </a:lnSpc>
              <a:spcBef>
                <a:spcPts val="0"/>
              </a:spcBef>
              <a:spcAft>
                <a:spcPts val="0"/>
              </a:spcAft>
            </a:pPr>
            <a:r>
              <a:rPr sz="1800" b="1">
                <a:solidFill>
                  <a:srgbClr val="389778"/>
                </a:solidFill>
                <a:latin typeface="Arial"/>
              </a:rPr>
              <a:t>Use DB-generated IDs;</a:t>
            </a:r>
          </a:p>
          <a:p>
            <a:pPr algn="l">
              <a:lnSpc>
                <a:spcPct val="110000"/>
              </a:lnSpc>
              <a:spcBef>
                <a:spcPts val="0"/>
              </a:spcBef>
              <a:spcAft>
                <a:spcPts val="0"/>
              </a:spcAft>
            </a:pPr>
            <a:r>
              <a:rPr sz="1800" b="1">
                <a:solidFill>
                  <a:srgbClr val="389778"/>
                </a:solidFill>
                <a:latin typeface="Arial"/>
              </a:rPr>
              <a:t>rerun succeeds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PERFORMANCE-AWARE PROGRAMMING / EVALUATION</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Performance: measure, then improve</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Benchmark reproducibly and disclose input size, repeats, memory scope and excluded costs.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Use native sorted() as a reference; prioritise SQL pagination/batched loading for the current admin bottleneck.</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reports/performance.csv • benchmark.py • VALIDATION.md</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30 / 35</a:t>
            </a:r>
          </a:p>
        </p:txBody>
      </p:sp>
      <p:sp>
        <p:nvSpPr>
          <p:cNvPr id="20" name="Rounded Rectangle 19"/>
          <p:cNvSpPr/>
          <p:nvPr/>
        </p:nvSpPr>
        <p:spPr>
          <a:xfrm>
            <a:off x="594360" y="2011680"/>
            <a:ext cx="6656832" cy="36118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3816" y="2203704"/>
            <a:ext cx="6217920" cy="603504"/>
          </a:xfrm>
          <a:prstGeom prst="rect">
            <a:avLst/>
          </a:prstGeom>
          <a:noFill/>
        </p:spPr>
        <p:txBody>
          <a:bodyPr wrap="square" lIns="0" tIns="0" rIns="0" bIns="0" anchor="t">
            <a:noAutofit/>
          </a:bodyPr>
          <a:lstStyle/>
          <a:p>
            <a:pPr algn="l">
              <a:lnSpc>
                <a:spcPct val="110000"/>
              </a:lnSpc>
              <a:spcBef>
                <a:spcPts val="0"/>
              </a:spcBef>
              <a:spcAft>
                <a:spcPts val="0"/>
              </a:spcAft>
            </a:pPr>
            <a:r>
              <a:rPr sz="2100" b="1">
                <a:solidFill>
                  <a:srgbClr val="22263B"/>
                </a:solidFill>
                <a:latin typeface="Arial"/>
              </a:rPr>
              <a:t>Same 5,000 items</a:t>
            </a:r>
          </a:p>
          <a:p>
            <a:pPr algn="l">
              <a:lnSpc>
                <a:spcPct val="110000"/>
              </a:lnSpc>
              <a:spcBef>
                <a:spcPts val="0"/>
              </a:spcBef>
              <a:spcAft>
                <a:spcPts val="0"/>
              </a:spcAft>
            </a:pPr>
            <a:r>
              <a:rPr sz="2100" b="1">
                <a:solidFill>
                  <a:srgbClr val="22263B"/>
                </a:solidFill>
                <a:latin typeface="Arial"/>
              </a:rPr>
              <a:t>Median per call over 5 repeats</a:t>
            </a:r>
          </a:p>
        </p:txBody>
      </p:sp>
      <p:sp>
        <p:nvSpPr>
          <p:cNvPr id="22" name="TextBox 21"/>
          <p:cNvSpPr txBox="1"/>
          <p:nvPr/>
        </p:nvSpPr>
        <p:spPr>
          <a:xfrm>
            <a:off x="850392" y="3310127"/>
            <a:ext cx="1645920" cy="512064"/>
          </a:xfrm>
          <a:prstGeom prst="rect">
            <a:avLst/>
          </a:prstGeom>
          <a:noFill/>
        </p:spPr>
        <p:txBody>
          <a:bodyPr wrap="square" lIns="0" tIns="0" rIns="0" bIns="0" anchor="t">
            <a:noAutofit/>
          </a:bodyPr>
          <a:lstStyle/>
          <a:p>
            <a:pPr algn="l">
              <a:lnSpc>
                <a:spcPct val="110000"/>
              </a:lnSpc>
              <a:spcBef>
                <a:spcPts val="0"/>
              </a:spcBef>
              <a:spcAft>
                <a:spcPts val="0"/>
              </a:spcAft>
            </a:pPr>
            <a:r>
              <a:rPr sz="1850" b="1">
                <a:solidFill>
                  <a:srgbClr val="7450DF"/>
                </a:solidFill>
                <a:latin typeface="Arial"/>
              </a:rPr>
              <a:t>Merge sort</a:t>
            </a:r>
          </a:p>
        </p:txBody>
      </p:sp>
      <p:sp>
        <p:nvSpPr>
          <p:cNvPr id="23" name="Rectangle 22"/>
          <p:cNvSpPr/>
          <p:nvPr/>
        </p:nvSpPr>
        <p:spPr>
          <a:xfrm>
            <a:off x="2633472" y="3227832"/>
            <a:ext cx="3529584" cy="320040"/>
          </a:xfrm>
          <a:prstGeom prst="rect">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633472" y="3703320"/>
            <a:ext cx="3730752" cy="301752"/>
          </a:xfrm>
          <a:prstGeom prst="rect">
            <a:avLst/>
          </a:prstGeom>
          <a:noFill/>
        </p:spPr>
        <p:txBody>
          <a:bodyPr wrap="square" lIns="0" tIns="0" rIns="0" bIns="0" anchor="t">
            <a:noAutofit/>
          </a:bodyPr>
          <a:lstStyle/>
          <a:p>
            <a:pPr algn="l">
              <a:lnSpc>
                <a:spcPct val="110000"/>
              </a:lnSpc>
              <a:spcBef>
                <a:spcPts val="0"/>
              </a:spcBef>
              <a:spcAft>
                <a:spcPts val="0"/>
              </a:spcAft>
            </a:pPr>
            <a:r>
              <a:rPr sz="1850" b="1">
                <a:solidFill>
                  <a:srgbClr val="7450DF"/>
                </a:solidFill>
                <a:latin typeface="Arial"/>
              </a:rPr>
              <a:t>12.50938 ms  /  159.10 KiB</a:t>
            </a:r>
          </a:p>
        </p:txBody>
      </p:sp>
      <p:sp>
        <p:nvSpPr>
          <p:cNvPr id="25" name="TextBox 24"/>
          <p:cNvSpPr txBox="1"/>
          <p:nvPr/>
        </p:nvSpPr>
        <p:spPr>
          <a:xfrm>
            <a:off x="850392" y="4389120"/>
            <a:ext cx="1645920" cy="512064"/>
          </a:xfrm>
          <a:prstGeom prst="rect">
            <a:avLst/>
          </a:prstGeom>
          <a:noFill/>
        </p:spPr>
        <p:txBody>
          <a:bodyPr wrap="square" lIns="0" tIns="0" rIns="0" bIns="0" anchor="t">
            <a:noAutofit/>
          </a:bodyPr>
          <a:lstStyle/>
          <a:p>
            <a:pPr algn="l">
              <a:lnSpc>
                <a:spcPct val="110000"/>
              </a:lnSpc>
              <a:spcBef>
                <a:spcPts val="0"/>
              </a:spcBef>
              <a:spcAft>
                <a:spcPts val="0"/>
              </a:spcAft>
            </a:pPr>
            <a:r>
              <a:rPr sz="1850" b="1">
                <a:solidFill>
                  <a:srgbClr val="389778"/>
                </a:solidFill>
                <a:latin typeface="Arial"/>
              </a:rPr>
              <a:t>Python sorted()</a:t>
            </a:r>
          </a:p>
        </p:txBody>
      </p:sp>
      <p:sp>
        <p:nvSpPr>
          <p:cNvPr id="26" name="Rectangle 25"/>
          <p:cNvSpPr/>
          <p:nvPr/>
        </p:nvSpPr>
        <p:spPr>
          <a:xfrm>
            <a:off x="2633472" y="4306824"/>
            <a:ext cx="163991" cy="320040"/>
          </a:xfrm>
          <a:prstGeom prst="rect">
            <a:avLst/>
          </a:prstGeom>
          <a:solidFill>
            <a:srgbClr val="389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633472" y="4782312"/>
            <a:ext cx="3730752" cy="301752"/>
          </a:xfrm>
          <a:prstGeom prst="rect">
            <a:avLst/>
          </a:prstGeom>
          <a:noFill/>
        </p:spPr>
        <p:txBody>
          <a:bodyPr wrap="square" lIns="0" tIns="0" rIns="0" bIns="0" anchor="t">
            <a:noAutofit/>
          </a:bodyPr>
          <a:lstStyle/>
          <a:p>
            <a:pPr algn="l">
              <a:lnSpc>
                <a:spcPct val="110000"/>
              </a:lnSpc>
              <a:spcBef>
                <a:spcPts val="0"/>
              </a:spcBef>
              <a:spcAft>
                <a:spcPts val="0"/>
              </a:spcAft>
            </a:pPr>
            <a:r>
              <a:rPr sz="1850" b="1">
                <a:solidFill>
                  <a:srgbClr val="389778"/>
                </a:solidFill>
                <a:latin typeface="Arial"/>
              </a:rPr>
              <a:t>0.58121 ms  /  58.51 KiB</a:t>
            </a:r>
          </a:p>
        </p:txBody>
      </p:sp>
      <p:sp>
        <p:nvSpPr>
          <p:cNvPr id="28" name="TextBox 27"/>
          <p:cNvSpPr txBox="1"/>
          <p:nvPr/>
        </p:nvSpPr>
        <p:spPr>
          <a:xfrm>
            <a:off x="859536" y="5303520"/>
            <a:ext cx="6117336" cy="210312"/>
          </a:xfrm>
          <a:prstGeom prst="rect">
            <a:avLst/>
          </a:prstGeom>
          <a:noFill/>
        </p:spPr>
        <p:txBody>
          <a:bodyPr wrap="square" lIns="0" tIns="0" rIns="0" bIns="0" anchor="t">
            <a:noAutofit/>
          </a:bodyPr>
          <a:lstStyle/>
          <a:p>
            <a:pPr algn="l">
              <a:lnSpc>
                <a:spcPct val="110000"/>
              </a:lnSpc>
              <a:spcBef>
                <a:spcPts val="0"/>
              </a:spcBef>
              <a:spcAft>
                <a:spcPts val="0"/>
              </a:spcAft>
            </a:pPr>
            <a:r>
              <a:rPr sz="1430" b="0">
                <a:solidFill>
                  <a:srgbClr val="7F869A"/>
                </a:solidFill>
                <a:latin typeface="Arial"/>
              </a:rPr>
              <a:t>Warm local calls; no browser / network / worker transport.</a:t>
            </a:r>
          </a:p>
        </p:txBody>
      </p:sp>
      <p:sp>
        <p:nvSpPr>
          <p:cNvPr id="29" name="Rounded Rectangle 28"/>
          <p:cNvSpPr/>
          <p:nvPr/>
        </p:nvSpPr>
        <p:spPr>
          <a:xfrm>
            <a:off x="7607808" y="2039112"/>
            <a:ext cx="3968496" cy="1133856"/>
          </a:xfrm>
          <a:prstGeom prst="roundRect">
            <a:avLst>
              <a:gd name="adj" fmla="val 14000"/>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72400" y="2194560"/>
            <a:ext cx="3639312" cy="448056"/>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4D85AE"/>
                </a:solidFill>
                <a:latin typeface="Arial"/>
              </a:rPr>
              <a:t>3.54711 ms</a:t>
            </a:r>
          </a:p>
        </p:txBody>
      </p:sp>
      <p:sp>
        <p:nvSpPr>
          <p:cNvPr id="31" name="TextBox 30"/>
          <p:cNvSpPr txBox="1"/>
          <p:nvPr/>
        </p:nvSpPr>
        <p:spPr>
          <a:xfrm>
            <a:off x="7772400" y="2697480"/>
            <a:ext cx="3639312" cy="265176"/>
          </a:xfrm>
          <a:prstGeom prst="rect">
            <a:avLst/>
          </a:prstGeom>
          <a:noFill/>
        </p:spPr>
        <p:txBody>
          <a:bodyPr wrap="square" lIns="0" tIns="0" rIns="0" bIns="0" anchor="t">
            <a:noAutofit/>
          </a:bodyPr>
          <a:lstStyle/>
          <a:p>
            <a:pPr algn="l">
              <a:lnSpc>
                <a:spcPct val="110000"/>
              </a:lnSpc>
              <a:spcBef>
                <a:spcPts val="0"/>
              </a:spcBef>
              <a:spcAft>
                <a:spcPts val="0"/>
              </a:spcAft>
            </a:pPr>
            <a:r>
              <a:rPr sz="1650" b="1">
                <a:solidFill>
                  <a:srgbClr val="22263B"/>
                </a:solidFill>
                <a:latin typeface="Arial"/>
              </a:rPr>
              <a:t>DB search: 15 services</a:t>
            </a:r>
          </a:p>
        </p:txBody>
      </p:sp>
      <p:sp>
        <p:nvSpPr>
          <p:cNvPr id="32" name="Rounded Rectangle 31"/>
          <p:cNvSpPr/>
          <p:nvPr/>
        </p:nvSpPr>
        <p:spPr>
          <a:xfrm>
            <a:off x="7607808" y="3410712"/>
            <a:ext cx="3968496" cy="1133856"/>
          </a:xfrm>
          <a:prstGeom prst="roundRect">
            <a:avLst>
              <a:gd name="adj" fmla="val 14000"/>
            </a:avLst>
          </a:prstGeom>
          <a:solidFill>
            <a:srgbClr val="FB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772400" y="3566160"/>
            <a:ext cx="3639312" cy="448056"/>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B97D38"/>
                </a:solidFill>
                <a:latin typeface="Arial"/>
              </a:rPr>
              <a:t>89.62213 ms</a:t>
            </a:r>
          </a:p>
        </p:txBody>
      </p:sp>
      <p:sp>
        <p:nvSpPr>
          <p:cNvPr id="34" name="TextBox 33"/>
          <p:cNvSpPr txBox="1"/>
          <p:nvPr/>
        </p:nvSpPr>
        <p:spPr>
          <a:xfrm>
            <a:off x="7772400" y="4069080"/>
            <a:ext cx="3639312" cy="265176"/>
          </a:xfrm>
          <a:prstGeom prst="rect">
            <a:avLst/>
          </a:prstGeom>
          <a:noFill/>
        </p:spPr>
        <p:txBody>
          <a:bodyPr wrap="square" lIns="0" tIns="0" rIns="0" bIns="0" anchor="t">
            <a:noAutofit/>
          </a:bodyPr>
          <a:lstStyle/>
          <a:p>
            <a:pPr algn="l">
              <a:lnSpc>
                <a:spcPct val="110000"/>
              </a:lnSpc>
              <a:spcBef>
                <a:spcPts val="0"/>
              </a:spcBef>
              <a:spcAft>
                <a:spcPts val="0"/>
              </a:spcAft>
            </a:pPr>
            <a:r>
              <a:rPr sz="1650" b="1">
                <a:solidFill>
                  <a:srgbClr val="22263B"/>
                </a:solidFill>
                <a:latin typeface="Arial"/>
              </a:rPr>
              <a:t>Admin: 46 bookings</a:t>
            </a:r>
          </a:p>
        </p:txBody>
      </p:sp>
      <p:sp>
        <p:nvSpPr>
          <p:cNvPr id="35" name="TextBox 34"/>
          <p:cNvSpPr txBox="1"/>
          <p:nvPr/>
        </p:nvSpPr>
        <p:spPr>
          <a:xfrm>
            <a:off x="7744968" y="4892040"/>
            <a:ext cx="3694176" cy="667512"/>
          </a:xfrm>
          <a:prstGeom prst="rect">
            <a:avLst/>
          </a:prstGeom>
          <a:noFill/>
        </p:spPr>
        <p:txBody>
          <a:bodyPr wrap="square" lIns="0" tIns="0" rIns="0" bIns="0" anchor="t">
            <a:noAutofit/>
          </a:bodyPr>
          <a:lstStyle/>
          <a:p>
            <a:pPr algn="l">
              <a:lnSpc>
                <a:spcPct val="110000"/>
              </a:lnSpc>
              <a:spcBef>
                <a:spcPts val="0"/>
              </a:spcBef>
              <a:spcAft>
                <a:spcPts val="0"/>
              </a:spcAft>
            </a:pPr>
            <a:r>
              <a:rPr sz="1810" b="1">
                <a:solidFill>
                  <a:srgbClr val="B97D38"/>
                </a:solidFill>
                <a:latin typeface="Arial"/>
              </a:rPr>
              <a:t>Next: SQL pagination,</a:t>
            </a:r>
          </a:p>
          <a:p>
            <a:pPr algn="l">
              <a:lnSpc>
                <a:spcPct val="110000"/>
              </a:lnSpc>
              <a:spcBef>
                <a:spcPts val="0"/>
              </a:spcBef>
              <a:spcAft>
                <a:spcPts val="0"/>
              </a:spcAft>
            </a:pPr>
            <a:r>
              <a:rPr sz="1810" b="1">
                <a:solidFill>
                  <a:srgbClr val="B97D38"/>
                </a:solidFill>
                <a:latin typeface="Arial"/>
              </a:rPr>
              <a:t>joined/batched loading,</a:t>
            </a:r>
          </a:p>
          <a:p>
            <a:pPr algn="l">
              <a:lnSpc>
                <a:spcPct val="110000"/>
              </a:lnSpc>
              <a:spcBef>
                <a:spcPts val="0"/>
              </a:spcBef>
              <a:spcAft>
                <a:spcPts val="0"/>
              </a:spcAft>
            </a:pPr>
            <a:r>
              <a:rPr sz="1810" b="1">
                <a:solidFill>
                  <a:srgbClr val="B97D38"/>
                </a:solidFill>
                <a:latin typeface="Arial"/>
              </a:rPr>
              <a:t>indexed aggregates.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OVERALL PROJECT DEMONSTRATION / COMPLETE WORKFLOW</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The complete Computational Thinking workflow</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Trace decisions from a real-world invariant to validated code, measured behavior and defence.</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AI review and testing repeat throughout; CI/containerisation is configured, while student defence remains required.</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ASSESSMENT_MAP.md • SPECIFICATION.md • VALIDATION.md</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31 / 35</a:t>
            </a:r>
          </a:p>
        </p:txBody>
      </p:sp>
      <p:sp>
        <p:nvSpPr>
          <p:cNvPr id="20" name="Rounded Rectangle 19"/>
          <p:cNvSpPr/>
          <p:nvPr/>
        </p:nvSpPr>
        <p:spPr>
          <a:xfrm>
            <a:off x="649224" y="1984248"/>
            <a:ext cx="2596896" cy="713232"/>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758952" y="2157984"/>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58952" y="2194560"/>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100" b="1">
                <a:solidFill>
                  <a:srgbClr val="FFFFFF"/>
                </a:solidFill>
                <a:latin typeface="Arial"/>
              </a:rPr>
              <a:t>1</a:t>
            </a:r>
          </a:p>
        </p:txBody>
      </p:sp>
      <p:sp>
        <p:nvSpPr>
          <p:cNvPr id="23" name="TextBox 22"/>
          <p:cNvSpPr txBox="1"/>
          <p:nvPr/>
        </p:nvSpPr>
        <p:spPr>
          <a:xfrm>
            <a:off x="1197864" y="2139696"/>
            <a:ext cx="1920240" cy="493776"/>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7450DF"/>
                </a:solidFill>
                <a:latin typeface="Arial"/>
              </a:rPr>
              <a:t>Real-world</a:t>
            </a:r>
          </a:p>
          <a:p>
            <a:pPr algn="l">
              <a:lnSpc>
                <a:spcPct val="110000"/>
              </a:lnSpc>
              <a:spcBef>
                <a:spcPts val="0"/>
              </a:spcBef>
              <a:spcAft>
                <a:spcPts val="0"/>
              </a:spcAft>
            </a:pPr>
            <a:r>
              <a:rPr sz="1720" b="1">
                <a:solidFill>
                  <a:srgbClr val="7450DF"/>
                </a:solidFill>
                <a:latin typeface="Arial"/>
              </a:rPr>
              <a:t>problem</a:t>
            </a:r>
          </a:p>
        </p:txBody>
      </p:sp>
      <p:cxnSp>
        <p:nvCxnSpPr>
          <p:cNvPr id="24" name="Connector 23"/>
          <p:cNvCxnSpPr/>
          <p:nvPr/>
        </p:nvCxnSpPr>
        <p:spPr>
          <a:xfrm>
            <a:off x="3273552" y="2340864"/>
            <a:ext cx="118872" cy="0"/>
          </a:xfrm>
          <a:prstGeom prst="line">
            <a:avLst/>
          </a:prstGeom>
          <a:ln w="1651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429000" y="1984248"/>
            <a:ext cx="2596896" cy="713232"/>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3538728" y="2157984"/>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538728" y="2194560"/>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100" b="1">
                <a:solidFill>
                  <a:srgbClr val="FFFFFF"/>
                </a:solidFill>
                <a:latin typeface="Arial"/>
              </a:rPr>
              <a:t>2</a:t>
            </a:r>
          </a:p>
        </p:txBody>
      </p:sp>
      <p:sp>
        <p:nvSpPr>
          <p:cNvPr id="28" name="TextBox 27"/>
          <p:cNvSpPr txBox="1"/>
          <p:nvPr/>
        </p:nvSpPr>
        <p:spPr>
          <a:xfrm>
            <a:off x="3977639" y="2139696"/>
            <a:ext cx="1920240" cy="493776"/>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7450DF"/>
                </a:solidFill>
                <a:latin typeface="Arial"/>
              </a:rPr>
              <a:t>Computational</a:t>
            </a:r>
          </a:p>
          <a:p>
            <a:pPr algn="l">
              <a:lnSpc>
                <a:spcPct val="110000"/>
              </a:lnSpc>
              <a:spcBef>
                <a:spcPts val="0"/>
              </a:spcBef>
              <a:spcAft>
                <a:spcPts val="0"/>
              </a:spcAft>
            </a:pPr>
            <a:r>
              <a:rPr sz="1720" b="1">
                <a:solidFill>
                  <a:srgbClr val="7450DF"/>
                </a:solidFill>
                <a:latin typeface="Arial"/>
              </a:rPr>
              <a:t>thinking</a:t>
            </a:r>
          </a:p>
        </p:txBody>
      </p:sp>
      <p:cxnSp>
        <p:nvCxnSpPr>
          <p:cNvPr id="29" name="Connector 28"/>
          <p:cNvCxnSpPr/>
          <p:nvPr/>
        </p:nvCxnSpPr>
        <p:spPr>
          <a:xfrm>
            <a:off x="6053328" y="2340864"/>
            <a:ext cx="118872" cy="0"/>
          </a:xfrm>
          <a:prstGeom prst="line">
            <a:avLst/>
          </a:prstGeom>
          <a:ln w="1651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208776" y="1984248"/>
            <a:ext cx="2596896" cy="713232"/>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6318504" y="2157984"/>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18504" y="2194560"/>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100" b="1">
                <a:solidFill>
                  <a:srgbClr val="FFFFFF"/>
                </a:solidFill>
                <a:latin typeface="Arial"/>
              </a:rPr>
              <a:t>3</a:t>
            </a:r>
          </a:p>
        </p:txBody>
      </p:sp>
      <p:sp>
        <p:nvSpPr>
          <p:cNvPr id="33" name="TextBox 32"/>
          <p:cNvSpPr txBox="1"/>
          <p:nvPr/>
        </p:nvSpPr>
        <p:spPr>
          <a:xfrm>
            <a:off x="6757416" y="2139696"/>
            <a:ext cx="1920240" cy="493776"/>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7450DF"/>
                </a:solidFill>
                <a:latin typeface="Arial"/>
              </a:rPr>
              <a:t>Decomposition</a:t>
            </a:r>
          </a:p>
          <a:p>
            <a:pPr algn="l">
              <a:lnSpc>
                <a:spcPct val="110000"/>
              </a:lnSpc>
              <a:spcBef>
                <a:spcPts val="0"/>
              </a:spcBef>
              <a:spcAft>
                <a:spcPts val="0"/>
              </a:spcAft>
            </a:pPr>
            <a:r>
              <a:rPr sz="1720" b="1">
                <a:solidFill>
                  <a:srgbClr val="7450DF"/>
                </a:solidFill>
                <a:latin typeface="Arial"/>
              </a:rPr>
              <a:t>+ abstraction</a:t>
            </a:r>
          </a:p>
        </p:txBody>
      </p:sp>
      <p:cxnSp>
        <p:nvCxnSpPr>
          <p:cNvPr id="34" name="Connector 33"/>
          <p:cNvCxnSpPr/>
          <p:nvPr/>
        </p:nvCxnSpPr>
        <p:spPr>
          <a:xfrm>
            <a:off x="8833104" y="2340864"/>
            <a:ext cx="118872" cy="0"/>
          </a:xfrm>
          <a:prstGeom prst="line">
            <a:avLst/>
          </a:prstGeom>
          <a:ln w="1651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988552" y="1984248"/>
            <a:ext cx="2596896" cy="713232"/>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9098280" y="2157984"/>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098280" y="2194560"/>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100" b="1">
                <a:solidFill>
                  <a:srgbClr val="FFFFFF"/>
                </a:solidFill>
                <a:latin typeface="Arial"/>
              </a:rPr>
              <a:t>4</a:t>
            </a:r>
          </a:p>
        </p:txBody>
      </p:sp>
      <p:sp>
        <p:nvSpPr>
          <p:cNvPr id="38" name="TextBox 37"/>
          <p:cNvSpPr txBox="1"/>
          <p:nvPr/>
        </p:nvSpPr>
        <p:spPr>
          <a:xfrm>
            <a:off x="9537192" y="2139696"/>
            <a:ext cx="1920240" cy="493776"/>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7450DF"/>
                </a:solidFill>
                <a:latin typeface="Arial"/>
              </a:rPr>
              <a:t>Algorithm +</a:t>
            </a:r>
          </a:p>
          <a:p>
            <a:pPr algn="l">
              <a:lnSpc>
                <a:spcPct val="110000"/>
              </a:lnSpc>
              <a:spcBef>
                <a:spcPts val="0"/>
              </a:spcBef>
              <a:spcAft>
                <a:spcPts val="0"/>
              </a:spcAft>
            </a:pPr>
            <a:r>
              <a:rPr sz="1720" b="1">
                <a:solidFill>
                  <a:srgbClr val="7450DF"/>
                </a:solidFill>
                <a:latin typeface="Arial"/>
              </a:rPr>
              <a:t>data selection</a:t>
            </a:r>
          </a:p>
        </p:txBody>
      </p:sp>
      <p:cxnSp>
        <p:nvCxnSpPr>
          <p:cNvPr id="39" name="Connector 38"/>
          <p:cNvCxnSpPr/>
          <p:nvPr/>
        </p:nvCxnSpPr>
        <p:spPr>
          <a:xfrm>
            <a:off x="10296144" y="2743200"/>
            <a:ext cx="0" cy="109728"/>
          </a:xfrm>
          <a:prstGeom prst="line">
            <a:avLst/>
          </a:prstGeom>
          <a:ln w="1651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8988552" y="2898648"/>
            <a:ext cx="2596896" cy="713232"/>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9098280" y="3072384"/>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098280" y="3108960"/>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100" b="1">
                <a:solidFill>
                  <a:srgbClr val="FFFFFF"/>
                </a:solidFill>
                <a:latin typeface="Arial"/>
              </a:rPr>
              <a:t>5</a:t>
            </a:r>
          </a:p>
        </p:txBody>
      </p:sp>
      <p:sp>
        <p:nvSpPr>
          <p:cNvPr id="43" name="TextBox 42"/>
          <p:cNvSpPr txBox="1"/>
          <p:nvPr/>
        </p:nvSpPr>
        <p:spPr>
          <a:xfrm>
            <a:off x="9537192" y="3054096"/>
            <a:ext cx="1920240" cy="493776"/>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7450DF"/>
                </a:solidFill>
                <a:latin typeface="Arial"/>
              </a:rPr>
              <a:t>Python</a:t>
            </a:r>
          </a:p>
          <a:p>
            <a:pPr algn="l">
              <a:lnSpc>
                <a:spcPct val="110000"/>
              </a:lnSpc>
              <a:spcBef>
                <a:spcPts val="0"/>
              </a:spcBef>
              <a:spcAft>
                <a:spcPts val="0"/>
              </a:spcAft>
            </a:pPr>
            <a:r>
              <a:rPr sz="1720" b="1">
                <a:solidFill>
                  <a:srgbClr val="7450DF"/>
                </a:solidFill>
                <a:latin typeface="Arial"/>
              </a:rPr>
              <a:t>implementation</a:t>
            </a:r>
          </a:p>
        </p:txBody>
      </p:sp>
      <p:cxnSp>
        <p:nvCxnSpPr>
          <p:cNvPr id="44" name="Connector 43"/>
          <p:cNvCxnSpPr/>
          <p:nvPr/>
        </p:nvCxnSpPr>
        <p:spPr>
          <a:xfrm flipH="1">
            <a:off x="8833104" y="3255264"/>
            <a:ext cx="128016" cy="0"/>
          </a:xfrm>
          <a:prstGeom prst="line">
            <a:avLst/>
          </a:prstGeom>
          <a:ln w="1651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6208776" y="2898648"/>
            <a:ext cx="2596896" cy="713232"/>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6318504" y="3072384"/>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318504" y="3108960"/>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100" b="1">
                <a:solidFill>
                  <a:srgbClr val="FFFFFF"/>
                </a:solidFill>
                <a:latin typeface="Arial"/>
              </a:rPr>
              <a:t>6</a:t>
            </a:r>
          </a:p>
        </p:txBody>
      </p:sp>
      <p:sp>
        <p:nvSpPr>
          <p:cNvPr id="48" name="TextBox 47"/>
          <p:cNvSpPr txBox="1"/>
          <p:nvPr/>
        </p:nvSpPr>
        <p:spPr>
          <a:xfrm>
            <a:off x="6757416" y="3054096"/>
            <a:ext cx="1920240" cy="493776"/>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7450DF"/>
                </a:solidFill>
                <a:latin typeface="Arial"/>
              </a:rPr>
              <a:t>OOP /</a:t>
            </a:r>
          </a:p>
          <a:p>
            <a:pPr algn="l">
              <a:lnSpc>
                <a:spcPct val="110000"/>
              </a:lnSpc>
              <a:spcBef>
                <a:spcPts val="0"/>
              </a:spcBef>
              <a:spcAft>
                <a:spcPts val="0"/>
              </a:spcAft>
            </a:pPr>
            <a:r>
              <a:rPr sz="1720" b="1">
                <a:solidFill>
                  <a:srgbClr val="7450DF"/>
                </a:solidFill>
                <a:latin typeface="Arial"/>
              </a:rPr>
              <a:t>functional design</a:t>
            </a:r>
          </a:p>
        </p:txBody>
      </p:sp>
      <p:cxnSp>
        <p:nvCxnSpPr>
          <p:cNvPr id="49" name="Connector 48"/>
          <p:cNvCxnSpPr/>
          <p:nvPr/>
        </p:nvCxnSpPr>
        <p:spPr>
          <a:xfrm flipH="1">
            <a:off x="6053328" y="3255264"/>
            <a:ext cx="128016" cy="0"/>
          </a:xfrm>
          <a:prstGeom prst="line">
            <a:avLst/>
          </a:prstGeom>
          <a:ln w="1651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3429000" y="2898648"/>
            <a:ext cx="2596896" cy="713232"/>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3538728" y="3072384"/>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538728" y="3108960"/>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100" b="1">
                <a:solidFill>
                  <a:srgbClr val="FFFFFF"/>
                </a:solidFill>
                <a:latin typeface="Arial"/>
              </a:rPr>
              <a:t>7</a:t>
            </a:r>
          </a:p>
        </p:txBody>
      </p:sp>
      <p:sp>
        <p:nvSpPr>
          <p:cNvPr id="53" name="TextBox 52"/>
          <p:cNvSpPr txBox="1"/>
          <p:nvPr/>
        </p:nvSpPr>
        <p:spPr>
          <a:xfrm>
            <a:off x="3977639" y="3054096"/>
            <a:ext cx="1920240" cy="493776"/>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7450DF"/>
                </a:solidFill>
                <a:latin typeface="Arial"/>
              </a:rPr>
              <a:t>Concurrency +</a:t>
            </a:r>
          </a:p>
          <a:p>
            <a:pPr algn="l">
              <a:lnSpc>
                <a:spcPct val="110000"/>
              </a:lnSpc>
              <a:spcBef>
                <a:spcPts val="0"/>
              </a:spcBef>
              <a:spcAft>
                <a:spcPts val="0"/>
              </a:spcAft>
            </a:pPr>
            <a:r>
              <a:rPr sz="1720" b="1">
                <a:solidFill>
                  <a:srgbClr val="7450DF"/>
                </a:solidFill>
                <a:latin typeface="Arial"/>
              </a:rPr>
              <a:t>transactions</a:t>
            </a:r>
          </a:p>
        </p:txBody>
      </p:sp>
      <p:cxnSp>
        <p:nvCxnSpPr>
          <p:cNvPr id="54" name="Connector 53"/>
          <p:cNvCxnSpPr/>
          <p:nvPr/>
        </p:nvCxnSpPr>
        <p:spPr>
          <a:xfrm flipH="1">
            <a:off x="3273552" y="3255264"/>
            <a:ext cx="128016" cy="0"/>
          </a:xfrm>
          <a:prstGeom prst="line">
            <a:avLst/>
          </a:prstGeom>
          <a:ln w="1651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649224" y="2898648"/>
            <a:ext cx="2596896" cy="713232"/>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758952" y="3072384"/>
            <a:ext cx="301752" cy="301752"/>
          </a:xfrm>
          <a:prstGeom prst="ellipse">
            <a:avLst/>
          </a:prstGeom>
          <a:solidFill>
            <a:srgbClr val="389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58952" y="3108960"/>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100" b="1">
                <a:solidFill>
                  <a:srgbClr val="FFFFFF"/>
                </a:solidFill>
                <a:latin typeface="Arial"/>
              </a:rPr>
              <a:t>8</a:t>
            </a:r>
          </a:p>
        </p:txBody>
      </p:sp>
      <p:sp>
        <p:nvSpPr>
          <p:cNvPr id="58" name="TextBox 57"/>
          <p:cNvSpPr txBox="1"/>
          <p:nvPr/>
        </p:nvSpPr>
        <p:spPr>
          <a:xfrm>
            <a:off x="1197864" y="3054096"/>
            <a:ext cx="1920240" cy="493776"/>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389778"/>
                </a:solidFill>
                <a:latin typeface="Arial"/>
              </a:rPr>
              <a:t>Tests +</a:t>
            </a:r>
          </a:p>
          <a:p>
            <a:pPr algn="l">
              <a:lnSpc>
                <a:spcPct val="110000"/>
              </a:lnSpc>
              <a:spcBef>
                <a:spcPts val="0"/>
              </a:spcBef>
              <a:spcAft>
                <a:spcPts val="0"/>
              </a:spcAft>
            </a:pPr>
            <a:r>
              <a:rPr sz="1720" b="1">
                <a:solidFill>
                  <a:srgbClr val="389778"/>
                </a:solidFill>
                <a:latin typeface="Arial"/>
              </a:rPr>
              <a:t>quality gates</a:t>
            </a:r>
          </a:p>
        </p:txBody>
      </p:sp>
      <p:cxnSp>
        <p:nvCxnSpPr>
          <p:cNvPr id="59" name="Connector 58"/>
          <p:cNvCxnSpPr/>
          <p:nvPr/>
        </p:nvCxnSpPr>
        <p:spPr>
          <a:xfrm>
            <a:off x="1956815" y="3657600"/>
            <a:ext cx="0" cy="109728"/>
          </a:xfrm>
          <a:prstGeom prst="line">
            <a:avLst/>
          </a:prstGeom>
          <a:ln w="1651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649224" y="3813048"/>
            <a:ext cx="2596896" cy="713232"/>
          </a:xfrm>
          <a:prstGeom prst="roundRect">
            <a:avLst>
              <a:gd name="adj" fmla="val 14000"/>
            </a:avLst>
          </a:prstGeom>
          <a:solidFill>
            <a:srgbClr val="FB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758952" y="3986784"/>
            <a:ext cx="301752" cy="301752"/>
          </a:xfrm>
          <a:prstGeom prst="ellipse">
            <a:avLst/>
          </a:prstGeom>
          <a:solidFill>
            <a:srgbClr val="B97D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58952" y="4023360"/>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100" b="1">
                <a:solidFill>
                  <a:srgbClr val="FFFFFF"/>
                </a:solidFill>
                <a:latin typeface="Arial"/>
              </a:rPr>
              <a:t>9</a:t>
            </a:r>
          </a:p>
        </p:txBody>
      </p:sp>
      <p:sp>
        <p:nvSpPr>
          <p:cNvPr id="63" name="TextBox 62"/>
          <p:cNvSpPr txBox="1"/>
          <p:nvPr/>
        </p:nvSpPr>
        <p:spPr>
          <a:xfrm>
            <a:off x="1197864" y="3968496"/>
            <a:ext cx="1920240" cy="493776"/>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B97D38"/>
                </a:solidFill>
                <a:latin typeface="Arial"/>
              </a:rPr>
              <a:t>CI / containers</a:t>
            </a:r>
          </a:p>
          <a:p>
            <a:pPr algn="l">
              <a:lnSpc>
                <a:spcPct val="110000"/>
              </a:lnSpc>
              <a:spcBef>
                <a:spcPts val="0"/>
              </a:spcBef>
              <a:spcAft>
                <a:spcPts val="0"/>
              </a:spcAft>
            </a:pPr>
            <a:r>
              <a:rPr sz="1720" b="1">
                <a:solidFill>
                  <a:srgbClr val="B97D38"/>
                </a:solidFill>
                <a:latin typeface="Arial"/>
              </a:rPr>
              <a:t>(configured)</a:t>
            </a:r>
          </a:p>
        </p:txBody>
      </p:sp>
      <p:cxnSp>
        <p:nvCxnSpPr>
          <p:cNvPr id="64" name="Connector 63"/>
          <p:cNvCxnSpPr/>
          <p:nvPr/>
        </p:nvCxnSpPr>
        <p:spPr>
          <a:xfrm>
            <a:off x="3273552" y="4169663"/>
            <a:ext cx="118872" cy="0"/>
          </a:xfrm>
          <a:prstGeom prst="line">
            <a:avLst/>
          </a:prstGeom>
          <a:ln w="16510">
            <a:solidFill>
              <a:srgbClr val="B97D38"/>
            </a:solidFill>
            <a:tailEnd type="triangle" w="sm" len="sm"/>
          </a:ln>
        </p:spPr>
        <p:style>
          <a:lnRef idx="2">
            <a:schemeClr val="accent1"/>
          </a:lnRef>
          <a:fillRef idx="0">
            <a:schemeClr val="accent1"/>
          </a:fillRef>
          <a:effectRef idx="1">
            <a:schemeClr val="accent1"/>
          </a:effectRef>
          <a:fontRef idx="minor">
            <a:schemeClr val="tx1"/>
          </a:fontRef>
        </p:style>
      </p:cxnSp>
      <p:sp>
        <p:nvSpPr>
          <p:cNvPr id="65" name="Rounded Rectangle 64"/>
          <p:cNvSpPr/>
          <p:nvPr/>
        </p:nvSpPr>
        <p:spPr>
          <a:xfrm>
            <a:off x="3429000" y="3813048"/>
            <a:ext cx="2596896" cy="713232"/>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3538728" y="3986784"/>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3538728" y="4023360"/>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100" b="1">
                <a:solidFill>
                  <a:srgbClr val="FFFFFF"/>
                </a:solidFill>
                <a:latin typeface="Arial"/>
              </a:rPr>
              <a:t>10</a:t>
            </a:r>
          </a:p>
        </p:txBody>
      </p:sp>
      <p:sp>
        <p:nvSpPr>
          <p:cNvPr id="68" name="TextBox 67"/>
          <p:cNvSpPr txBox="1"/>
          <p:nvPr/>
        </p:nvSpPr>
        <p:spPr>
          <a:xfrm>
            <a:off x="3977639" y="3968496"/>
            <a:ext cx="1920240" cy="493776"/>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7450DF"/>
                </a:solidFill>
                <a:latin typeface="Arial"/>
              </a:rPr>
              <a:t>AI review +</a:t>
            </a:r>
          </a:p>
          <a:p>
            <a:pPr algn="l">
              <a:lnSpc>
                <a:spcPct val="110000"/>
              </a:lnSpc>
              <a:spcBef>
                <a:spcPts val="0"/>
              </a:spcBef>
              <a:spcAft>
                <a:spcPts val="0"/>
              </a:spcAft>
            </a:pPr>
            <a:r>
              <a:rPr sz="1720" b="1">
                <a:solidFill>
                  <a:srgbClr val="7450DF"/>
                </a:solidFill>
                <a:latin typeface="Arial"/>
              </a:rPr>
              <a:t>revalidation</a:t>
            </a:r>
          </a:p>
        </p:txBody>
      </p:sp>
      <p:cxnSp>
        <p:nvCxnSpPr>
          <p:cNvPr id="69" name="Connector 68"/>
          <p:cNvCxnSpPr/>
          <p:nvPr/>
        </p:nvCxnSpPr>
        <p:spPr>
          <a:xfrm>
            <a:off x="6053328" y="4169663"/>
            <a:ext cx="118872" cy="0"/>
          </a:xfrm>
          <a:prstGeom prst="line">
            <a:avLst/>
          </a:prstGeom>
          <a:ln w="1651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70" name="Rounded Rectangle 69"/>
          <p:cNvSpPr/>
          <p:nvPr/>
        </p:nvSpPr>
        <p:spPr>
          <a:xfrm>
            <a:off x="6208776" y="3813048"/>
            <a:ext cx="2596896" cy="713232"/>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6318504" y="3986784"/>
            <a:ext cx="301752" cy="301752"/>
          </a:xfrm>
          <a:prstGeom prst="ellipse">
            <a:avLst/>
          </a:prstGeom>
          <a:solidFill>
            <a:srgbClr val="389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318504" y="4023360"/>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100" b="1">
                <a:solidFill>
                  <a:srgbClr val="FFFFFF"/>
                </a:solidFill>
                <a:latin typeface="Arial"/>
              </a:rPr>
              <a:t>11</a:t>
            </a:r>
          </a:p>
        </p:txBody>
      </p:sp>
      <p:sp>
        <p:nvSpPr>
          <p:cNvPr id="73" name="TextBox 72"/>
          <p:cNvSpPr txBox="1"/>
          <p:nvPr/>
        </p:nvSpPr>
        <p:spPr>
          <a:xfrm>
            <a:off x="6757416" y="3968496"/>
            <a:ext cx="1920240" cy="493776"/>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389778"/>
                </a:solidFill>
                <a:latin typeface="Arial"/>
              </a:rPr>
              <a:t>Performance</a:t>
            </a:r>
          </a:p>
          <a:p>
            <a:pPr algn="l">
              <a:lnSpc>
                <a:spcPct val="110000"/>
              </a:lnSpc>
              <a:spcBef>
                <a:spcPts val="0"/>
              </a:spcBef>
              <a:spcAft>
                <a:spcPts val="0"/>
              </a:spcAft>
            </a:pPr>
            <a:r>
              <a:rPr sz="1720" b="1">
                <a:solidFill>
                  <a:srgbClr val="389778"/>
                </a:solidFill>
                <a:latin typeface="Arial"/>
              </a:rPr>
              <a:t>evaluation</a:t>
            </a:r>
          </a:p>
        </p:txBody>
      </p:sp>
      <p:cxnSp>
        <p:nvCxnSpPr>
          <p:cNvPr id="74" name="Connector 73"/>
          <p:cNvCxnSpPr/>
          <p:nvPr/>
        </p:nvCxnSpPr>
        <p:spPr>
          <a:xfrm>
            <a:off x="8833104" y="4169663"/>
            <a:ext cx="118872" cy="0"/>
          </a:xfrm>
          <a:prstGeom prst="line">
            <a:avLst/>
          </a:prstGeom>
          <a:ln w="1651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sp>
        <p:nvSpPr>
          <p:cNvPr id="75" name="Rounded Rectangle 74"/>
          <p:cNvSpPr/>
          <p:nvPr/>
        </p:nvSpPr>
        <p:spPr>
          <a:xfrm>
            <a:off x="8988552" y="3813048"/>
            <a:ext cx="2596896" cy="713232"/>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9098280" y="3986784"/>
            <a:ext cx="301752" cy="301752"/>
          </a:xfrm>
          <a:prstGeom prst="ellipse">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9098280" y="4023360"/>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100" b="1">
                <a:solidFill>
                  <a:srgbClr val="FFFFFF"/>
                </a:solidFill>
                <a:latin typeface="Arial"/>
              </a:rPr>
              <a:t>12</a:t>
            </a:r>
          </a:p>
        </p:txBody>
      </p:sp>
      <p:sp>
        <p:nvSpPr>
          <p:cNvPr id="78" name="TextBox 77"/>
          <p:cNvSpPr txBox="1"/>
          <p:nvPr/>
        </p:nvSpPr>
        <p:spPr>
          <a:xfrm>
            <a:off x="9537192" y="3968496"/>
            <a:ext cx="1920240" cy="493776"/>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7450DF"/>
                </a:solidFill>
                <a:latin typeface="Arial"/>
              </a:rPr>
              <a:t>Live</a:t>
            </a:r>
          </a:p>
          <a:p>
            <a:pPr algn="l">
              <a:lnSpc>
                <a:spcPct val="110000"/>
              </a:lnSpc>
              <a:spcBef>
                <a:spcPts val="0"/>
              </a:spcBef>
              <a:spcAft>
                <a:spcPts val="0"/>
              </a:spcAft>
            </a:pPr>
            <a:r>
              <a:rPr sz="1720" b="1">
                <a:solidFill>
                  <a:srgbClr val="7450DF"/>
                </a:solidFill>
                <a:latin typeface="Arial"/>
              </a:rPr>
              <a:t>demonstration</a:t>
            </a:r>
          </a:p>
        </p:txBody>
      </p:sp>
      <p:cxnSp>
        <p:nvCxnSpPr>
          <p:cNvPr id="79" name="Connector 78"/>
          <p:cNvCxnSpPr/>
          <p:nvPr/>
        </p:nvCxnSpPr>
        <p:spPr>
          <a:xfrm>
            <a:off x="10296144" y="4572000"/>
            <a:ext cx="0" cy="109728"/>
          </a:xfrm>
          <a:prstGeom prst="line">
            <a:avLst/>
          </a:prstGeom>
          <a:ln w="1651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80" name="Rounded Rectangle 79"/>
          <p:cNvSpPr/>
          <p:nvPr/>
        </p:nvSpPr>
        <p:spPr>
          <a:xfrm>
            <a:off x="8988552" y="4727448"/>
            <a:ext cx="2596896" cy="713232"/>
          </a:xfrm>
          <a:prstGeom prst="roundRect">
            <a:avLst>
              <a:gd name="adj" fmla="val 14000"/>
            </a:avLst>
          </a:prstGeom>
          <a:solidFill>
            <a:srgbClr val="F1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9098280" y="4901184"/>
            <a:ext cx="301752" cy="301752"/>
          </a:xfrm>
          <a:prstGeom prst="ellipse">
            <a:avLst/>
          </a:prstGeom>
          <a:solidFill>
            <a:srgbClr val="7F8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9098280" y="4937760"/>
            <a:ext cx="301752" cy="256032"/>
          </a:xfrm>
          <a:prstGeom prst="rect">
            <a:avLst/>
          </a:prstGeom>
          <a:noFill/>
        </p:spPr>
        <p:txBody>
          <a:bodyPr wrap="square" lIns="0" tIns="0" rIns="0" bIns="0" anchor="ctr">
            <a:noAutofit/>
          </a:bodyPr>
          <a:lstStyle/>
          <a:p>
            <a:pPr algn="ctr">
              <a:lnSpc>
                <a:spcPct val="110000"/>
              </a:lnSpc>
              <a:spcBef>
                <a:spcPts val="0"/>
              </a:spcBef>
              <a:spcAft>
                <a:spcPts val="0"/>
              </a:spcAft>
            </a:pPr>
            <a:r>
              <a:rPr sz="1100" b="1">
                <a:solidFill>
                  <a:srgbClr val="FFFFFF"/>
                </a:solidFill>
                <a:latin typeface="Arial"/>
              </a:rPr>
              <a:t>13</a:t>
            </a:r>
          </a:p>
        </p:txBody>
      </p:sp>
      <p:sp>
        <p:nvSpPr>
          <p:cNvPr id="83" name="TextBox 82"/>
          <p:cNvSpPr txBox="1"/>
          <p:nvPr/>
        </p:nvSpPr>
        <p:spPr>
          <a:xfrm>
            <a:off x="9537192" y="4882896"/>
            <a:ext cx="1920240" cy="493776"/>
          </a:xfrm>
          <a:prstGeom prst="rect">
            <a:avLst/>
          </a:prstGeom>
          <a:noFill/>
        </p:spPr>
        <p:txBody>
          <a:bodyPr wrap="square" lIns="0" tIns="0" rIns="0" bIns="0" anchor="t">
            <a:noAutofit/>
          </a:bodyPr>
          <a:lstStyle/>
          <a:p>
            <a:pPr algn="l">
              <a:lnSpc>
                <a:spcPct val="110000"/>
              </a:lnSpc>
              <a:spcBef>
                <a:spcPts val="0"/>
              </a:spcBef>
              <a:spcAft>
                <a:spcPts val="0"/>
              </a:spcAft>
            </a:pPr>
            <a:r>
              <a:rPr sz="1720" b="1">
                <a:solidFill>
                  <a:srgbClr val="7F869A"/>
                </a:solidFill>
                <a:latin typeface="Arial"/>
              </a:rPr>
              <a:t>Student</a:t>
            </a:r>
          </a:p>
          <a:p>
            <a:pPr algn="l">
              <a:lnSpc>
                <a:spcPct val="110000"/>
              </a:lnSpc>
              <a:spcBef>
                <a:spcPts val="0"/>
              </a:spcBef>
              <a:spcAft>
                <a:spcPts val="0"/>
              </a:spcAft>
            </a:pPr>
            <a:r>
              <a:rPr sz="1720" b="1">
                <a:solidFill>
                  <a:srgbClr val="7F869A"/>
                </a:solidFill>
                <a:latin typeface="Arial"/>
              </a:rPr>
              <a:t>technical defence</a:t>
            </a:r>
          </a:p>
        </p:txBody>
      </p:sp>
      <p:sp>
        <p:nvSpPr>
          <p:cNvPr id="84" name="TextBox 83"/>
          <p:cNvSpPr txBox="1"/>
          <p:nvPr/>
        </p:nvSpPr>
        <p:spPr>
          <a:xfrm>
            <a:off x="713232" y="4937760"/>
            <a:ext cx="7781544" cy="640080"/>
          </a:xfrm>
          <a:prstGeom prst="rect">
            <a:avLst/>
          </a:prstGeom>
          <a:noFill/>
        </p:spPr>
        <p:txBody>
          <a:bodyPr wrap="square" lIns="0" tIns="0" rIns="0" bIns="0" anchor="t">
            <a:noAutofit/>
          </a:bodyPr>
          <a:lstStyle/>
          <a:p>
            <a:pPr algn="ctr">
              <a:lnSpc>
                <a:spcPct val="110000"/>
              </a:lnSpc>
              <a:spcBef>
                <a:spcPts val="0"/>
              </a:spcBef>
              <a:spcAft>
                <a:spcPts val="0"/>
              </a:spcAft>
            </a:pPr>
            <a:r>
              <a:rPr sz="2120" b="1">
                <a:solidFill>
                  <a:srgbClr val="7450DF"/>
                </a:solidFill>
                <a:latin typeface="Arial"/>
              </a:rPr>
              <a:t>Iteration is the method:</a:t>
            </a:r>
          </a:p>
          <a:p>
            <a:pPr algn="ctr">
              <a:lnSpc>
                <a:spcPct val="110000"/>
              </a:lnSpc>
              <a:spcBef>
                <a:spcPts val="0"/>
              </a:spcBef>
              <a:spcAft>
                <a:spcPts val="0"/>
              </a:spcAft>
            </a:pPr>
            <a:r>
              <a:rPr sz="2120" b="1">
                <a:solidFill>
                  <a:srgbClr val="7450DF"/>
                </a:solidFill>
                <a:latin typeface="Arial"/>
              </a:rPr>
              <a:t>review ↔ tests ↔ measured improvement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OVERALL PROJECT DEMONSTRATION / LIVE EXECUTION</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Live demo: one journey, two sessions</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Demonstrate observable state changes with separate traveler and administrator profiles.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Search → book two passengers → PNR/demo PDF → admin update → cancel → algorithm lab.</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TECHNICAL_DEFENCE.md • tests/test_e2e.py • README.md</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32 / 35</a:t>
            </a:r>
          </a:p>
        </p:txBody>
      </p:sp>
      <p:pic>
        <p:nvPicPr>
          <p:cNvPr id="20" name="Picture 19"/>
          <p:cNvPicPr>
            <a:picLocks noChangeAspect="1"/>
          </p:cNvPicPr>
          <p:nvPr/>
        </p:nvPicPr>
        <p:blipFill>
          <a:blip r:embed="rId3"/>
          <a:srcRect/>
          <a:stretch/>
        </p:blipFill>
        <p:spPr>
          <a:xfrm>
            <a:off x="1496119" y="2326622"/>
            <a:ext cx="3253112" cy="1646972"/>
          </a:xfrm>
          <a:prstGeom prst="rect">
            <a:avLst/>
          </a:prstGeom>
        </p:spPr>
      </p:pic>
      <p:sp>
        <p:nvSpPr>
          <p:cNvPr id="21" name="Rectangle 20"/>
          <p:cNvSpPr/>
          <p:nvPr/>
        </p:nvSpPr>
        <p:spPr>
          <a:xfrm>
            <a:off x="1496119" y="1993392"/>
            <a:ext cx="3253112" cy="2304288"/>
          </a:xfrm>
          <a:prstGeom prst="rect">
            <a:avLst/>
          </a:prstGeom>
          <a:noFill/>
          <a:ln w="1016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p:cNvPicPr>
            <a:picLocks noChangeAspect="1"/>
          </p:cNvPicPr>
          <p:nvPr/>
        </p:nvPicPr>
        <p:blipFill>
          <a:blip r:embed="rId4"/>
          <a:srcRect/>
          <a:stretch/>
        </p:blipFill>
        <p:spPr>
          <a:xfrm>
            <a:off x="7435147" y="2318114"/>
            <a:ext cx="3253112" cy="1663987"/>
          </a:xfrm>
          <a:prstGeom prst="rect">
            <a:avLst/>
          </a:prstGeom>
        </p:spPr>
      </p:pic>
      <p:sp>
        <p:nvSpPr>
          <p:cNvPr id="23" name="Rectangle 22"/>
          <p:cNvSpPr/>
          <p:nvPr/>
        </p:nvSpPr>
        <p:spPr>
          <a:xfrm>
            <a:off x="7435147" y="1993392"/>
            <a:ext cx="3253112" cy="2304288"/>
          </a:xfrm>
          <a:prstGeom prst="rect">
            <a:avLst/>
          </a:prstGeom>
          <a:noFill/>
          <a:ln w="1016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a:off x="5678424" y="3063240"/>
            <a:ext cx="804672" cy="0"/>
          </a:xfrm>
          <a:prstGeom prst="line">
            <a:avLst/>
          </a:prstGeom>
          <a:ln w="3175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32104" y="4425696"/>
            <a:ext cx="4599432" cy="292608"/>
          </a:xfrm>
          <a:prstGeom prst="rect">
            <a:avLst/>
          </a:prstGeom>
          <a:noFill/>
        </p:spPr>
        <p:txBody>
          <a:bodyPr wrap="square" lIns="0" tIns="0" rIns="0" bIns="0" anchor="t">
            <a:noAutofit/>
          </a:bodyPr>
          <a:lstStyle/>
          <a:p>
            <a:pPr algn="ctr">
              <a:lnSpc>
                <a:spcPct val="110000"/>
              </a:lnSpc>
              <a:spcBef>
                <a:spcPts val="0"/>
              </a:spcBef>
              <a:spcAft>
                <a:spcPts val="0"/>
              </a:spcAft>
            </a:pPr>
            <a:r>
              <a:rPr sz="1739" b="1">
                <a:solidFill>
                  <a:srgbClr val="7450DF"/>
                </a:solidFill>
                <a:latin typeface="Arial"/>
              </a:rPr>
              <a:t>TRAVELER: BOOK / CANCEL</a:t>
            </a:r>
          </a:p>
        </p:txBody>
      </p:sp>
      <p:sp>
        <p:nvSpPr>
          <p:cNvPr id="26" name="TextBox 25"/>
          <p:cNvSpPr txBox="1"/>
          <p:nvPr/>
        </p:nvSpPr>
        <p:spPr>
          <a:xfrm>
            <a:off x="6775704" y="4425696"/>
            <a:ext cx="4572000" cy="292608"/>
          </a:xfrm>
          <a:prstGeom prst="rect">
            <a:avLst/>
          </a:prstGeom>
          <a:noFill/>
        </p:spPr>
        <p:txBody>
          <a:bodyPr wrap="square" lIns="0" tIns="0" rIns="0" bIns="0" anchor="t">
            <a:noAutofit/>
          </a:bodyPr>
          <a:lstStyle/>
          <a:p>
            <a:pPr algn="ctr">
              <a:lnSpc>
                <a:spcPct val="110000"/>
              </a:lnSpc>
              <a:spcBef>
                <a:spcPts val="0"/>
              </a:spcBef>
              <a:spcAft>
                <a:spcPts val="0"/>
              </a:spcAft>
            </a:pPr>
            <a:r>
              <a:rPr sz="1739" b="1">
                <a:solidFill>
                  <a:srgbClr val="389778"/>
                </a:solidFill>
                <a:latin typeface="Arial"/>
              </a:rPr>
              <a:t>ADMIN: OBSERVE COMMITTED DATA</a:t>
            </a:r>
          </a:p>
        </p:txBody>
      </p:sp>
      <p:sp>
        <p:nvSpPr>
          <p:cNvPr id="27" name="Rounded Rectangle 26"/>
          <p:cNvSpPr/>
          <p:nvPr/>
        </p:nvSpPr>
        <p:spPr>
          <a:xfrm>
            <a:off x="685800" y="5129784"/>
            <a:ext cx="1673352"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68096" y="5180076"/>
            <a:ext cx="1508760" cy="347472"/>
          </a:xfrm>
          <a:prstGeom prst="rect">
            <a:avLst/>
          </a:prstGeom>
          <a:noFill/>
        </p:spPr>
        <p:txBody>
          <a:bodyPr wrap="square" lIns="0" tIns="0" rIns="0" bIns="0" anchor="t">
            <a:noAutofit/>
          </a:bodyPr>
          <a:lstStyle/>
          <a:p>
            <a:pPr algn="ctr">
              <a:lnSpc>
                <a:spcPct val="110000"/>
              </a:lnSpc>
              <a:spcBef>
                <a:spcPts val="0"/>
              </a:spcBef>
              <a:spcAft>
                <a:spcPts val="0"/>
              </a:spcAft>
            </a:pPr>
            <a:r>
              <a:rPr sz="1610" b="1">
                <a:solidFill>
                  <a:srgbClr val="7450DF"/>
                </a:solidFill>
                <a:latin typeface="Arial"/>
              </a:rPr>
              <a:t>Search</a:t>
            </a:r>
          </a:p>
        </p:txBody>
      </p:sp>
      <p:cxnSp>
        <p:nvCxnSpPr>
          <p:cNvPr id="29" name="Connector 28"/>
          <p:cNvCxnSpPr/>
          <p:nvPr/>
        </p:nvCxnSpPr>
        <p:spPr>
          <a:xfrm>
            <a:off x="2377440" y="5335524"/>
            <a:ext cx="155448" cy="0"/>
          </a:xfrm>
          <a:prstGeom prst="line">
            <a:avLst/>
          </a:prstGeom>
          <a:ln w="1651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2551176" y="5129784"/>
            <a:ext cx="1673352"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633472" y="5180076"/>
            <a:ext cx="1508760" cy="347472"/>
          </a:xfrm>
          <a:prstGeom prst="rect">
            <a:avLst/>
          </a:prstGeom>
          <a:noFill/>
        </p:spPr>
        <p:txBody>
          <a:bodyPr wrap="square" lIns="0" tIns="0" rIns="0" bIns="0" anchor="t">
            <a:noAutofit/>
          </a:bodyPr>
          <a:lstStyle/>
          <a:p>
            <a:pPr algn="ctr">
              <a:lnSpc>
                <a:spcPct val="110000"/>
              </a:lnSpc>
              <a:spcBef>
                <a:spcPts val="0"/>
              </a:spcBef>
              <a:spcAft>
                <a:spcPts val="0"/>
              </a:spcAft>
            </a:pPr>
            <a:r>
              <a:rPr sz="1610" b="1">
                <a:solidFill>
                  <a:srgbClr val="7450DF"/>
                </a:solidFill>
                <a:latin typeface="Arial"/>
              </a:rPr>
              <a:t>Book 2</a:t>
            </a:r>
          </a:p>
        </p:txBody>
      </p:sp>
      <p:cxnSp>
        <p:nvCxnSpPr>
          <p:cNvPr id="32" name="Connector 31"/>
          <p:cNvCxnSpPr/>
          <p:nvPr/>
        </p:nvCxnSpPr>
        <p:spPr>
          <a:xfrm>
            <a:off x="4242816" y="5335524"/>
            <a:ext cx="155448" cy="0"/>
          </a:xfrm>
          <a:prstGeom prst="line">
            <a:avLst/>
          </a:prstGeom>
          <a:ln w="1651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416552" y="5129784"/>
            <a:ext cx="1673352"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498848" y="5180076"/>
            <a:ext cx="1508760" cy="347472"/>
          </a:xfrm>
          <a:prstGeom prst="rect">
            <a:avLst/>
          </a:prstGeom>
          <a:noFill/>
        </p:spPr>
        <p:txBody>
          <a:bodyPr wrap="square" lIns="0" tIns="0" rIns="0" bIns="0" anchor="t">
            <a:noAutofit/>
          </a:bodyPr>
          <a:lstStyle/>
          <a:p>
            <a:pPr algn="ctr">
              <a:lnSpc>
                <a:spcPct val="110000"/>
              </a:lnSpc>
              <a:spcBef>
                <a:spcPts val="0"/>
              </a:spcBef>
              <a:spcAft>
                <a:spcPts val="0"/>
              </a:spcAft>
            </a:pPr>
            <a:r>
              <a:rPr sz="1610" b="1">
                <a:solidFill>
                  <a:srgbClr val="7450DF"/>
                </a:solidFill>
                <a:latin typeface="Arial"/>
              </a:rPr>
              <a:t>PNR / PDF</a:t>
            </a:r>
          </a:p>
        </p:txBody>
      </p:sp>
      <p:cxnSp>
        <p:nvCxnSpPr>
          <p:cNvPr id="35" name="Connector 34"/>
          <p:cNvCxnSpPr/>
          <p:nvPr/>
        </p:nvCxnSpPr>
        <p:spPr>
          <a:xfrm>
            <a:off x="6108192" y="5335524"/>
            <a:ext cx="155448" cy="0"/>
          </a:xfrm>
          <a:prstGeom prst="line">
            <a:avLst/>
          </a:prstGeom>
          <a:ln w="1651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281928" y="5129784"/>
            <a:ext cx="1673352" cy="41148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64224" y="5180076"/>
            <a:ext cx="1508760" cy="347472"/>
          </a:xfrm>
          <a:prstGeom prst="rect">
            <a:avLst/>
          </a:prstGeom>
          <a:noFill/>
        </p:spPr>
        <p:txBody>
          <a:bodyPr wrap="square" lIns="0" tIns="0" rIns="0" bIns="0" anchor="t">
            <a:noAutofit/>
          </a:bodyPr>
          <a:lstStyle/>
          <a:p>
            <a:pPr algn="ctr">
              <a:lnSpc>
                <a:spcPct val="110000"/>
              </a:lnSpc>
              <a:spcBef>
                <a:spcPts val="0"/>
              </a:spcBef>
              <a:spcAft>
                <a:spcPts val="0"/>
              </a:spcAft>
            </a:pPr>
            <a:r>
              <a:rPr sz="1610" b="1">
                <a:solidFill>
                  <a:srgbClr val="389778"/>
                </a:solidFill>
                <a:latin typeface="Arial"/>
              </a:rPr>
              <a:t>Admin update</a:t>
            </a:r>
          </a:p>
        </p:txBody>
      </p:sp>
      <p:cxnSp>
        <p:nvCxnSpPr>
          <p:cNvPr id="38" name="Connector 37"/>
          <p:cNvCxnSpPr/>
          <p:nvPr/>
        </p:nvCxnSpPr>
        <p:spPr>
          <a:xfrm>
            <a:off x="7973568" y="5335524"/>
            <a:ext cx="155448" cy="0"/>
          </a:xfrm>
          <a:prstGeom prst="line">
            <a:avLst/>
          </a:prstGeom>
          <a:ln w="1651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8147304" y="5129784"/>
            <a:ext cx="1673352"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29600" y="5180076"/>
            <a:ext cx="1508760" cy="347472"/>
          </a:xfrm>
          <a:prstGeom prst="rect">
            <a:avLst/>
          </a:prstGeom>
          <a:noFill/>
        </p:spPr>
        <p:txBody>
          <a:bodyPr wrap="square" lIns="0" tIns="0" rIns="0" bIns="0" anchor="t">
            <a:noAutofit/>
          </a:bodyPr>
          <a:lstStyle/>
          <a:p>
            <a:pPr algn="ctr">
              <a:lnSpc>
                <a:spcPct val="110000"/>
              </a:lnSpc>
              <a:spcBef>
                <a:spcPts val="0"/>
              </a:spcBef>
              <a:spcAft>
                <a:spcPts val="0"/>
              </a:spcAft>
            </a:pPr>
            <a:r>
              <a:rPr sz="1610" b="1">
                <a:solidFill>
                  <a:srgbClr val="7450DF"/>
                </a:solidFill>
                <a:latin typeface="Arial"/>
              </a:rPr>
              <a:t>Cancel</a:t>
            </a:r>
          </a:p>
        </p:txBody>
      </p:sp>
      <p:cxnSp>
        <p:nvCxnSpPr>
          <p:cNvPr id="41" name="Connector 40"/>
          <p:cNvCxnSpPr/>
          <p:nvPr/>
        </p:nvCxnSpPr>
        <p:spPr>
          <a:xfrm>
            <a:off x="9838944" y="5335524"/>
            <a:ext cx="155448" cy="0"/>
          </a:xfrm>
          <a:prstGeom prst="line">
            <a:avLst/>
          </a:prstGeom>
          <a:ln w="16510">
            <a:solidFill>
              <a:srgbClr val="389778"/>
            </a:solidFill>
            <a:tailEnd type="triangle" w="sm" len="sm"/>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10012680" y="5129784"/>
            <a:ext cx="1673352"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094976" y="5180076"/>
            <a:ext cx="1508760" cy="347472"/>
          </a:xfrm>
          <a:prstGeom prst="rect">
            <a:avLst/>
          </a:prstGeom>
          <a:noFill/>
        </p:spPr>
        <p:txBody>
          <a:bodyPr wrap="square" lIns="0" tIns="0" rIns="0" bIns="0" anchor="t">
            <a:noAutofit/>
          </a:bodyPr>
          <a:lstStyle/>
          <a:p>
            <a:pPr algn="ctr">
              <a:lnSpc>
                <a:spcPct val="110000"/>
              </a:lnSpc>
              <a:spcBef>
                <a:spcPts val="0"/>
              </a:spcBef>
              <a:spcAft>
                <a:spcPts val="0"/>
              </a:spcAft>
            </a:pPr>
            <a:r>
              <a:rPr sz="1610" b="1">
                <a:solidFill>
                  <a:srgbClr val="7450DF"/>
                </a:solidFill>
                <a:latin typeface="Arial"/>
              </a:rPr>
              <a:t>Run lab</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ENGINEERING / LIMITATIONS AND IMPROVEMENT</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Limitations: turn honesty into a roadmap</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Evaluate abstraction gaps and bottlenecks before proposing targeted, tested improvements.</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Railora is an academic simulation—not official booking, real payment settlement or a production deployment.</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SPECIFICATION.md • ALGORITHMS.md • AI_REVIEW.md</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33 / 35</a:t>
            </a:r>
          </a:p>
        </p:txBody>
      </p:sp>
      <p:sp>
        <p:nvSpPr>
          <p:cNvPr id="20" name="Rounded Rectangle 19"/>
          <p:cNvSpPr/>
          <p:nvPr/>
        </p:nvSpPr>
        <p:spPr>
          <a:xfrm>
            <a:off x="612648" y="2029968"/>
            <a:ext cx="3538728" cy="3127248"/>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2167128"/>
            <a:ext cx="3209544" cy="365760"/>
          </a:xfrm>
          <a:prstGeom prst="rect">
            <a:avLst/>
          </a:prstGeom>
          <a:noFill/>
        </p:spPr>
        <p:txBody>
          <a:bodyPr wrap="square" lIns="0" tIns="0" rIns="0" bIns="0" anchor="t">
            <a:noAutofit/>
          </a:bodyPr>
          <a:lstStyle/>
          <a:p>
            <a:pPr algn="l">
              <a:lnSpc>
                <a:spcPct val="110000"/>
              </a:lnSpc>
              <a:spcBef>
                <a:spcPts val="0"/>
              </a:spcBef>
              <a:spcAft>
                <a:spcPts val="0"/>
              </a:spcAft>
            </a:pPr>
            <a:r>
              <a:rPr sz="1880" b="1">
                <a:solidFill>
                  <a:srgbClr val="7450DF"/>
                </a:solidFill>
                <a:latin typeface="Arial"/>
              </a:rPr>
              <a:t>ACADEMIC NOW</a:t>
            </a:r>
          </a:p>
        </p:txBody>
      </p:sp>
      <p:sp>
        <p:nvSpPr>
          <p:cNvPr id="22" name="TextBox 21"/>
          <p:cNvSpPr txBox="1"/>
          <p:nvPr/>
        </p:nvSpPr>
        <p:spPr>
          <a:xfrm>
            <a:off x="777240" y="2615184"/>
            <a:ext cx="3209544" cy="2487168"/>
          </a:xfrm>
          <a:prstGeom prst="rect">
            <a:avLst/>
          </a:prstGeom>
          <a:noFill/>
        </p:spPr>
        <p:txBody>
          <a:bodyPr wrap="square" lIns="0" tIns="0" rIns="0" bIns="0" anchor="t">
            <a:noAutofit/>
          </a:bodyPr>
          <a:lstStyle/>
          <a:p>
            <a:pPr algn="l">
              <a:lnSpc>
                <a:spcPct val="110000"/>
              </a:lnSpc>
              <a:spcBef>
                <a:spcPts val="0"/>
              </a:spcBef>
              <a:spcAft>
                <a:spcPts val="0"/>
              </a:spcAft>
            </a:pPr>
            <a:r>
              <a:rPr sz="2010" b="0">
                <a:solidFill>
                  <a:srgbClr val="50576D"/>
                </a:solidFill>
                <a:latin typeface="Arial"/>
              </a:rPr>
              <a:t>Direct sample routes</a:t>
            </a:r>
          </a:p>
          <a:p>
            <a:pPr algn="l">
              <a:lnSpc>
                <a:spcPct val="110000"/>
              </a:lnSpc>
              <a:spcBef>
                <a:spcPts val="0"/>
              </a:spcBef>
              <a:spcAft>
                <a:spcPts val="0"/>
              </a:spcAft>
            </a:pPr>
            <a:r>
              <a:rPr sz="2010" b="0">
                <a:solidFill>
                  <a:srgbClr val="50576D"/>
                </a:solidFill>
                <a:latin typeface="Arial"/>
              </a:rPr>
              <a:t>Simulated fares/payment</a:t>
            </a:r>
          </a:p>
          <a:p>
            <a:pPr algn="l">
              <a:lnSpc>
                <a:spcPct val="110000"/>
              </a:lnSpc>
              <a:spcBef>
                <a:spcPts val="0"/>
              </a:spcBef>
              <a:spcAft>
                <a:spcPts val="0"/>
              </a:spcAft>
            </a:pPr>
            <a:r>
              <a:rPr sz="2010" b="0">
                <a:solidFill>
                  <a:srgbClr val="50576D"/>
                </a:solidFill>
                <a:latin typeface="Arial"/>
              </a:rPr>
              <a:t>One web process</a:t>
            </a:r>
          </a:p>
        </p:txBody>
      </p:sp>
      <p:cxnSp>
        <p:nvCxnSpPr>
          <p:cNvPr id="23" name="Connector 22"/>
          <p:cNvCxnSpPr/>
          <p:nvPr/>
        </p:nvCxnSpPr>
        <p:spPr>
          <a:xfrm>
            <a:off x="4187952" y="3401568"/>
            <a:ext cx="109728" cy="0"/>
          </a:xfrm>
          <a:prstGeom prst="line">
            <a:avLst/>
          </a:prstGeom>
          <a:ln w="19050">
            <a:solidFill>
              <a:srgbClr val="7450DF"/>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343400" y="2029968"/>
            <a:ext cx="3538728" cy="3127248"/>
          </a:xfrm>
          <a:prstGeom prst="roundRect">
            <a:avLst>
              <a:gd name="adj" fmla="val 14000"/>
            </a:avLst>
          </a:prstGeom>
          <a:solidFill>
            <a:srgbClr val="FBF1E5"/>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07992" y="2167128"/>
            <a:ext cx="3209544" cy="365760"/>
          </a:xfrm>
          <a:prstGeom prst="rect">
            <a:avLst/>
          </a:prstGeom>
          <a:noFill/>
        </p:spPr>
        <p:txBody>
          <a:bodyPr wrap="square" lIns="0" tIns="0" rIns="0" bIns="0" anchor="t">
            <a:noAutofit/>
          </a:bodyPr>
          <a:lstStyle/>
          <a:p>
            <a:pPr algn="l">
              <a:lnSpc>
                <a:spcPct val="110000"/>
              </a:lnSpc>
              <a:spcBef>
                <a:spcPts val="0"/>
              </a:spcBef>
              <a:spcAft>
                <a:spcPts val="0"/>
              </a:spcAft>
            </a:pPr>
            <a:r>
              <a:rPr sz="1880" b="1">
                <a:solidFill>
                  <a:srgbClr val="B97D38"/>
                </a:solidFill>
                <a:latin typeface="Arial"/>
              </a:rPr>
              <a:t>ENGINEERING NEXT</a:t>
            </a:r>
          </a:p>
        </p:txBody>
      </p:sp>
      <p:sp>
        <p:nvSpPr>
          <p:cNvPr id="26" name="TextBox 25"/>
          <p:cNvSpPr txBox="1"/>
          <p:nvPr/>
        </p:nvSpPr>
        <p:spPr>
          <a:xfrm>
            <a:off x="4507992" y="2615184"/>
            <a:ext cx="3209544" cy="2487168"/>
          </a:xfrm>
          <a:prstGeom prst="rect">
            <a:avLst/>
          </a:prstGeom>
          <a:noFill/>
        </p:spPr>
        <p:txBody>
          <a:bodyPr wrap="square" lIns="0" tIns="0" rIns="0" bIns="0" anchor="t">
            <a:noAutofit/>
          </a:bodyPr>
          <a:lstStyle/>
          <a:p>
            <a:pPr algn="l">
              <a:lnSpc>
                <a:spcPct val="110000"/>
              </a:lnSpc>
              <a:spcBef>
                <a:spcPts val="0"/>
              </a:spcBef>
              <a:spcAft>
                <a:spcPts val="0"/>
              </a:spcAft>
            </a:pPr>
            <a:r>
              <a:rPr sz="2010" b="0">
                <a:solidFill>
                  <a:srgbClr val="50576D"/>
                </a:solidFill>
                <a:latin typeface="Arial"/>
              </a:rPr>
              <a:t>SQL pagination + batching</a:t>
            </a:r>
          </a:p>
          <a:p>
            <a:pPr algn="l">
              <a:lnSpc>
                <a:spcPct val="110000"/>
              </a:lnSpc>
              <a:spcBef>
                <a:spcPts val="0"/>
              </a:spcBef>
              <a:spcAft>
                <a:spcPts val="0"/>
              </a:spcAft>
            </a:pPr>
            <a:r>
              <a:rPr sz="2010" b="0">
                <a:solidFill>
                  <a:srgbClr val="50576D"/>
                </a:solidFill>
                <a:latin typeface="Arial"/>
              </a:rPr>
              <a:t>Migrations + safe seeding</a:t>
            </a:r>
          </a:p>
          <a:p>
            <a:pPr algn="l">
              <a:lnSpc>
                <a:spcPct val="110000"/>
              </a:lnSpc>
              <a:spcBef>
                <a:spcPts val="0"/>
              </a:spcBef>
              <a:spcAft>
                <a:spcPts val="0"/>
              </a:spcAft>
            </a:pPr>
            <a:r>
              <a:rPr sz="2010" b="0">
                <a:solidFill>
                  <a:srgbClr val="50576D"/>
                </a:solidFill>
                <a:latin typeface="Arial"/>
              </a:rPr>
              <a:t>TLS, secrets, recovery</a:t>
            </a:r>
          </a:p>
        </p:txBody>
      </p:sp>
      <p:cxnSp>
        <p:nvCxnSpPr>
          <p:cNvPr id="27" name="Connector 26"/>
          <p:cNvCxnSpPr/>
          <p:nvPr/>
        </p:nvCxnSpPr>
        <p:spPr>
          <a:xfrm>
            <a:off x="7918704" y="3401568"/>
            <a:ext cx="109728" cy="0"/>
          </a:xfrm>
          <a:prstGeom prst="line">
            <a:avLst/>
          </a:prstGeom>
          <a:ln w="19050">
            <a:solidFill>
              <a:srgbClr val="B97D38"/>
            </a:solidFill>
            <a:tailEnd type="triangle" w="sm" len="sm"/>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074152" y="2029968"/>
            <a:ext cx="3538728" cy="3127248"/>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38744" y="2167128"/>
            <a:ext cx="3209544" cy="365760"/>
          </a:xfrm>
          <a:prstGeom prst="rect">
            <a:avLst/>
          </a:prstGeom>
          <a:noFill/>
        </p:spPr>
        <p:txBody>
          <a:bodyPr wrap="square" lIns="0" tIns="0" rIns="0" bIns="0" anchor="t">
            <a:noAutofit/>
          </a:bodyPr>
          <a:lstStyle/>
          <a:p>
            <a:pPr algn="l">
              <a:lnSpc>
                <a:spcPct val="110000"/>
              </a:lnSpc>
              <a:spcBef>
                <a:spcPts val="0"/>
              </a:spcBef>
              <a:spcAft>
                <a:spcPts val="0"/>
              </a:spcAft>
            </a:pPr>
            <a:r>
              <a:rPr sz="1880" b="1">
                <a:solidFill>
                  <a:srgbClr val="389778"/>
                </a:solidFill>
                <a:latin typeface="Arial"/>
              </a:rPr>
              <a:t>AUTHORISED RAIL</a:t>
            </a:r>
          </a:p>
        </p:txBody>
      </p:sp>
      <p:sp>
        <p:nvSpPr>
          <p:cNvPr id="30" name="TextBox 29"/>
          <p:cNvSpPr txBox="1"/>
          <p:nvPr/>
        </p:nvSpPr>
        <p:spPr>
          <a:xfrm>
            <a:off x="8238744" y="2615184"/>
            <a:ext cx="3209544" cy="2487168"/>
          </a:xfrm>
          <a:prstGeom prst="rect">
            <a:avLst/>
          </a:prstGeom>
          <a:noFill/>
        </p:spPr>
        <p:txBody>
          <a:bodyPr wrap="square" lIns="0" tIns="0" rIns="0" bIns="0" anchor="t">
            <a:noAutofit/>
          </a:bodyPr>
          <a:lstStyle/>
          <a:p>
            <a:pPr algn="l">
              <a:lnSpc>
                <a:spcPct val="110000"/>
              </a:lnSpc>
              <a:spcBef>
                <a:spcPts val="0"/>
              </a:spcBef>
              <a:spcAft>
                <a:spcPts val="0"/>
              </a:spcAft>
            </a:pPr>
            <a:r>
              <a:rPr sz="2010" b="0">
                <a:solidFill>
                  <a:srgbClr val="50576D"/>
                </a:solidFill>
                <a:latin typeface="Arial"/>
              </a:rPr>
              <a:t>Segment + calendar inventory</a:t>
            </a:r>
          </a:p>
          <a:p>
            <a:pPr algn="l">
              <a:lnSpc>
                <a:spcPct val="110000"/>
              </a:lnSpc>
              <a:spcBef>
                <a:spcPts val="0"/>
              </a:spcBef>
              <a:spcAft>
                <a:spcPts val="0"/>
              </a:spcAft>
            </a:pPr>
            <a:r>
              <a:rPr sz="2010" b="0">
                <a:solidFill>
                  <a:srgbClr val="50576D"/>
                </a:solidFill>
                <a:latin typeface="Arial"/>
              </a:rPr>
              <a:t>Feasible transfers</a:t>
            </a:r>
          </a:p>
          <a:p>
            <a:pPr algn="l">
              <a:lnSpc>
                <a:spcPct val="110000"/>
              </a:lnSpc>
              <a:spcBef>
                <a:spcPts val="0"/>
              </a:spcBef>
              <a:spcAft>
                <a:spcPts val="0"/>
              </a:spcAft>
            </a:pPr>
            <a:r>
              <a:rPr sz="2010" b="0">
                <a:solidFill>
                  <a:srgbClr val="50576D"/>
                </a:solidFill>
                <a:latin typeface="Arial"/>
              </a:rPr>
              <a:t>Payment reconciliation</a:t>
            </a:r>
          </a:p>
        </p:txBody>
      </p:sp>
      <p:sp>
        <p:nvSpPr>
          <p:cNvPr id="31" name="TextBox 30"/>
          <p:cNvSpPr txBox="1"/>
          <p:nvPr/>
        </p:nvSpPr>
        <p:spPr>
          <a:xfrm>
            <a:off x="1088136" y="5504688"/>
            <a:ext cx="10040112" cy="246888"/>
          </a:xfrm>
          <a:prstGeom prst="rect">
            <a:avLst/>
          </a:prstGeom>
          <a:noFill/>
        </p:spPr>
        <p:txBody>
          <a:bodyPr wrap="square" lIns="0" tIns="0" rIns="0" bIns="0" anchor="t">
            <a:noAutofit/>
          </a:bodyPr>
          <a:lstStyle/>
          <a:p>
            <a:pPr algn="ctr">
              <a:lnSpc>
                <a:spcPct val="110000"/>
              </a:lnSpc>
              <a:spcBef>
                <a:spcPts val="0"/>
              </a:spcBef>
              <a:spcAft>
                <a:spcPts val="0"/>
              </a:spcAft>
            </a:pPr>
            <a:r>
              <a:rPr sz="1900" b="1">
                <a:solidFill>
                  <a:srgbClr val="7F869A"/>
                </a:solidFill>
                <a:latin typeface="Arial"/>
              </a:rPr>
              <a:t>Measure → change one boundary → add counterexamples → revalidate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OVERALL PROJECT DEMONSTRATION / TECHNICAL DEFENCE</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Technical defence: explain the decision</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Answer with invariants, algorithm preconditions, source contracts and executed evidence.</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A student should defend these choices and make one meaningful, tested extension—not merely show the UI.</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TECHNICAL_DEFENCE.md • ASSESSMENT_MAP.md</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34 / 35</a:t>
            </a:r>
          </a:p>
        </p:txBody>
      </p:sp>
      <p:sp>
        <p:nvSpPr>
          <p:cNvPr id="20" name="Rounded Rectangle 19"/>
          <p:cNvSpPr/>
          <p:nvPr/>
        </p:nvSpPr>
        <p:spPr>
          <a:xfrm>
            <a:off x="612648" y="2011680"/>
            <a:ext cx="3538728" cy="1645920"/>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2148840"/>
            <a:ext cx="3209544" cy="365760"/>
          </a:xfrm>
          <a:prstGeom prst="rect">
            <a:avLst/>
          </a:prstGeom>
          <a:noFill/>
        </p:spPr>
        <p:txBody>
          <a:bodyPr wrap="square" lIns="0" tIns="0" rIns="0" bIns="0" anchor="t">
            <a:noAutofit/>
          </a:bodyPr>
          <a:lstStyle/>
          <a:p>
            <a:pPr algn="l">
              <a:lnSpc>
                <a:spcPct val="110000"/>
              </a:lnSpc>
              <a:spcBef>
                <a:spcPts val="0"/>
              </a:spcBef>
              <a:spcAft>
                <a:spcPts val="0"/>
              </a:spcAft>
            </a:pPr>
            <a:r>
              <a:rPr sz="1870" b="1">
                <a:solidFill>
                  <a:srgbClr val="7450DF"/>
                </a:solidFill>
                <a:latin typeface="Arial"/>
              </a:rPr>
              <a:t>Why not trust availability?</a:t>
            </a:r>
          </a:p>
        </p:txBody>
      </p:sp>
      <p:sp>
        <p:nvSpPr>
          <p:cNvPr id="22" name="TextBox 21"/>
          <p:cNvSpPr txBox="1"/>
          <p:nvPr/>
        </p:nvSpPr>
        <p:spPr>
          <a:xfrm>
            <a:off x="777240" y="2596896"/>
            <a:ext cx="3209544" cy="1005840"/>
          </a:xfrm>
          <a:prstGeom prst="rect">
            <a:avLst/>
          </a:prstGeom>
          <a:noFill/>
        </p:spPr>
        <p:txBody>
          <a:bodyPr wrap="square" lIns="0" tIns="0" rIns="0" bIns="0" anchor="t">
            <a:noAutofit/>
          </a:bodyPr>
          <a:lstStyle/>
          <a:p>
            <a:pPr algn="l">
              <a:lnSpc>
                <a:spcPct val="110000"/>
              </a:lnSpc>
              <a:spcBef>
                <a:spcPts val="0"/>
              </a:spcBef>
              <a:spcAft>
                <a:spcPts val="0"/>
              </a:spcAft>
            </a:pPr>
            <a:r>
              <a:rPr sz="1739" b="0">
                <a:solidFill>
                  <a:srgbClr val="50576D"/>
                </a:solidFill>
                <a:latin typeface="Arial"/>
              </a:rPr>
              <a:t>Snapshot ≠ ownership.</a:t>
            </a:r>
          </a:p>
          <a:p>
            <a:pPr algn="l">
              <a:lnSpc>
                <a:spcPct val="110000"/>
              </a:lnSpc>
              <a:spcBef>
                <a:spcPts val="0"/>
              </a:spcBef>
              <a:spcAft>
                <a:spcPts val="0"/>
              </a:spcAft>
            </a:pPr>
            <a:r>
              <a:rPr sz="1739" b="0">
                <a:solidFill>
                  <a:srgbClr val="50576D"/>
                </a:solidFill>
                <a:latin typeface="Arial"/>
              </a:rPr>
              <a:t>Lock + unique key at commit.</a:t>
            </a:r>
          </a:p>
        </p:txBody>
      </p:sp>
      <p:sp>
        <p:nvSpPr>
          <p:cNvPr id="23" name="Rounded Rectangle 22"/>
          <p:cNvSpPr/>
          <p:nvPr/>
        </p:nvSpPr>
        <p:spPr>
          <a:xfrm>
            <a:off x="4343400" y="2011680"/>
            <a:ext cx="3538728" cy="1645920"/>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07992" y="2148840"/>
            <a:ext cx="3209544" cy="365760"/>
          </a:xfrm>
          <a:prstGeom prst="rect">
            <a:avLst/>
          </a:prstGeom>
          <a:noFill/>
        </p:spPr>
        <p:txBody>
          <a:bodyPr wrap="square" lIns="0" tIns="0" rIns="0" bIns="0" anchor="t">
            <a:noAutofit/>
          </a:bodyPr>
          <a:lstStyle/>
          <a:p>
            <a:pPr algn="l">
              <a:lnSpc>
                <a:spcPct val="110000"/>
              </a:lnSpc>
              <a:spcBef>
                <a:spcPts val="0"/>
              </a:spcBef>
              <a:spcAft>
                <a:spcPts val="0"/>
              </a:spcAft>
            </a:pPr>
            <a:r>
              <a:rPr sz="1870" b="1">
                <a:solidFill>
                  <a:srgbClr val="7450DF"/>
                </a:solidFill>
                <a:latin typeface="Arial"/>
              </a:rPr>
              <a:t>Why can DP cost differ?</a:t>
            </a:r>
          </a:p>
        </p:txBody>
      </p:sp>
      <p:sp>
        <p:nvSpPr>
          <p:cNvPr id="25" name="TextBox 24"/>
          <p:cNvSpPr txBox="1"/>
          <p:nvPr/>
        </p:nvSpPr>
        <p:spPr>
          <a:xfrm>
            <a:off x="4507992" y="2596896"/>
            <a:ext cx="3209544" cy="1005840"/>
          </a:xfrm>
          <a:prstGeom prst="rect">
            <a:avLst/>
          </a:prstGeom>
          <a:noFill/>
        </p:spPr>
        <p:txBody>
          <a:bodyPr wrap="square" lIns="0" tIns="0" rIns="0" bIns="0" anchor="t">
            <a:noAutofit/>
          </a:bodyPr>
          <a:lstStyle/>
          <a:p>
            <a:pPr algn="l">
              <a:lnSpc>
                <a:spcPct val="110000"/>
              </a:lnSpc>
              <a:spcBef>
                <a:spcPts val="0"/>
              </a:spcBef>
              <a:spcAft>
                <a:spcPts val="0"/>
              </a:spcAft>
            </a:pPr>
            <a:r>
              <a:rPr sz="1739" b="0">
                <a:solidFill>
                  <a:srgbClr val="50576D"/>
                </a:solidFill>
                <a:latin typeface="Arial"/>
              </a:rPr>
              <a:t>The allowed edge count changes</a:t>
            </a:r>
          </a:p>
          <a:p>
            <a:pPr algn="l">
              <a:lnSpc>
                <a:spcPct val="110000"/>
              </a:lnSpc>
              <a:spcBef>
                <a:spcPts val="0"/>
              </a:spcBef>
              <a:spcAft>
                <a:spcPts val="0"/>
              </a:spcAft>
            </a:pPr>
            <a:r>
              <a:rPr sz="1739" b="0">
                <a:solidFill>
                  <a:srgbClr val="50576D"/>
                </a:solidFill>
                <a:latin typeface="Arial"/>
              </a:rPr>
              <a:t>which paths are feasible.</a:t>
            </a:r>
          </a:p>
        </p:txBody>
      </p:sp>
      <p:sp>
        <p:nvSpPr>
          <p:cNvPr id="26" name="Rounded Rectangle 25"/>
          <p:cNvSpPr/>
          <p:nvPr/>
        </p:nvSpPr>
        <p:spPr>
          <a:xfrm>
            <a:off x="8074152" y="2011680"/>
            <a:ext cx="3538728" cy="1645920"/>
          </a:xfrm>
          <a:prstGeom prst="roundRect">
            <a:avLst>
              <a:gd name="adj" fmla="val 14000"/>
            </a:avLst>
          </a:prstGeom>
          <a:solidFill>
            <a:srgbClr val="F3EFFC"/>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38744" y="2148840"/>
            <a:ext cx="3209544" cy="365760"/>
          </a:xfrm>
          <a:prstGeom prst="rect">
            <a:avLst/>
          </a:prstGeom>
          <a:noFill/>
        </p:spPr>
        <p:txBody>
          <a:bodyPr wrap="square" lIns="0" tIns="0" rIns="0" bIns="0" anchor="t">
            <a:noAutofit/>
          </a:bodyPr>
          <a:lstStyle/>
          <a:p>
            <a:pPr algn="l">
              <a:lnSpc>
                <a:spcPct val="110000"/>
              </a:lnSpc>
              <a:spcBef>
                <a:spcPts val="0"/>
              </a:spcBef>
              <a:spcAft>
                <a:spcPts val="0"/>
              </a:spcAft>
            </a:pPr>
            <a:r>
              <a:rPr sz="1870" b="1">
                <a:solidFill>
                  <a:srgbClr val="7450DF"/>
                </a:solidFill>
                <a:latin typeface="Arial"/>
              </a:rPr>
              <a:t>Why bounded seat search?</a:t>
            </a:r>
          </a:p>
        </p:txBody>
      </p:sp>
      <p:sp>
        <p:nvSpPr>
          <p:cNvPr id="28" name="TextBox 27"/>
          <p:cNvSpPr txBox="1"/>
          <p:nvPr/>
        </p:nvSpPr>
        <p:spPr>
          <a:xfrm>
            <a:off x="8238744" y="2596896"/>
            <a:ext cx="3209544" cy="1005840"/>
          </a:xfrm>
          <a:prstGeom prst="rect">
            <a:avLst/>
          </a:prstGeom>
          <a:noFill/>
        </p:spPr>
        <p:txBody>
          <a:bodyPr wrap="square" lIns="0" tIns="0" rIns="0" bIns="0" anchor="t">
            <a:noAutofit/>
          </a:bodyPr>
          <a:lstStyle/>
          <a:p>
            <a:pPr algn="l">
              <a:lnSpc>
                <a:spcPct val="110000"/>
              </a:lnSpc>
              <a:spcBef>
                <a:spcPts val="0"/>
              </a:spcBef>
              <a:spcAft>
                <a:spcPts val="0"/>
              </a:spcAft>
            </a:pPr>
            <a:r>
              <a:rPr sz="1739" b="0">
                <a:solidFill>
                  <a:srgbClr val="50576D"/>
                </a:solidFill>
                <a:latin typeface="Arial"/>
              </a:rPr>
              <a:t>Six-seat rows; k≤6.</a:t>
            </a:r>
          </a:p>
          <a:p>
            <a:pPr algn="l">
              <a:lnSpc>
                <a:spcPct val="110000"/>
              </a:lnSpc>
              <a:spcBef>
                <a:spcPts val="0"/>
              </a:spcBef>
              <a:spcAft>
                <a:spcPts val="0"/>
              </a:spcAft>
            </a:pPr>
            <a:r>
              <a:rPr sz="1739" b="0">
                <a:solidFill>
                  <a:srgbClr val="50576D"/>
                </a:solidFill>
                <a:latin typeface="Arial"/>
              </a:rPr>
              <a:t>Preferences can fall back.</a:t>
            </a:r>
          </a:p>
        </p:txBody>
      </p:sp>
      <p:sp>
        <p:nvSpPr>
          <p:cNvPr id="29" name="Rounded Rectangle 28"/>
          <p:cNvSpPr/>
          <p:nvPr/>
        </p:nvSpPr>
        <p:spPr>
          <a:xfrm>
            <a:off x="612648" y="3867912"/>
            <a:ext cx="3538728" cy="1645920"/>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7240" y="4005072"/>
            <a:ext cx="3209544" cy="365760"/>
          </a:xfrm>
          <a:prstGeom prst="rect">
            <a:avLst/>
          </a:prstGeom>
          <a:noFill/>
        </p:spPr>
        <p:txBody>
          <a:bodyPr wrap="square" lIns="0" tIns="0" rIns="0" bIns="0" anchor="t">
            <a:noAutofit/>
          </a:bodyPr>
          <a:lstStyle/>
          <a:p>
            <a:pPr algn="l">
              <a:lnSpc>
                <a:spcPct val="110000"/>
              </a:lnSpc>
              <a:spcBef>
                <a:spcPts val="0"/>
              </a:spcBef>
              <a:spcAft>
                <a:spcPts val="0"/>
              </a:spcAft>
            </a:pPr>
            <a:r>
              <a:rPr sz="1870" b="1">
                <a:solidFill>
                  <a:srgbClr val="389778"/>
                </a:solidFill>
                <a:latin typeface="Arial"/>
              </a:rPr>
              <a:t>Why processes for the lab?</a:t>
            </a:r>
          </a:p>
        </p:txBody>
      </p:sp>
      <p:sp>
        <p:nvSpPr>
          <p:cNvPr id="31" name="TextBox 30"/>
          <p:cNvSpPr txBox="1"/>
          <p:nvPr/>
        </p:nvSpPr>
        <p:spPr>
          <a:xfrm>
            <a:off x="777240" y="4453128"/>
            <a:ext cx="3209544" cy="1005840"/>
          </a:xfrm>
          <a:prstGeom prst="rect">
            <a:avLst/>
          </a:prstGeom>
          <a:noFill/>
        </p:spPr>
        <p:txBody>
          <a:bodyPr wrap="square" lIns="0" tIns="0" rIns="0" bIns="0" anchor="t">
            <a:noAutofit/>
          </a:bodyPr>
          <a:lstStyle/>
          <a:p>
            <a:pPr algn="l">
              <a:lnSpc>
                <a:spcPct val="110000"/>
              </a:lnSpc>
              <a:spcBef>
                <a:spcPts val="0"/>
              </a:spcBef>
              <a:spcAft>
                <a:spcPts val="0"/>
              </a:spcAft>
            </a:pPr>
            <a:r>
              <a:rPr sz="1739" b="0">
                <a:solidFill>
                  <a:srgbClr val="50576D"/>
                </a:solidFill>
                <a:latin typeface="Arial"/>
              </a:rPr>
              <a:t>Pure Python CPU work and GIL.</a:t>
            </a:r>
          </a:p>
          <a:p>
            <a:pPr algn="l">
              <a:lnSpc>
                <a:spcPct val="110000"/>
              </a:lnSpc>
              <a:spcBef>
                <a:spcPts val="0"/>
              </a:spcBef>
              <a:spcAft>
                <a:spcPts val="0"/>
              </a:spcAft>
            </a:pPr>
            <a:r>
              <a:rPr sz="1739" b="0">
                <a:solidFill>
                  <a:srgbClr val="50576D"/>
                </a:solidFill>
                <a:latin typeface="Arial"/>
              </a:rPr>
              <a:t>Measure process overhead.</a:t>
            </a:r>
          </a:p>
        </p:txBody>
      </p:sp>
      <p:sp>
        <p:nvSpPr>
          <p:cNvPr id="32" name="Rounded Rectangle 31"/>
          <p:cNvSpPr/>
          <p:nvPr/>
        </p:nvSpPr>
        <p:spPr>
          <a:xfrm>
            <a:off x="4343400" y="3867912"/>
            <a:ext cx="3538728" cy="1645920"/>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07992" y="4005072"/>
            <a:ext cx="3209544" cy="365760"/>
          </a:xfrm>
          <a:prstGeom prst="rect">
            <a:avLst/>
          </a:prstGeom>
          <a:noFill/>
        </p:spPr>
        <p:txBody>
          <a:bodyPr wrap="square" lIns="0" tIns="0" rIns="0" bIns="0" anchor="t">
            <a:noAutofit/>
          </a:bodyPr>
          <a:lstStyle/>
          <a:p>
            <a:pPr algn="l">
              <a:lnSpc>
                <a:spcPct val="110000"/>
              </a:lnSpc>
              <a:spcBef>
                <a:spcPts val="0"/>
              </a:spcBef>
              <a:spcAft>
                <a:spcPts val="0"/>
              </a:spcAft>
            </a:pPr>
            <a:r>
              <a:rPr sz="1870" b="1">
                <a:solidFill>
                  <a:srgbClr val="389778"/>
                </a:solidFill>
                <a:latin typeface="Arial"/>
              </a:rPr>
              <a:t>Does 98.49% prove safety?</a:t>
            </a:r>
          </a:p>
        </p:txBody>
      </p:sp>
      <p:sp>
        <p:nvSpPr>
          <p:cNvPr id="34" name="TextBox 33"/>
          <p:cNvSpPr txBox="1"/>
          <p:nvPr/>
        </p:nvSpPr>
        <p:spPr>
          <a:xfrm>
            <a:off x="4507992" y="4453128"/>
            <a:ext cx="3209544" cy="1005840"/>
          </a:xfrm>
          <a:prstGeom prst="rect">
            <a:avLst/>
          </a:prstGeom>
          <a:noFill/>
        </p:spPr>
        <p:txBody>
          <a:bodyPr wrap="square" lIns="0" tIns="0" rIns="0" bIns="0" anchor="t">
            <a:noAutofit/>
          </a:bodyPr>
          <a:lstStyle/>
          <a:p>
            <a:pPr algn="l">
              <a:lnSpc>
                <a:spcPct val="110000"/>
              </a:lnSpc>
              <a:spcBef>
                <a:spcPts val="0"/>
              </a:spcBef>
              <a:spcAft>
                <a:spcPts val="0"/>
              </a:spcAft>
            </a:pPr>
            <a:r>
              <a:rPr sz="1739" b="0">
                <a:solidFill>
                  <a:srgbClr val="50576D"/>
                </a:solidFill>
                <a:latin typeface="Arial"/>
              </a:rPr>
              <a:t>No: scoped statement coverage.</a:t>
            </a:r>
          </a:p>
          <a:p>
            <a:pPr algn="l">
              <a:lnSpc>
                <a:spcPct val="110000"/>
              </a:lnSpc>
              <a:spcBef>
                <a:spcPts val="0"/>
              </a:spcBef>
              <a:spcAft>
                <a:spcPts val="0"/>
              </a:spcAft>
            </a:pPr>
            <a:r>
              <a:rPr sz="1739" b="0">
                <a:solidFill>
                  <a:srgbClr val="50576D"/>
                </a:solidFill>
                <a:latin typeface="Arial"/>
              </a:rPr>
              <a:t>Review failures and properties.</a:t>
            </a:r>
          </a:p>
        </p:txBody>
      </p:sp>
      <p:sp>
        <p:nvSpPr>
          <p:cNvPr id="35" name="Rounded Rectangle 34"/>
          <p:cNvSpPr/>
          <p:nvPr/>
        </p:nvSpPr>
        <p:spPr>
          <a:xfrm>
            <a:off x="8074152" y="3867912"/>
            <a:ext cx="3538728" cy="1645920"/>
          </a:xfrm>
          <a:prstGeom prst="roundRect">
            <a:avLst>
              <a:gd name="adj" fmla="val 14000"/>
            </a:avLst>
          </a:prstGeom>
          <a:solidFill>
            <a:srgbClr val="EAF5F0"/>
          </a:solidFill>
          <a:ln w="12700">
            <a:solidFill>
              <a:srgbClr val="E3DE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38744" y="4005072"/>
            <a:ext cx="3209544" cy="365760"/>
          </a:xfrm>
          <a:prstGeom prst="rect">
            <a:avLst/>
          </a:prstGeom>
          <a:noFill/>
        </p:spPr>
        <p:txBody>
          <a:bodyPr wrap="square" lIns="0" tIns="0" rIns="0" bIns="0" anchor="t">
            <a:noAutofit/>
          </a:bodyPr>
          <a:lstStyle/>
          <a:p>
            <a:pPr algn="l">
              <a:lnSpc>
                <a:spcPct val="110000"/>
              </a:lnSpc>
              <a:spcBef>
                <a:spcPts val="0"/>
              </a:spcBef>
              <a:spcAft>
                <a:spcPts val="0"/>
              </a:spcAft>
            </a:pPr>
            <a:r>
              <a:rPr sz="1870" b="1">
                <a:solidFill>
                  <a:srgbClr val="389778"/>
                </a:solidFill>
                <a:latin typeface="Arial"/>
              </a:rPr>
              <a:t>What proves mastery?</a:t>
            </a:r>
          </a:p>
        </p:txBody>
      </p:sp>
      <p:sp>
        <p:nvSpPr>
          <p:cNvPr id="37" name="TextBox 36"/>
          <p:cNvSpPr txBox="1"/>
          <p:nvPr/>
        </p:nvSpPr>
        <p:spPr>
          <a:xfrm>
            <a:off x="8238744" y="4453128"/>
            <a:ext cx="3209544" cy="1005840"/>
          </a:xfrm>
          <a:prstGeom prst="rect">
            <a:avLst/>
          </a:prstGeom>
          <a:noFill/>
        </p:spPr>
        <p:txBody>
          <a:bodyPr wrap="square" lIns="0" tIns="0" rIns="0" bIns="0" anchor="t">
            <a:noAutofit/>
          </a:bodyPr>
          <a:lstStyle/>
          <a:p>
            <a:pPr algn="l">
              <a:lnSpc>
                <a:spcPct val="110000"/>
              </a:lnSpc>
              <a:spcBef>
                <a:spcPts val="0"/>
              </a:spcBef>
              <a:spcAft>
                <a:spcPts val="0"/>
              </a:spcAft>
            </a:pPr>
            <a:r>
              <a:rPr sz="1739" b="0">
                <a:solidFill>
                  <a:srgbClr val="50576D"/>
                </a:solidFill>
                <a:latin typeface="Arial"/>
              </a:rPr>
              <a:t>A new regression + small change</a:t>
            </a:r>
          </a:p>
          <a:p>
            <a:pPr algn="l">
              <a:lnSpc>
                <a:spcPct val="110000"/>
              </a:lnSpc>
              <a:spcBef>
                <a:spcPts val="0"/>
              </a:spcBef>
              <a:spcAft>
                <a:spcPts val="0"/>
              </a:spcAft>
            </a:pPr>
            <a:r>
              <a:rPr sz="1739" b="0">
                <a:solidFill>
                  <a:srgbClr val="50576D"/>
                </a:solidFill>
                <a:latin typeface="Arial"/>
              </a:rPr>
              <a:t>+ explanation of its invariants.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21207" y="283464"/>
            <a:ext cx="9692640" cy="219456"/>
          </a:xfrm>
          <a:prstGeom prst="rect">
            <a:avLst/>
          </a:prstGeom>
          <a:noFill/>
        </p:spPr>
        <p:txBody>
          <a:bodyPr wrap="square" lIns="0" tIns="0" rIns="0" bIns="0" anchor="t">
            <a:noAutofit/>
          </a:bodyPr>
          <a:lstStyle/>
          <a:p>
            <a:pPr algn="l">
              <a:lnSpc>
                <a:spcPct val="110000"/>
              </a:lnSpc>
              <a:spcBef>
                <a:spcPts val="0"/>
              </a:spcBef>
              <a:spcAft>
                <a:spcPts val="0"/>
              </a:spcAft>
            </a:pPr>
            <a:r>
              <a:rPr sz="1100" b="1">
                <a:solidFill>
                  <a:srgbClr val="7450DF"/>
                </a:solidFill>
                <a:latin typeface="Arial"/>
              </a:rPr>
              <a:t>ASSESSMENT MAP / EVIDENCE AND CLOSING</a:t>
            </a:r>
          </a:p>
        </p:txBody>
      </p:sp>
      <p:sp>
        <p:nvSpPr>
          <p:cNvPr id="3" name="Rounded Rectangle 2"/>
          <p:cNvSpPr/>
          <p:nvPr/>
        </p:nvSpPr>
        <p:spPr>
          <a:xfrm>
            <a:off x="11247120" y="265176"/>
            <a:ext cx="356616" cy="356616"/>
          </a:xfrm>
          <a:prstGeom prst="roundRect">
            <a:avLst>
              <a:gd name="adj" fmla="val 14000"/>
            </a:avLst>
          </a:prstGeom>
          <a:solidFill>
            <a:srgbClr val="745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1339840" y="325800"/>
            <a:ext cx="171175" cy="206837"/>
          </a:xfrm>
          <a:prstGeom prst="roundRect">
            <a:avLst>
              <a:gd name="adj" fmla="val 14000"/>
            </a:avLst>
          </a:prstGeom>
          <a:solidFill>
            <a:srgbClr val="7450D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11339840" y="429219"/>
            <a:ext cx="171175" cy="0"/>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425428" y="325800"/>
            <a:ext cx="0" cy="103419"/>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1329141"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478920" y="532638"/>
            <a:ext cx="39228" cy="35661"/>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21207" y="676656"/>
            <a:ext cx="11045952" cy="557784"/>
          </a:xfrm>
          <a:prstGeom prst="rect">
            <a:avLst/>
          </a:prstGeom>
          <a:noFill/>
        </p:spPr>
        <p:txBody>
          <a:bodyPr wrap="square" lIns="0" tIns="0" rIns="0" bIns="0" anchor="t">
            <a:noAutofit/>
          </a:bodyPr>
          <a:lstStyle/>
          <a:p>
            <a:pPr algn="l">
              <a:lnSpc>
                <a:spcPct val="110000"/>
              </a:lnSpc>
              <a:spcBef>
                <a:spcPts val="0"/>
              </a:spcBef>
              <a:spcAft>
                <a:spcPts val="0"/>
              </a:spcAft>
            </a:pPr>
            <a:r>
              <a:rPr sz="3200" b="1">
                <a:solidFill>
                  <a:srgbClr val="22263B"/>
                </a:solidFill>
                <a:latin typeface="Arial"/>
              </a:rPr>
              <a:t>Every course outcome has inspectable evidence</a:t>
            </a:r>
          </a:p>
        </p:txBody>
      </p:sp>
      <p:sp>
        <p:nvSpPr>
          <p:cNvPr id="10" name="Rounded Rectangle 9"/>
          <p:cNvSpPr/>
          <p:nvPr/>
        </p:nvSpPr>
        <p:spPr>
          <a:xfrm>
            <a:off x="521207" y="1362456"/>
            <a:ext cx="11119104" cy="41148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476756"/>
            <a:ext cx="1005840" cy="164592"/>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7450DF"/>
                </a:solidFill>
                <a:latin typeface="Arial"/>
              </a:rPr>
              <a:t>METHOD</a:t>
            </a:r>
          </a:p>
        </p:txBody>
      </p:sp>
      <p:sp>
        <p:nvSpPr>
          <p:cNvPr id="12" name="TextBox 11"/>
          <p:cNvSpPr txBox="1"/>
          <p:nvPr/>
        </p:nvSpPr>
        <p:spPr>
          <a:xfrm>
            <a:off x="1783080" y="1449324"/>
            <a:ext cx="9656064" cy="265176"/>
          </a:xfrm>
          <a:prstGeom prst="rect">
            <a:avLst/>
          </a:prstGeom>
          <a:noFill/>
        </p:spPr>
        <p:txBody>
          <a:bodyPr wrap="square" lIns="0" tIns="0" rIns="0" bIns="0" anchor="t">
            <a:noAutofit/>
          </a:bodyPr>
          <a:lstStyle/>
          <a:p>
            <a:pPr algn="l">
              <a:lnSpc>
                <a:spcPct val="110000"/>
              </a:lnSpc>
              <a:spcBef>
                <a:spcPts val="0"/>
              </a:spcBef>
              <a:spcAft>
                <a:spcPts val="0"/>
              </a:spcAft>
            </a:pPr>
            <a:r>
              <a:rPr sz="1450" b="0">
                <a:solidFill>
                  <a:srgbClr val="50576D"/>
                </a:solidFill>
                <a:latin typeface="Arial"/>
              </a:rPr>
              <a:t>Link each claim to code, test artefacts or a demonstration; distinguish completed from proposed work.</a:t>
            </a:r>
          </a:p>
        </p:txBody>
      </p:sp>
      <p:sp>
        <p:nvSpPr>
          <p:cNvPr id="13" name="Rounded Rectangle 12"/>
          <p:cNvSpPr/>
          <p:nvPr/>
        </p:nvSpPr>
        <p:spPr>
          <a:xfrm>
            <a:off x="521207" y="5971032"/>
            <a:ext cx="11119104" cy="502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6108192"/>
            <a:ext cx="1362456" cy="173736"/>
          </a:xfrm>
          <a:prstGeom prst="rect">
            <a:avLst/>
          </a:prstGeom>
          <a:noFill/>
        </p:spPr>
        <p:txBody>
          <a:bodyPr wrap="square" lIns="0" tIns="0" rIns="0" bIns="0" anchor="t">
            <a:noAutofit/>
          </a:bodyPr>
          <a:lstStyle/>
          <a:p>
            <a:pPr algn="l">
              <a:lnSpc>
                <a:spcPct val="110000"/>
              </a:lnSpc>
              <a:spcBef>
                <a:spcPts val="0"/>
              </a:spcBef>
              <a:spcAft>
                <a:spcPts val="0"/>
              </a:spcAft>
            </a:pPr>
            <a:r>
              <a:rPr sz="1050" b="1">
                <a:solidFill>
                  <a:srgbClr val="389778"/>
                </a:solidFill>
                <a:latin typeface="Arial"/>
              </a:rPr>
              <a:t>IN RAILORA</a:t>
            </a:r>
          </a:p>
        </p:txBody>
      </p:sp>
      <p:sp>
        <p:nvSpPr>
          <p:cNvPr id="15" name="TextBox 14"/>
          <p:cNvSpPr txBox="1"/>
          <p:nvPr/>
        </p:nvSpPr>
        <p:spPr>
          <a:xfrm>
            <a:off x="2066543" y="6044184"/>
            <a:ext cx="9372600" cy="420624"/>
          </a:xfrm>
          <a:prstGeom prst="rect">
            <a:avLst/>
          </a:prstGeom>
          <a:noFill/>
        </p:spPr>
        <p:txBody>
          <a:bodyPr wrap="square" lIns="0" tIns="0" rIns="0" bIns="0" anchor="t">
            <a:noAutofit/>
          </a:bodyPr>
          <a:lstStyle/>
          <a:p>
            <a:pPr algn="l">
              <a:lnSpc>
                <a:spcPct val="110000"/>
              </a:lnSpc>
              <a:spcBef>
                <a:spcPts val="0"/>
              </a:spcBef>
              <a:spcAft>
                <a:spcPts val="0"/>
              </a:spcAft>
            </a:pPr>
            <a:r>
              <a:rPr sz="1420" b="0">
                <a:solidFill>
                  <a:srgbClr val="22263B"/>
                </a:solidFill>
                <a:latin typeface="Arial"/>
              </a:rPr>
              <a:t>Use the source ZIP + project report + this deck together; fill the cover details and rehearse the defence.</a:t>
            </a:r>
          </a:p>
        </p:txBody>
      </p:sp>
      <p:cxnSp>
        <p:nvCxnSpPr>
          <p:cNvPr id="16" name="Connector 15"/>
          <p:cNvCxnSpPr/>
          <p:nvPr/>
        </p:nvCxnSpPr>
        <p:spPr>
          <a:xfrm>
            <a:off x="521207" y="6583680"/>
            <a:ext cx="11119105" cy="0"/>
          </a:xfrm>
          <a:prstGeom prst="line">
            <a:avLst/>
          </a:prstGeom>
          <a:ln w="8890">
            <a:solidFill>
              <a:srgbClr val="E3DEE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7" y="6665976"/>
            <a:ext cx="2057400" cy="128016"/>
          </a:xfrm>
          <a:prstGeom prst="rect">
            <a:avLst/>
          </a:prstGeom>
          <a:noFill/>
        </p:spPr>
        <p:txBody>
          <a:bodyPr wrap="square" lIns="0" tIns="0" rIns="0" bIns="0" anchor="t">
            <a:noAutofit/>
          </a:bodyPr>
          <a:lstStyle/>
          <a:p>
            <a:pPr algn="l">
              <a:lnSpc>
                <a:spcPct val="110000"/>
              </a:lnSpc>
              <a:spcBef>
                <a:spcPts val="0"/>
              </a:spcBef>
              <a:spcAft>
                <a:spcPts val="0"/>
              </a:spcAft>
            </a:pPr>
            <a:r>
              <a:rPr sz="869" b="1">
                <a:solidFill>
                  <a:srgbClr val="7F869A"/>
                </a:solidFill>
                <a:latin typeface="Arial"/>
              </a:rPr>
              <a:t>RAILORA  /  ACADEMIC DEMO</a:t>
            </a:r>
          </a:p>
        </p:txBody>
      </p:sp>
      <p:sp>
        <p:nvSpPr>
          <p:cNvPr id="18" name="TextBox 17"/>
          <p:cNvSpPr txBox="1"/>
          <p:nvPr/>
        </p:nvSpPr>
        <p:spPr>
          <a:xfrm>
            <a:off x="2834640" y="6661404"/>
            <a:ext cx="7909560" cy="137160"/>
          </a:xfrm>
          <a:prstGeom prst="rect">
            <a:avLst/>
          </a:prstGeom>
          <a:noFill/>
        </p:spPr>
        <p:txBody>
          <a:bodyPr wrap="square" lIns="0" tIns="0" rIns="0" bIns="0" anchor="t">
            <a:noAutofit/>
          </a:bodyPr>
          <a:lstStyle/>
          <a:p>
            <a:pPr algn="l">
              <a:lnSpc>
                <a:spcPct val="110000"/>
              </a:lnSpc>
              <a:spcBef>
                <a:spcPts val="0"/>
              </a:spcBef>
              <a:spcAft>
                <a:spcPts val="0"/>
              </a:spcAft>
            </a:pPr>
            <a:r>
              <a:rPr sz="900" b="0">
                <a:solidFill>
                  <a:srgbClr val="7F869A"/>
                </a:solidFill>
                <a:latin typeface="Arial"/>
              </a:rPr>
              <a:t>ASSESSMENT_MAP.md • reports/ • ASSET_CREDITS.md</a:t>
            </a:r>
          </a:p>
        </p:txBody>
      </p:sp>
      <p:sp>
        <p:nvSpPr>
          <p:cNvPr id="19" name="TextBox 18"/>
          <p:cNvSpPr txBox="1"/>
          <p:nvPr/>
        </p:nvSpPr>
        <p:spPr>
          <a:xfrm>
            <a:off x="10972800" y="6655003"/>
            <a:ext cx="658368" cy="164592"/>
          </a:xfrm>
          <a:prstGeom prst="rect">
            <a:avLst/>
          </a:prstGeom>
          <a:noFill/>
        </p:spPr>
        <p:txBody>
          <a:bodyPr wrap="square" lIns="0" tIns="0" rIns="0" bIns="0" anchor="t">
            <a:noAutofit/>
          </a:bodyPr>
          <a:lstStyle/>
          <a:p>
            <a:pPr algn="r">
              <a:lnSpc>
                <a:spcPct val="110000"/>
              </a:lnSpc>
              <a:spcBef>
                <a:spcPts val="0"/>
              </a:spcBef>
              <a:spcAft>
                <a:spcPts val="0"/>
              </a:spcAft>
            </a:pPr>
            <a:r>
              <a:rPr sz="1030" b="1">
                <a:solidFill>
                  <a:srgbClr val="7450DF"/>
                </a:solidFill>
                <a:latin typeface="Arial"/>
              </a:rPr>
              <a:t>35 / 35</a:t>
            </a:r>
          </a:p>
        </p:txBody>
      </p:sp>
      <p:sp>
        <p:nvSpPr>
          <p:cNvPr id="20" name="Rounded Rectangle 19"/>
          <p:cNvSpPr/>
          <p:nvPr/>
        </p:nvSpPr>
        <p:spPr>
          <a:xfrm>
            <a:off x="612648" y="2002536"/>
            <a:ext cx="3538728" cy="164592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8096" y="2148840"/>
            <a:ext cx="3227832" cy="310896"/>
          </a:xfrm>
          <a:prstGeom prst="rect">
            <a:avLst/>
          </a:prstGeom>
          <a:noFill/>
        </p:spPr>
        <p:txBody>
          <a:bodyPr wrap="square" lIns="0" tIns="0" rIns="0" bIns="0" anchor="t">
            <a:noAutofit/>
          </a:bodyPr>
          <a:lstStyle/>
          <a:p>
            <a:pPr algn="l">
              <a:lnSpc>
                <a:spcPct val="110000"/>
              </a:lnSpc>
              <a:spcBef>
                <a:spcPts val="0"/>
              </a:spcBef>
              <a:spcAft>
                <a:spcPts val="0"/>
              </a:spcAft>
            </a:pPr>
            <a:r>
              <a:rPr sz="1820" b="1">
                <a:solidFill>
                  <a:srgbClr val="7450DF"/>
                </a:solidFill>
                <a:latin typeface="Arial"/>
              </a:rPr>
              <a:t>01  Computational thinking</a:t>
            </a:r>
          </a:p>
        </p:txBody>
      </p:sp>
      <p:sp>
        <p:nvSpPr>
          <p:cNvPr id="22" name="TextBox 21"/>
          <p:cNvSpPr txBox="1"/>
          <p:nvPr/>
        </p:nvSpPr>
        <p:spPr>
          <a:xfrm>
            <a:off x="768096" y="2615184"/>
            <a:ext cx="3227832" cy="813816"/>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Decomposition → five patterns</a:t>
            </a:r>
          </a:p>
          <a:p>
            <a:pPr algn="l">
              <a:lnSpc>
                <a:spcPct val="110000"/>
              </a:lnSpc>
              <a:spcBef>
                <a:spcPts val="0"/>
              </a:spcBef>
              <a:spcAft>
                <a:spcPts val="0"/>
              </a:spcAft>
            </a:pPr>
            <a:r>
              <a:rPr sz="1660" b="0">
                <a:solidFill>
                  <a:srgbClr val="50576D"/>
                </a:solidFill>
                <a:latin typeface="Arial"/>
              </a:rPr>
              <a:t>Time / space complexity</a:t>
            </a:r>
          </a:p>
          <a:p>
            <a:pPr algn="l">
              <a:lnSpc>
                <a:spcPct val="110000"/>
              </a:lnSpc>
              <a:spcBef>
                <a:spcPts val="0"/>
              </a:spcBef>
              <a:spcAft>
                <a:spcPts val="0"/>
              </a:spcAft>
            </a:pPr>
            <a:r>
              <a:rPr sz="1660" b="0">
                <a:solidFill>
                  <a:srgbClr val="50576D"/>
                </a:solidFill>
                <a:latin typeface="Arial"/>
              </a:rPr>
              <a:t>Expected and amortized</a:t>
            </a:r>
          </a:p>
        </p:txBody>
      </p:sp>
      <p:sp>
        <p:nvSpPr>
          <p:cNvPr id="23" name="TextBox 22"/>
          <p:cNvSpPr txBox="1"/>
          <p:nvPr/>
        </p:nvSpPr>
        <p:spPr>
          <a:xfrm>
            <a:off x="768096" y="3474720"/>
            <a:ext cx="3227832" cy="137160"/>
          </a:xfrm>
          <a:prstGeom prst="rect">
            <a:avLst/>
          </a:prstGeom>
          <a:noFill/>
        </p:spPr>
        <p:txBody>
          <a:bodyPr wrap="square" lIns="0" tIns="0" rIns="0" bIns="0" anchor="t">
            <a:noAutofit/>
          </a:bodyPr>
          <a:lstStyle/>
          <a:p>
            <a:pPr algn="l">
              <a:lnSpc>
                <a:spcPct val="110000"/>
              </a:lnSpc>
              <a:spcBef>
                <a:spcPts val="0"/>
              </a:spcBef>
              <a:spcAft>
                <a:spcPts val="0"/>
              </a:spcAft>
            </a:pPr>
            <a:r>
              <a:rPr sz="1000" b="0">
                <a:solidFill>
                  <a:srgbClr val="7F869A"/>
                </a:solidFill>
                <a:latin typeface="Arial"/>
              </a:rPr>
              <a:t>algorithms.py / ALGORITHMS.md</a:t>
            </a:r>
          </a:p>
        </p:txBody>
      </p:sp>
      <p:sp>
        <p:nvSpPr>
          <p:cNvPr id="24" name="Rounded Rectangle 23"/>
          <p:cNvSpPr/>
          <p:nvPr/>
        </p:nvSpPr>
        <p:spPr>
          <a:xfrm>
            <a:off x="4343400" y="2002536"/>
            <a:ext cx="3538728" cy="164592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98848" y="2148840"/>
            <a:ext cx="3227832" cy="310896"/>
          </a:xfrm>
          <a:prstGeom prst="rect">
            <a:avLst/>
          </a:prstGeom>
          <a:noFill/>
        </p:spPr>
        <p:txBody>
          <a:bodyPr wrap="square" lIns="0" tIns="0" rIns="0" bIns="0" anchor="t">
            <a:noAutofit/>
          </a:bodyPr>
          <a:lstStyle/>
          <a:p>
            <a:pPr algn="l">
              <a:lnSpc>
                <a:spcPct val="110000"/>
              </a:lnSpc>
              <a:spcBef>
                <a:spcPts val="0"/>
              </a:spcBef>
              <a:spcAft>
                <a:spcPts val="0"/>
              </a:spcAft>
            </a:pPr>
            <a:r>
              <a:rPr sz="1820" b="1">
                <a:solidFill>
                  <a:srgbClr val="7450DF"/>
                </a:solidFill>
                <a:latin typeface="Arial"/>
              </a:rPr>
              <a:t>02  Python and data</a:t>
            </a:r>
          </a:p>
        </p:txBody>
      </p:sp>
      <p:sp>
        <p:nvSpPr>
          <p:cNvPr id="26" name="TextBox 25"/>
          <p:cNvSpPr txBox="1"/>
          <p:nvPr/>
        </p:nvSpPr>
        <p:spPr>
          <a:xfrm>
            <a:off x="4498848" y="2615184"/>
            <a:ext cx="3227832" cy="813816"/>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Generators + comprehensions</a:t>
            </a:r>
          </a:p>
          <a:p>
            <a:pPr algn="l">
              <a:lnSpc>
                <a:spcPct val="110000"/>
              </a:lnSpc>
              <a:spcBef>
                <a:spcPts val="0"/>
              </a:spcBef>
              <a:spcAft>
                <a:spcPts val="0"/>
              </a:spcAft>
            </a:pPr>
            <a:r>
              <a:rPr sz="1660" b="0">
                <a:solidFill>
                  <a:srgbClr val="50576D"/>
                </a:solidFill>
                <a:latin typeface="Arial"/>
              </a:rPr>
              <a:t>Decorators + contexts</a:t>
            </a:r>
          </a:p>
          <a:p>
            <a:pPr algn="l">
              <a:lnSpc>
                <a:spcPct val="110000"/>
              </a:lnSpc>
              <a:spcBef>
                <a:spcPts val="0"/>
              </a:spcBef>
              <a:spcAft>
                <a:spcPts val="0"/>
              </a:spcAft>
            </a:pPr>
            <a:r>
              <a:rPr sz="1660" b="0">
                <a:solidFill>
                  <a:srgbClr val="50576D"/>
                </a:solidFill>
                <a:latin typeface="Arial"/>
              </a:rPr>
              <a:t>Measure Python performance</a:t>
            </a:r>
          </a:p>
        </p:txBody>
      </p:sp>
      <p:sp>
        <p:nvSpPr>
          <p:cNvPr id="27" name="TextBox 26"/>
          <p:cNvSpPr txBox="1"/>
          <p:nvPr/>
        </p:nvSpPr>
        <p:spPr>
          <a:xfrm>
            <a:off x="4498848" y="3474720"/>
            <a:ext cx="3227832" cy="137160"/>
          </a:xfrm>
          <a:prstGeom prst="rect">
            <a:avLst/>
          </a:prstGeom>
          <a:noFill/>
        </p:spPr>
        <p:txBody>
          <a:bodyPr wrap="square" lIns="0" tIns="0" rIns="0" bIns="0" anchor="t">
            <a:noAutofit/>
          </a:bodyPr>
          <a:lstStyle/>
          <a:p>
            <a:pPr algn="l">
              <a:lnSpc>
                <a:spcPct val="110000"/>
              </a:lnSpc>
              <a:spcBef>
                <a:spcPts val="0"/>
              </a:spcBef>
              <a:spcAft>
                <a:spcPts val="0"/>
              </a:spcAft>
            </a:pPr>
            <a:r>
              <a:rPr sz="1000" b="0">
                <a:solidFill>
                  <a:srgbClr val="7F869A"/>
                </a:solidFill>
                <a:latin typeface="Arial"/>
              </a:rPr>
              <a:t>algorithms.py / db.py / benchmark.py</a:t>
            </a:r>
          </a:p>
        </p:txBody>
      </p:sp>
      <p:sp>
        <p:nvSpPr>
          <p:cNvPr id="28" name="Rounded Rectangle 27"/>
          <p:cNvSpPr/>
          <p:nvPr/>
        </p:nvSpPr>
        <p:spPr>
          <a:xfrm>
            <a:off x="8074152" y="2002536"/>
            <a:ext cx="3538728" cy="1645920"/>
          </a:xfrm>
          <a:prstGeom prst="roundRect">
            <a:avLst>
              <a:gd name="adj" fmla="val 14000"/>
            </a:avLst>
          </a:prstGeom>
          <a:solidFill>
            <a:srgbClr val="F3EF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0" y="2148840"/>
            <a:ext cx="3227832" cy="310896"/>
          </a:xfrm>
          <a:prstGeom prst="rect">
            <a:avLst/>
          </a:prstGeom>
          <a:noFill/>
        </p:spPr>
        <p:txBody>
          <a:bodyPr wrap="square" lIns="0" tIns="0" rIns="0" bIns="0" anchor="t">
            <a:noAutofit/>
          </a:bodyPr>
          <a:lstStyle/>
          <a:p>
            <a:pPr algn="l">
              <a:lnSpc>
                <a:spcPct val="110000"/>
              </a:lnSpc>
              <a:spcBef>
                <a:spcPts val="0"/>
              </a:spcBef>
              <a:spcAft>
                <a:spcPts val="0"/>
              </a:spcAft>
            </a:pPr>
            <a:r>
              <a:rPr sz="1820" b="1">
                <a:solidFill>
                  <a:srgbClr val="7450DF"/>
                </a:solidFill>
                <a:latin typeface="Arial"/>
              </a:rPr>
              <a:t>03  Software design</a:t>
            </a:r>
          </a:p>
        </p:txBody>
      </p:sp>
      <p:sp>
        <p:nvSpPr>
          <p:cNvPr id="30" name="TextBox 29"/>
          <p:cNvSpPr txBox="1"/>
          <p:nvPr/>
        </p:nvSpPr>
        <p:spPr>
          <a:xfrm>
            <a:off x="8229600" y="2615184"/>
            <a:ext cx="3227832" cy="813816"/>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ABC / inheritance / Protocol</a:t>
            </a:r>
          </a:p>
          <a:p>
            <a:pPr algn="l">
              <a:lnSpc>
                <a:spcPct val="110000"/>
              </a:lnSpc>
              <a:spcBef>
                <a:spcPts val="0"/>
              </a:spcBef>
              <a:spcAft>
                <a:spcPts val="0"/>
              </a:spcAft>
            </a:pPr>
            <a:r>
              <a:rPr sz="1660" b="0">
                <a:solidFill>
                  <a:srgbClr val="50576D"/>
                </a:solidFill>
                <a:latin typeface="Arial"/>
              </a:rPr>
              <a:t>Composition + design patterns</a:t>
            </a:r>
          </a:p>
          <a:p>
            <a:pPr algn="l">
              <a:lnSpc>
                <a:spcPct val="110000"/>
              </a:lnSpc>
              <a:spcBef>
                <a:spcPts val="0"/>
              </a:spcBef>
              <a:spcAft>
                <a:spcPts val="0"/>
              </a:spcAft>
            </a:pPr>
            <a:r>
              <a:rPr sz="1660" b="0">
                <a:solidFill>
                  <a:srgbClr val="50576D"/>
                </a:solidFill>
                <a:latin typeface="Arial"/>
              </a:rPr>
              <a:t>Type hints + generics</a:t>
            </a:r>
          </a:p>
        </p:txBody>
      </p:sp>
      <p:sp>
        <p:nvSpPr>
          <p:cNvPr id="31" name="TextBox 30"/>
          <p:cNvSpPr txBox="1"/>
          <p:nvPr/>
        </p:nvSpPr>
        <p:spPr>
          <a:xfrm>
            <a:off x="8229600" y="3474720"/>
            <a:ext cx="3227832" cy="137160"/>
          </a:xfrm>
          <a:prstGeom prst="rect">
            <a:avLst/>
          </a:prstGeom>
          <a:noFill/>
        </p:spPr>
        <p:txBody>
          <a:bodyPr wrap="square" lIns="0" tIns="0" rIns="0" bIns="0" anchor="t">
            <a:noAutofit/>
          </a:bodyPr>
          <a:lstStyle/>
          <a:p>
            <a:pPr algn="l">
              <a:lnSpc>
                <a:spcPct val="110000"/>
              </a:lnSpc>
              <a:spcBef>
                <a:spcPts val="0"/>
              </a:spcBef>
              <a:spcAft>
                <a:spcPts val="0"/>
              </a:spcAft>
            </a:pPr>
            <a:r>
              <a:rPr sz="1000" b="0">
                <a:solidFill>
                  <a:srgbClr val="7F869A"/>
                </a:solidFill>
                <a:latin typeface="Arial"/>
              </a:rPr>
              <a:t>services.py / schemas.py / db.py</a:t>
            </a:r>
          </a:p>
        </p:txBody>
      </p:sp>
      <p:sp>
        <p:nvSpPr>
          <p:cNvPr id="32" name="Rounded Rectangle 31"/>
          <p:cNvSpPr/>
          <p:nvPr/>
        </p:nvSpPr>
        <p:spPr>
          <a:xfrm>
            <a:off x="612648" y="3867912"/>
            <a:ext cx="3538728" cy="1645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68096" y="4014216"/>
            <a:ext cx="3227832" cy="310896"/>
          </a:xfrm>
          <a:prstGeom prst="rect">
            <a:avLst/>
          </a:prstGeom>
          <a:noFill/>
        </p:spPr>
        <p:txBody>
          <a:bodyPr wrap="square" lIns="0" tIns="0" rIns="0" bIns="0" anchor="t">
            <a:noAutofit/>
          </a:bodyPr>
          <a:lstStyle/>
          <a:p>
            <a:pPr algn="l">
              <a:lnSpc>
                <a:spcPct val="110000"/>
              </a:lnSpc>
              <a:spcBef>
                <a:spcPts val="0"/>
              </a:spcBef>
              <a:spcAft>
                <a:spcPts val="0"/>
              </a:spcAft>
            </a:pPr>
            <a:r>
              <a:rPr sz="1820" b="1">
                <a:solidFill>
                  <a:srgbClr val="389778"/>
                </a:solidFill>
                <a:latin typeface="Arial"/>
              </a:rPr>
              <a:t>04  Functional / concurrency</a:t>
            </a:r>
          </a:p>
        </p:txBody>
      </p:sp>
      <p:sp>
        <p:nvSpPr>
          <p:cNvPr id="34" name="TextBox 33"/>
          <p:cNvSpPr txBox="1"/>
          <p:nvPr/>
        </p:nvSpPr>
        <p:spPr>
          <a:xfrm>
            <a:off x="768096" y="4480560"/>
            <a:ext cx="3227832" cy="813816"/>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Pure + higher-order functions</a:t>
            </a:r>
          </a:p>
          <a:p>
            <a:pPr algn="l">
              <a:lnSpc>
                <a:spcPct val="110000"/>
              </a:lnSpc>
              <a:spcBef>
                <a:spcPts val="0"/>
              </a:spcBef>
              <a:spcAft>
                <a:spcPts val="0"/>
              </a:spcAft>
            </a:pPr>
            <a:r>
              <a:rPr sz="1660" b="0">
                <a:solidFill>
                  <a:srgbClr val="50576D"/>
                </a:solidFill>
                <a:latin typeface="Arial"/>
              </a:rPr>
              <a:t>Threads / processes / async</a:t>
            </a:r>
          </a:p>
          <a:p>
            <a:pPr algn="l">
              <a:lnSpc>
                <a:spcPct val="110000"/>
              </a:lnSpc>
              <a:spcBef>
                <a:spcPts val="0"/>
              </a:spcBef>
              <a:spcAft>
                <a:spcPts val="0"/>
              </a:spcAft>
            </a:pPr>
            <a:r>
              <a:rPr sz="1660" b="0">
                <a:solidFill>
                  <a:srgbClr val="50576D"/>
                </a:solidFill>
                <a:latin typeface="Arial"/>
              </a:rPr>
              <a:t>CPU vs I/O and the GIL</a:t>
            </a:r>
          </a:p>
        </p:txBody>
      </p:sp>
      <p:sp>
        <p:nvSpPr>
          <p:cNvPr id="35" name="TextBox 34"/>
          <p:cNvSpPr txBox="1"/>
          <p:nvPr/>
        </p:nvSpPr>
        <p:spPr>
          <a:xfrm>
            <a:off x="768096" y="5340096"/>
            <a:ext cx="3227832" cy="137160"/>
          </a:xfrm>
          <a:prstGeom prst="rect">
            <a:avLst/>
          </a:prstGeom>
          <a:noFill/>
        </p:spPr>
        <p:txBody>
          <a:bodyPr wrap="square" lIns="0" tIns="0" rIns="0" bIns="0" anchor="t">
            <a:noAutofit/>
          </a:bodyPr>
          <a:lstStyle/>
          <a:p>
            <a:pPr algn="l">
              <a:lnSpc>
                <a:spcPct val="110000"/>
              </a:lnSpc>
              <a:spcBef>
                <a:spcPts val="0"/>
              </a:spcBef>
              <a:spcAft>
                <a:spcPts val="0"/>
              </a:spcAft>
            </a:pPr>
            <a:r>
              <a:rPr sz="1000" b="0">
                <a:solidFill>
                  <a:srgbClr val="7F869A"/>
                </a:solidFill>
                <a:latin typeface="Arial"/>
              </a:rPr>
              <a:t>algorithms.py / UI modules</a:t>
            </a:r>
          </a:p>
        </p:txBody>
      </p:sp>
      <p:sp>
        <p:nvSpPr>
          <p:cNvPr id="36" name="Rounded Rectangle 35"/>
          <p:cNvSpPr/>
          <p:nvPr/>
        </p:nvSpPr>
        <p:spPr>
          <a:xfrm>
            <a:off x="4343400" y="3867912"/>
            <a:ext cx="3538728" cy="1645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98848" y="4014216"/>
            <a:ext cx="3227832" cy="310896"/>
          </a:xfrm>
          <a:prstGeom prst="rect">
            <a:avLst/>
          </a:prstGeom>
          <a:noFill/>
        </p:spPr>
        <p:txBody>
          <a:bodyPr wrap="square" lIns="0" tIns="0" rIns="0" bIns="0" anchor="t">
            <a:noAutofit/>
          </a:bodyPr>
          <a:lstStyle/>
          <a:p>
            <a:pPr algn="l">
              <a:lnSpc>
                <a:spcPct val="110000"/>
              </a:lnSpc>
              <a:spcBef>
                <a:spcPts val="0"/>
              </a:spcBef>
              <a:spcAft>
                <a:spcPts val="0"/>
              </a:spcAft>
            </a:pPr>
            <a:r>
              <a:rPr sz="1820" b="1">
                <a:solidFill>
                  <a:srgbClr val="389778"/>
                </a:solidFill>
                <a:latin typeface="Arial"/>
              </a:rPr>
              <a:t>05  Quality / DevOps</a:t>
            </a:r>
          </a:p>
        </p:txBody>
      </p:sp>
      <p:sp>
        <p:nvSpPr>
          <p:cNvPr id="38" name="TextBox 37"/>
          <p:cNvSpPr txBox="1"/>
          <p:nvPr/>
        </p:nvSpPr>
        <p:spPr>
          <a:xfrm>
            <a:off x="4498848" y="4480560"/>
            <a:ext cx="3227832" cy="813816"/>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Pytest + Hypothesis + E2E</a:t>
            </a:r>
          </a:p>
          <a:p>
            <a:pPr algn="l">
              <a:lnSpc>
                <a:spcPct val="110000"/>
              </a:lnSpc>
              <a:spcBef>
                <a:spcPts val="0"/>
              </a:spcBef>
              <a:spcAft>
                <a:spcPts val="0"/>
              </a:spcAft>
            </a:pPr>
            <a:r>
              <a:rPr sz="1660" b="0">
                <a:solidFill>
                  <a:srgbClr val="50576D"/>
                </a:solidFill>
                <a:latin typeface="Arial"/>
              </a:rPr>
              <a:t>Ruff + Mypy + coverage</a:t>
            </a:r>
          </a:p>
          <a:p>
            <a:pPr algn="l">
              <a:lnSpc>
                <a:spcPct val="110000"/>
              </a:lnSpc>
              <a:spcBef>
                <a:spcPts val="0"/>
              </a:spcBef>
              <a:spcAft>
                <a:spcPts val="0"/>
              </a:spcAft>
            </a:pPr>
            <a:r>
              <a:rPr sz="1660" b="0">
                <a:solidFill>
                  <a:srgbClr val="50576D"/>
                </a:solidFill>
                <a:latin typeface="Arial"/>
              </a:rPr>
              <a:t>CI / containers: configured</a:t>
            </a:r>
          </a:p>
        </p:txBody>
      </p:sp>
      <p:sp>
        <p:nvSpPr>
          <p:cNvPr id="39" name="TextBox 38"/>
          <p:cNvSpPr txBox="1"/>
          <p:nvPr/>
        </p:nvSpPr>
        <p:spPr>
          <a:xfrm>
            <a:off x="4498848" y="5340096"/>
            <a:ext cx="3227832" cy="137160"/>
          </a:xfrm>
          <a:prstGeom prst="rect">
            <a:avLst/>
          </a:prstGeom>
          <a:noFill/>
        </p:spPr>
        <p:txBody>
          <a:bodyPr wrap="square" lIns="0" tIns="0" rIns="0" bIns="0" anchor="t">
            <a:noAutofit/>
          </a:bodyPr>
          <a:lstStyle/>
          <a:p>
            <a:pPr algn="l">
              <a:lnSpc>
                <a:spcPct val="110000"/>
              </a:lnSpc>
              <a:spcBef>
                <a:spcPts val="0"/>
              </a:spcBef>
              <a:spcAft>
                <a:spcPts val="0"/>
              </a:spcAft>
            </a:pPr>
            <a:r>
              <a:rPr sz="1000" b="0">
                <a:solidFill>
                  <a:srgbClr val="7F869A"/>
                </a:solidFill>
                <a:latin typeface="Arial"/>
              </a:rPr>
              <a:t>tests/ / reports/ / ci.yml</a:t>
            </a:r>
          </a:p>
        </p:txBody>
      </p:sp>
      <p:sp>
        <p:nvSpPr>
          <p:cNvPr id="40" name="Rounded Rectangle 39"/>
          <p:cNvSpPr/>
          <p:nvPr/>
        </p:nvSpPr>
        <p:spPr>
          <a:xfrm>
            <a:off x="8074152" y="3867912"/>
            <a:ext cx="3538728" cy="1645920"/>
          </a:xfrm>
          <a:prstGeom prst="roundRect">
            <a:avLst>
              <a:gd name="adj" fmla="val 14000"/>
            </a:avLst>
          </a:prstGeom>
          <a:solidFill>
            <a:srgbClr val="EA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9600" y="4014216"/>
            <a:ext cx="3227832" cy="310896"/>
          </a:xfrm>
          <a:prstGeom prst="rect">
            <a:avLst/>
          </a:prstGeom>
          <a:noFill/>
        </p:spPr>
        <p:txBody>
          <a:bodyPr wrap="square" lIns="0" tIns="0" rIns="0" bIns="0" anchor="t">
            <a:noAutofit/>
          </a:bodyPr>
          <a:lstStyle/>
          <a:p>
            <a:pPr algn="l">
              <a:lnSpc>
                <a:spcPct val="110000"/>
              </a:lnSpc>
              <a:spcBef>
                <a:spcPts val="0"/>
              </a:spcBef>
              <a:spcAft>
                <a:spcPts val="0"/>
              </a:spcAft>
            </a:pPr>
            <a:r>
              <a:rPr sz="1820" b="1">
                <a:solidFill>
                  <a:srgbClr val="389778"/>
                </a:solidFill>
                <a:latin typeface="Arial"/>
              </a:rPr>
              <a:t>06  Responsible AI</a:t>
            </a:r>
          </a:p>
        </p:txBody>
      </p:sp>
      <p:sp>
        <p:nvSpPr>
          <p:cNvPr id="42" name="TextBox 41"/>
          <p:cNvSpPr txBox="1"/>
          <p:nvPr/>
        </p:nvSpPr>
        <p:spPr>
          <a:xfrm>
            <a:off x="8229600" y="4480560"/>
            <a:ext cx="3227832" cy="813816"/>
          </a:xfrm>
          <a:prstGeom prst="rect">
            <a:avLst/>
          </a:prstGeom>
          <a:noFill/>
        </p:spPr>
        <p:txBody>
          <a:bodyPr wrap="square" lIns="0" tIns="0" rIns="0" bIns="0" anchor="t">
            <a:noAutofit/>
          </a:bodyPr>
          <a:lstStyle/>
          <a:p>
            <a:pPr algn="l">
              <a:lnSpc>
                <a:spcPct val="110000"/>
              </a:lnSpc>
              <a:spcBef>
                <a:spcPts val="0"/>
              </a:spcBef>
              <a:spcAft>
                <a:spcPts val="0"/>
              </a:spcAft>
            </a:pPr>
            <a:r>
              <a:rPr sz="1660" b="0">
                <a:solidFill>
                  <a:srgbClr val="50576D"/>
                </a:solidFill>
                <a:latin typeface="Arial"/>
              </a:rPr>
              <a:t>Specification-first prompts</a:t>
            </a:r>
          </a:p>
          <a:p>
            <a:pPr algn="l">
              <a:lnSpc>
                <a:spcPct val="110000"/>
              </a:lnSpc>
              <a:spcBef>
                <a:spcPts val="0"/>
              </a:spcBef>
              <a:spcAft>
                <a:spcPts val="0"/>
              </a:spcAft>
            </a:pPr>
            <a:r>
              <a:rPr sz="1660" b="0">
                <a:solidFill>
                  <a:srgbClr val="50576D"/>
                </a:solidFill>
                <a:latin typeface="Arial"/>
              </a:rPr>
              <a:t>Scoped context + generation</a:t>
            </a:r>
          </a:p>
          <a:p>
            <a:pPr algn="l">
              <a:lnSpc>
                <a:spcPct val="110000"/>
              </a:lnSpc>
              <a:spcBef>
                <a:spcPts val="0"/>
              </a:spcBef>
              <a:spcAft>
                <a:spcPts val="0"/>
              </a:spcAft>
            </a:pPr>
            <a:r>
              <a:rPr sz="1660" b="0">
                <a:solidFill>
                  <a:srgbClr val="50576D"/>
                </a:solidFill>
                <a:latin typeface="Arial"/>
              </a:rPr>
              <a:t>Review → tests → improve</a:t>
            </a:r>
          </a:p>
        </p:txBody>
      </p:sp>
      <p:sp>
        <p:nvSpPr>
          <p:cNvPr id="43" name="TextBox 42"/>
          <p:cNvSpPr txBox="1"/>
          <p:nvPr/>
        </p:nvSpPr>
        <p:spPr>
          <a:xfrm>
            <a:off x="8229600" y="5340096"/>
            <a:ext cx="3227832" cy="137160"/>
          </a:xfrm>
          <a:prstGeom prst="rect">
            <a:avLst/>
          </a:prstGeom>
          <a:noFill/>
        </p:spPr>
        <p:txBody>
          <a:bodyPr wrap="square" lIns="0" tIns="0" rIns="0" bIns="0" anchor="t">
            <a:noAutofit/>
          </a:bodyPr>
          <a:lstStyle/>
          <a:p>
            <a:pPr algn="l">
              <a:lnSpc>
                <a:spcPct val="110000"/>
              </a:lnSpc>
              <a:spcBef>
                <a:spcPts val="0"/>
              </a:spcBef>
              <a:spcAft>
                <a:spcPts val="0"/>
              </a:spcAft>
            </a:pPr>
            <a:r>
              <a:rPr sz="1000" b="0">
                <a:solidFill>
                  <a:srgbClr val="7F869A"/>
                </a:solidFill>
                <a:latin typeface="Arial"/>
              </a:rPr>
              <a:t>AI_REVIEW.md / regression evidence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12296</Words>
  <Application>Microsoft Office PowerPoint</Application>
  <PresentationFormat>Widescreen</PresentationFormat>
  <Paragraphs>1460</Paragraphs>
  <Slides>35</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SHAIK GOUSE BASHA</cp:lastModifiedBy>
  <cp:revision>5</cp:revision>
  <dcterms:created xsi:type="dcterms:W3CDTF">2026-10-11T00:00:00Z</dcterms:created>
  <dcterms:modified xsi:type="dcterms:W3CDTF">2026-10-14T09:34:34Z</dcterms:modified>
</cp:coreProperties>
</file>